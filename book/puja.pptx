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32"/>
  </p:notesMasterIdLst>
  <p:handoutMasterIdLst>
    <p:handoutMasterId r:id="rId33"/>
  </p:handoutMasterIdLst>
  <p:sldIdLst>
    <p:sldId id="258" r:id="rId5"/>
    <p:sldId id="284" r:id="rId6"/>
    <p:sldId id="272" r:id="rId7"/>
    <p:sldId id="294" r:id="rId8"/>
    <p:sldId id="309" r:id="rId9"/>
    <p:sldId id="296" r:id="rId10"/>
    <p:sldId id="293" r:id="rId11"/>
    <p:sldId id="286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10" r:id="rId23"/>
    <p:sldId id="314" r:id="rId24"/>
    <p:sldId id="311" r:id="rId25"/>
    <p:sldId id="315" r:id="rId26"/>
    <p:sldId id="312" r:id="rId27"/>
    <p:sldId id="313" r:id="rId28"/>
    <p:sldId id="297" r:id="rId29"/>
    <p:sldId id="308" r:id="rId30"/>
    <p:sldId id="29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39" autoAdjust="0"/>
  </p:normalViewPr>
  <p:slideViewPr>
    <p:cSldViewPr snapToGrid="0">
      <p:cViewPr varScale="1">
        <p:scale>
          <a:sx n="107" d="100"/>
          <a:sy n="107" d="100"/>
        </p:scale>
        <p:origin x="7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08-Jul-20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08-Jul-20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4ECAD9-32EE-4091-BDA5-6BD15ACC5E5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5258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944BB-901F-4101-AAD9-F3F9660A6803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E57BC-BF01-4133-9A7B-333F3E4796E1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6E837-5E5C-4ABC-B2B6-47473AC749E7}" type="datetime2">
              <a:rPr lang="en-US" smtClean="0"/>
              <a:t>Wednesday, July 8,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E1740BF-A968-409A-BEFD-8D81A8EA189C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E2D5AB1-A71C-4946-A337-64380CF8CC9C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E87B-542F-419C-88D5-9A3CC43211E6}" type="datetime2">
              <a:rPr lang="en-US" smtClean="0"/>
              <a:t>Wednesday, July 8, 2020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D4E80-31CA-4027-8BB1-5262B9EE189A}" type="datetime2">
              <a:rPr lang="en-US" smtClean="0"/>
              <a:t>Wednesday, July 8, 2020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4B30-F80E-444D-8B0E-80AB9BCEF812}" type="datetime2">
              <a:rPr lang="en-US" smtClean="0"/>
              <a:t>Wednesday, July 8, 2020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B854B5-8C9F-4641-9122-5745D9CED2A4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D52EFED-3821-4252-B066-81DF622ABB93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5F4B2-95AB-4443-9F28-03AD8938EA06}" type="datetime2">
              <a:rPr lang="en-US" smtClean="0"/>
              <a:t>Wednesday, July 8,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BC7D056-A642-43A3-B203-9C21AEAD9466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95F6834-5987-445D-80C1-222E1FC2D277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05D4D86-BCF3-49B6-95C6-F23DD933B6B9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7A86F2A-3DA7-4B63-9709-3605A14B6A55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3FE53B-DAB0-4423-9FCB-C9083E9C2645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4CCD7F3-096C-4E5B-A197-7308942D4001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93B9231-83C0-4D2F-9AB1-C6ADB0CA623F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3A87B-D27B-4669-B2FF-81DA53395577}" type="datetime2">
              <a:rPr lang="en-US" smtClean="0"/>
              <a:t>Wednesday, July 8,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6E2B4-71DF-401A-A5AD-E3E9B678914B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763756A-7B39-4EF2-9803-2EACB5D7FB84}" type="datetime2">
              <a:rPr lang="en-US" noProof="0" smtClean="0"/>
              <a:t>Wednesday, July 8, 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1314740"/>
            <a:ext cx="5663955" cy="1466662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7" name="Title 10">
            <a:extLst>
              <a:ext uri="{FF2B5EF4-FFF2-40B4-BE49-F238E27FC236}">
                <a16:creationId xmlns:a16="http://schemas.microsoft.com/office/drawing/2014/main" id="{74E64A99-DA87-4576-B80B-121C703408AC}"/>
              </a:ext>
            </a:extLst>
          </p:cNvPr>
          <p:cNvSpPr txBox="1">
            <a:spLocks/>
          </p:cNvSpPr>
          <p:nvPr/>
        </p:nvSpPr>
        <p:spPr bwMode="white">
          <a:xfrm>
            <a:off x="6527548" y="19545"/>
            <a:ext cx="5663955" cy="1295196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 Presentation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E06FDE-9733-4C6F-8AEE-0E7D87D1F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A809D-54EB-46CE-96B3-E6750ED98BC5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CDEB54-228F-4744-96AD-A58637080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4538F-A179-42B9-991B-9D9B1BF0B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7340599" y="769722"/>
            <a:ext cx="4846321" cy="511531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1F7BE-F12A-45AE-B216-B948749D2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AF44D2-ECF8-4B1B-8773-EB240A748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A9EC6-9929-4A15-8F79-84FC27C7A84C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D8CA67-0AAA-4DE0-BA41-2FEBAF9AD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6FF83-7235-47B0-BA78-F1FE80DAF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90374C-1A59-4A71-8148-5C0E026A3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1315" y="1885125"/>
            <a:ext cx="3599719" cy="2093975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A8359F-00D6-408F-ACF5-D8A1A931C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858" y="943430"/>
            <a:ext cx="5875699" cy="397736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1950, Optical Character Recognition is a major research area.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field of OCR, segmentation is one of the most challenging tasks of Bengali character recognition.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a large number of characters in Bengali. So we need a robust technique for our research.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12D0B-F78A-4AEA-8280-6C4EFD27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D8DFC2-9793-4EB6-8E30-2E619EE0A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B7096-C5D7-4618-858A-E7E5B670BB78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5776B8-3084-4628-9C53-74E919A5F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AB559-2D51-42F5-B4E2-2E6FB23FD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3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388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741A29-8E3D-417F-A904-D20AC17C5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769F9-01A6-4771-9A33-E4ADF027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7D9E-9F9C-49C6-A42D-16EEBEB0A008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B1A843-C979-4423-9E9C-FB55C3068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3FB02-C996-4C16-852D-C7DC062AC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4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02859" y="943430"/>
            <a:ext cx="6038662" cy="397736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Bengali script, there is no good OCR solution until now.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store a million pages of paper documents into electronic form, OCR is the key tool.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an OCR the foremost step in the recognition process is the script segmentation of the document image which is the most challenging task.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4BEC8-B77A-403C-91E3-2BD4B85E0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85FB1-1C85-41E3-AD28-56522CA1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6C60-EF15-436F-A51F-4CEC2F471F29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4013EE-A350-4FE1-8AE6-9ADAA0D98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30048-BC27-4EA0-9750-8F26918C3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6E838-AE77-4EA2-9155-5B75B8762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909413-5FE1-4276-9571-301A5A54A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2FC2-4CE9-4F02-BCB4-2BDE48E178BF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83339D-4754-4CCF-BABC-048E49857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EB922-14DB-4109-8A8B-B82D8D285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6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of Bengali handwritten text into characters by recursive contour following by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Bishnu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Choudhury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Their algorithm gives fairly good results if the sequent characters are not touching in the zone of contour following [1].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Segmenting Bangla Text for Optical Recognition by Sattar. Their proposal is a condition-based methodology for overlapped character segmentation. They examine the width of a single character, on the off chance that it is sufficiently large, at that point check for the overlapped character ‘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’. They didn't discuss other sorts of overlapping problems [2].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DFF363-B304-47B2-98CD-690A566BF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90B93-2162-47EC-9A2E-203EB537A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D39E6-45BA-477B-A8BB-ECC8D72D4F34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04D47-AA3C-47CB-843C-E961400C0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015D2-AE02-4C7E-B382-CBA7B78B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652778" y="5627057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CACC5-C353-4061-99A7-60C59E19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1D369-CCC5-49A5-B8BE-6DF4BED1114D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11FAF9-6353-477E-90D4-B74C0FCFC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5432" y="6388834"/>
            <a:ext cx="4846321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11EE-30EC-4947-BB31-F7B1814A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2: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B03297-3B80-4A53-8172-452ECEA2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3C6FB-6B19-48DA-87DB-62149B546DB0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8325-3673-43CF-870D-770F4AE47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7ABF1-E81A-4B98-8CC7-075BF89E5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3: Line Segmentation using HPP [3].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4: Word Segmentation using VPP [3].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04965-D056-4492-920C-A1CD6C19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693B-535B-4975-B0FD-797EBC6F8E55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E1C1C-5D6B-4EB8-ADF9-834FD8071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69E78-235E-48F4-AC92-403E65AFC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Closing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104507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5: Character segmentation process.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966309-C23C-44C2-88CA-65786099A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88CAE-15CF-41EE-9DE3-B54129D9F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D1777-4500-409F-875C-1842C36DCAEE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8F1FCA-5843-4307-B3F0-5B185A8FD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9C40B-B169-4F75-BC88-DE16B0CA5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073884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32AB6B-F478-45CC-A209-6AF86AF69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48D42-85B0-4CA3-A207-C65A841680B8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3AAA758-E1E0-4572-B97B-B909622C7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507B282-4B3C-4B9B-A135-2A4CDD89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758554" y="6080508"/>
            <a:ext cx="6208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7: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F87D7C-49B4-4C7E-A464-94C5F08C1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DE1CB-2C19-4CC2-8782-27D16269A9E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F56A0-E35B-4164-90E5-1AA523252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FB5AF-EA44-41B3-95EA-5A2B0FE19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114756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8: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1760E-2091-4485-AD89-F05117360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097B-CFF0-4D04-A0E7-9D3A51A19B7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84C59A-43FF-4FEB-BB41-A4B5A6ECC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B774B59-BB89-4B79-98B5-82ABA1B25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015816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9: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569E15-19B1-4581-B3C9-11BFF8F02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8B5AD-1853-4118-8E6C-BAF28C1D63C7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7C55C-8C49-4E5B-9C85-FE4DA19D7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D599974-B1B4-4062-8552-363DEAB2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286408" y="6015221"/>
            <a:ext cx="5462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10: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5DBD5D-1624-4637-96FD-D4C29716C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BBCF8-995C-4310-9E04-61272E970FBA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8204854-2732-41D7-A075-F8F6F64D5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77D1E3-59A8-4016-8F10-5471DC69F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Tesseract OCR Engine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F9CDFE-0A7C-4E3A-8170-1B1132715A94}"/>
              </a:ext>
            </a:extLst>
          </p:cNvPr>
          <p:cNvSpPr txBox="1"/>
          <p:nvPr/>
        </p:nvSpPr>
        <p:spPr>
          <a:xfrm>
            <a:off x="4668754" y="1885125"/>
            <a:ext cx="685328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works in various environments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by the HP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in 100+ languages 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in most complicated OCR tasks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4210B4-CA00-4E57-B2AB-F2721F6DF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4FA97-DBB3-424D-A342-B0FFC5333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038B-EA8B-4F38-BA5C-614278DF1D93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E85F91-7464-4F13-8314-83A5A0D8F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7ECC2-3803-4988-9745-A49E8755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17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06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 OCR Engine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210856" y="6077506"/>
            <a:ext cx="7831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11: Comparing of character segmentation with Tessarect OCR engine.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96167" y="5479211"/>
            <a:ext cx="27443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Output from our system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Output from the Tessarect OCR engine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1766-BB25-44A1-88CA-BA62F03AB5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639"/>
          <a:stretch/>
        </p:blipFill>
        <p:spPr>
          <a:xfrm>
            <a:off x="595919" y="1883484"/>
            <a:ext cx="5305330" cy="345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4F3B7-BD0A-4CCB-AC0C-A53E760728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139"/>
          <a:stretch/>
        </p:blipFill>
        <p:spPr>
          <a:xfrm>
            <a:off x="6126480" y="1722805"/>
            <a:ext cx="5716139" cy="361912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815D2E-EF42-413C-8376-D81E4E4B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0DDF3-69F5-4539-8231-8CD7962088C1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9B96C-50DF-4881-B3F2-049BD7959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1F4E9D-F614-4DCE-B9E7-25FDC813A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055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BE8302-4C4D-4C05-8AC1-D85DE9FBC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2F0D1A-2450-44A0-87BA-F73A05772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073E-4497-4542-884F-6850C38342D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2EAB1B-FD5D-4A64-83EE-0E2A18F4D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42B2E9-A572-4F3E-BD94-485044084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9C3E1E-10F6-4A41-8709-9224C77C7EDB}"/>
              </a:ext>
            </a:extLst>
          </p:cNvPr>
          <p:cNvSpPr txBox="1"/>
          <p:nvPr/>
        </p:nvSpPr>
        <p:spPr>
          <a:xfrm>
            <a:off x="1867304" y="2057511"/>
            <a:ext cx="8272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1: Overall best accuracy and average accuracy of our system on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FDE34D-06B0-4864-94E0-53956DCF289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521"/>
          <a:stretch/>
        </p:blipFill>
        <p:spPr>
          <a:xfrm>
            <a:off x="1073218" y="2842788"/>
            <a:ext cx="10408010" cy="267077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BE8302-4C4D-4C05-8AC1-D85DE9FBC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2F0D1A-2450-44A0-87BA-F73A05772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073E-4497-4542-884F-6850C38342D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2EAB1B-FD5D-4A64-83EE-0E2A18F4D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42B2E9-A572-4F3E-BD94-485044084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9C3E1E-10F6-4A41-8709-9224C77C7EDB}"/>
              </a:ext>
            </a:extLst>
          </p:cNvPr>
          <p:cNvSpPr txBox="1"/>
          <p:nvPr/>
        </p:nvSpPr>
        <p:spPr>
          <a:xfrm>
            <a:off x="1984519" y="2087661"/>
            <a:ext cx="8283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2: Overall accuracy and average accuracy of our system of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796475-A627-4661-B026-B4390F1AD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819" y="2856800"/>
            <a:ext cx="10576361" cy="2820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381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Graph</a:t>
            </a:r>
          </a:p>
        </p:txBody>
      </p:sp>
      <p:pic>
        <p:nvPicPr>
          <p:cNvPr id="6" name="Picture 5" descr="g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230" y="1798471"/>
            <a:ext cx="6058746" cy="3543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DAF98-BA18-422B-B858-6A3E455DF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B049A7-94C4-4D6E-8E6A-CE10D997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70DC-817D-44CD-A54C-AF3C30502533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11881-C655-4425-AA38-2137AC7EF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49ACDF1-AAE1-44C5-9936-EC137AB4B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7515A3-A3CB-4A4E-BB31-F5CC993070DA}"/>
              </a:ext>
            </a:extLst>
          </p:cNvPr>
          <p:cNvSpPr txBox="1"/>
          <p:nvPr/>
        </p:nvSpPr>
        <p:spPr>
          <a:xfrm>
            <a:off x="634698" y="5709429"/>
            <a:ext cx="11552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12: Series1 shows line segmentation, series2 shows word segmentation and series3 shows character segmentation of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Graph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EDAF98-BA18-422B-B858-6A3E455DF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B049A7-94C4-4D6E-8E6A-CE10D997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70DC-817D-44CD-A54C-AF3C30502533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11881-C655-4425-AA38-2137AC7EF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49ACDF1-AAE1-44C5-9936-EC137AB4B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7515A3-A3CB-4A4E-BB31-F5CC993070DA}"/>
              </a:ext>
            </a:extLst>
          </p:cNvPr>
          <p:cNvSpPr txBox="1"/>
          <p:nvPr/>
        </p:nvSpPr>
        <p:spPr>
          <a:xfrm>
            <a:off x="634698" y="5709429"/>
            <a:ext cx="11552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12: Series1 shows line segmentation, series2 shows word segmentation and series3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of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58085-83B0-4A23-B6AE-AAA05FCB5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233" y="1750306"/>
            <a:ext cx="4394734" cy="386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6305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Bengali character recognition has become a vital issue in the last few years.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 huge challenge.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mainly focused on the segmentation process.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used some basic operations.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tried to segment the Bengali script that solves the problem of making a good Optical Character Recognition system.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D5E3DB-C3FB-40AA-902A-5791C2A12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D8E16B-7BFD-43A3-8A01-F20FA39B1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90A6E-B3DA-423D-99FF-81A019BD3FF3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F2D12-E13D-47D5-97EE-9F72E0795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C08680-D19F-455B-A625-FEFA3FEF4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23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some methodologies for segmenting Bengali characters.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the morphological image processing operations.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Finally, we got a good accuracy of our system and we are hoping to work with our system to get better accuracy.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562820-CE57-4C6D-8A0D-6F75C593D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FDBA8-8965-42C3-8432-F5D4A00F8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276DC-CB4E-4496-BF2A-8A5E66193373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D1262-8C79-46F9-8688-4CC3AFBA1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691B5-BEFA-42FF-A7D1-C646C017D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24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a plan to use HMM (Hidden Markov model).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also have plans to use our system for other recognition based research.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9DE3B6-0279-40B4-B496-B8086E9DD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2F7DE6-C497-4A27-B814-C446F0E2C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36A9B-AAEF-4473-B088-3AFBF160982C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2E5F2C-7700-4212-B9A9-193660C62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06DDF-BB66-4EF4-AA98-5A5285E7B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25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1097280" y="2023963"/>
            <a:ext cx="10482102" cy="4191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Bishnu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B.B. Chaudhuri (1999)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of Bangla handwritten text into characters by recursive contour following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Proceedings of the Fifth International Conference on Document Analysis and Recognition. ICDAR '99: IEEE.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Abdus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Sattar, Khaled Mahmud, Humayun Arafat and A. F.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M.Noor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Zaman,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Segmenting Bangla Text for Optical Recognition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”ICCIT, 2007. ISBN: 978-1-4244-1550-2, pp. 1-6.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Zahan, M.R. Selim, M.S. Rahman, M.Z. Iqbal, (2018).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Component Analysis Based Two Zone Approach for Bangla Character Segmentation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.” 1-4.10.1109/ICBSLP.2018.8554684.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2A94D9-582F-424F-9E18-FB7A483E1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DA86-30F1-49D4-A0E4-FF628971F937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9FD3C7-226D-485C-834A-4EDB4490E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D6A84F-4D3A-426F-B7D2-C7A996BF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734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9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400" cap="all" spc="2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Questions?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CFEE9C-9E9D-49F3-B6B8-78869818B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891" y="338000"/>
            <a:ext cx="2429684" cy="2635273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01ED8-AB5A-4EE2-BD60-7A0377CA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56CBC-5AEB-4B81-BA1A-CBC332C575A4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Wednesday, July 8,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D50DB1-1A0C-4AAC-B08D-EF95F888D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4E126-A77E-44FA-8874-12E9943A7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27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1300</Words>
  <Application>Microsoft Office PowerPoint</Application>
  <PresentationFormat>Widescreen</PresentationFormat>
  <Paragraphs>217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Century Gothic</vt:lpstr>
      <vt:lpstr>Times New Roman</vt:lpstr>
      <vt:lpstr>Wingdings</vt:lpstr>
      <vt:lpstr>RetrospectVTI</vt:lpstr>
      <vt:lpstr>PowerPoint Presentation</vt:lpstr>
      <vt:lpstr>Outline</vt:lpstr>
      <vt:lpstr>Introduction</vt:lpstr>
      <vt:lpstr>Motivation </vt:lpstr>
      <vt:lpstr>Challenges</vt:lpstr>
      <vt:lpstr>Objective </vt:lpstr>
      <vt:lpstr>Literature Review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Tesseract OCR Engine </vt:lpstr>
      <vt:lpstr>Comparison with Tessarect OCR Engine</vt:lpstr>
      <vt:lpstr>Accuracy</vt:lpstr>
      <vt:lpstr>Accuracy</vt:lpstr>
      <vt:lpstr>Accuracy Graph</vt:lpstr>
      <vt:lpstr>Accuracy Graph</vt:lpstr>
      <vt:lpstr>Discussion</vt:lpstr>
      <vt:lpstr>Conclusion</vt:lpstr>
      <vt:lpstr>Future Scope</vt:lpstr>
      <vt:lpstr>Reference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2020-07-08T17:30:30Z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
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717" r:id="rId4"/>
  </p:sldMasterIdLst>
  <p:notesMasterIdLst>
    <p:notesMasterId r:id="rId22"/>
  </p:notesMasterIdLst>
  <p:handoutMasterIdLst>
    <p:handoutMasterId r:id="rId23"/>
  </p:handoutMasterIdLst>
  <p:sldIdLst>
    <p:sldId id="258" r:id="rId5"/>
    <p:sldId id="284" r:id="rId6"/>
    <p:sldId id="294" r:id="rId7"/>
    <p:sldId id="296" r:id="rId8"/>
    <p:sldId id="286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07" r:id="rId19"/>
    <p:sldId id="308" r:id="rId20"/>
    <p:sldId id="29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90" autoAdjust="0"/>
    <p:restoredTop sz="94639" autoAdjust="0"/>
  </p:normalViewPr>
  <p:slideViewPr>
    <p:cSldViewPr snapToGrid="0">
      <p:cViewPr varScale="1">
        <p:scale>
          <a:sx n="106" d="100"/>
          <a:sy n="106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0" d="100"/>
          <a:sy n="50" d="100"/>
        </p:scale>
        <p:origin x="3403" y="33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3AA0E9-8CD0-4A6E-A65E-A06028B83F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E2408B-C9AB-4665-AC99-B057BD0A43D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06-Jul-20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D1B215-531B-4869-BD98-BD3B1390B1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B53F21-4D67-455D-8074-E9E6EC26FA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4433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06618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15981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D1D313A2-A4D4-40DF-A0C2-C29F641685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EFB0D-6DB6-450D-981E-DB5B064ABC8F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2850" y="4508500"/>
            <a:ext cx="511810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2850" y="2057400"/>
            <a:ext cx="5118100" cy="1929066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5400" b="1" spc="-5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2700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arallélogramme 14">
            <a:extLst>
              <a:ext uri="{FF2B5EF4-FFF2-40B4-BE49-F238E27FC236}">
                <a16:creationId xmlns:a16="http://schemas.microsoft.com/office/drawing/2014/main" id="{F5AA8A10-E19C-430B-9D5D-8D12F92BFEC5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C93D4F-3003-4D58-9AFB-356A0F800F42}"/>
              </a:ext>
            </a:extLst>
          </p:cNvPr>
          <p:cNvSpPr/>
          <p:nvPr userDrawn="1"/>
        </p:nvSpPr>
        <p:spPr>
          <a:xfrm>
            <a:off x="6394450" y="0"/>
            <a:ext cx="15392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C8650-8C82-4FB0-9266-0148B376A8CE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6028FDE-6655-4B55-B3B4-5B366034E8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29400" y="758952"/>
            <a:ext cx="4526280" cy="3227514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6000" b="1" spc="-5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32171" y="4508500"/>
            <a:ext cx="452628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3E1BBA-670B-4CAE-B839-50ADB23DDBC6}"/>
              </a:ext>
            </a:extLst>
          </p:cNvPr>
          <p:cNvSpPr/>
          <p:nvPr userDrawn="1"/>
        </p:nvSpPr>
        <p:spPr>
          <a:xfrm>
            <a:off x="6311900" y="0"/>
            <a:ext cx="153926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393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9DE01-3159-42E8-9946-B3F7564EBC72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élogramme 14">
            <a:extLst>
              <a:ext uri="{FF2B5EF4-FFF2-40B4-BE49-F238E27FC236}">
                <a16:creationId xmlns:a16="http://schemas.microsoft.com/office/drawing/2014/main" id="{98B82A56-7790-48EC-983D-AB8F703699B2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A1FC6A6-F894-471F-8AA4-AE4112290279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2451099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1599" y="3746500"/>
            <a:ext cx="8331202" cy="130810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416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7528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03D98FD-B63D-46E0-B974-EC5BBAC02E27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1735138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0399" y="3746500"/>
            <a:ext cx="8331202" cy="1308100"/>
          </a:xfrm>
        </p:spPr>
        <p:txBody>
          <a:bodyPr anchor="b" anchorCtr="0">
            <a:noAutofit/>
          </a:bodyPr>
          <a:lstStyle>
            <a:lvl1pPr algn="ctr"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04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5369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66489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ECCD-A9BB-4C40-8999-9FDE0B2AF02D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 algn="l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6731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395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1315-80A2-4A6F-99BC-2337EDBA509A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23FCEE-D38D-4315-8661-B8B16CE6B114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élogramme 14">
            <a:extLst>
              <a:ext uri="{FF2B5EF4-FFF2-40B4-BE49-F238E27FC236}">
                <a16:creationId xmlns:a16="http://schemas.microsoft.com/office/drawing/2014/main" id="{AF082EE3-41AA-4817-A1CC-C33DDB8F675F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7909053-E1DD-4959-BC7A-C98D3D2614D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10507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786383"/>
            <a:ext cx="3068833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800"/>
            <a:ext cx="5713841" cy="4868609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2200" y="3043050"/>
            <a:ext cx="3068832" cy="2638359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139700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624142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B9C849-F1D8-4230-9F2F-9250D675BB2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cxnSp>
        <p:nvCxnSpPr>
          <p:cNvPr id="15" name="Connecteur droit 19">
            <a:extLst>
              <a:ext uri="{FF2B5EF4-FFF2-40B4-BE49-F238E27FC236}">
                <a16:creationId xmlns:a16="http://schemas.microsoft.com/office/drawing/2014/main" id="{D84C14C5-D99C-45CD-8001-AC745F4FB49B}"/>
              </a:ext>
            </a:extLst>
          </p:cNvPr>
          <p:cNvCxnSpPr>
            <a:cxnSpLocks/>
          </p:cNvCxnSpPr>
          <p:nvPr userDrawn="1"/>
        </p:nvCxnSpPr>
        <p:spPr>
          <a:xfrm flipH="1">
            <a:off x="1092200" y="6446838"/>
            <a:ext cx="1643438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9">
            <a:extLst>
              <a:ext uri="{FF2B5EF4-FFF2-40B4-BE49-F238E27FC236}">
                <a16:creationId xmlns:a16="http://schemas.microsoft.com/office/drawing/2014/main" id="{019842DD-D0AB-4E35-9AB2-7DBB6E266120}"/>
              </a:ext>
            </a:extLst>
          </p:cNvPr>
          <p:cNvCxnSpPr>
            <a:cxnSpLocks/>
          </p:cNvCxnSpPr>
          <p:nvPr userDrawn="1"/>
        </p:nvCxnSpPr>
        <p:spPr>
          <a:xfrm flipH="1">
            <a:off x="8420100" y="6429376"/>
            <a:ext cx="1000462" cy="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9">
            <a:extLst>
              <a:ext uri="{FF2B5EF4-FFF2-40B4-BE49-F238E27FC236}">
                <a16:creationId xmlns:a16="http://schemas.microsoft.com/office/drawing/2014/main" id="{832851A7-B301-4616-9843-9A0D06646DFD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65675" y="6446838"/>
            <a:ext cx="407258" cy="635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208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7022-84E8-42F0-8AEA-ADED76AFD446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827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2003424"/>
            <a:ext cx="1036320" cy="18573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377398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D4C0741-442A-4788-81DA-4F081D559C5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C7DA98-7B92-4F45-80F8-1AEF72A601CF}"/>
              </a:ext>
            </a:extLst>
          </p:cNvPr>
          <p:cNvSpPr/>
          <p:nvPr userDrawn="1"/>
        </p:nvSpPr>
        <p:spPr>
          <a:xfrm>
            <a:off x="1078230" y="2003423"/>
            <a:ext cx="3576082" cy="185737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314700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96815B-4256-4CE0-9FCF-3A2967CF5792}"/>
              </a:ext>
            </a:extLst>
          </p:cNvPr>
          <p:cNvSpPr/>
          <p:nvPr userDrawn="1"/>
        </p:nvSpPr>
        <p:spPr>
          <a:xfrm>
            <a:off x="1092200" y="993775"/>
            <a:ext cx="1036320" cy="936626"/>
          </a:xfrm>
          <a:prstGeom prst="rect">
            <a:avLst/>
          </a:prstGeom>
          <a:solidFill>
            <a:schemeClr val="tx2">
              <a:lumMod val="20000"/>
              <a:lumOff val="8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812829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70BDB9F-6784-464D-8ED7-29E60E2B21A9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543055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4722" y="548355"/>
            <a:ext cx="6054846" cy="634336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36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0833" y="1611313"/>
            <a:ext cx="6072099" cy="3755104"/>
          </a:xfrm>
        </p:spPr>
        <p:txBody>
          <a:bodyPr anchor="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DA3ABBD-A00D-4624-9D57-736F5DDBFAB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10465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4148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8577" y="880375"/>
            <a:ext cx="6054846" cy="634336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6BF20AA-C418-460A-B9CF-8F3DD94C436D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446475-024F-4C71-99D3-501468ACAD11}"/>
              </a:ext>
            </a:extLst>
          </p:cNvPr>
          <p:cNvSpPr/>
          <p:nvPr userDrawn="1"/>
        </p:nvSpPr>
        <p:spPr>
          <a:xfrm>
            <a:off x="5577840" y="0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76028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3373" y="943430"/>
            <a:ext cx="4699452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063F5CE0-F8B8-4EAA-822E-6451047E7D5F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73BF96-A07C-4AAA-A37F-65151BD22A70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12771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 userDrawn="1"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18529" y="943430"/>
            <a:ext cx="4654296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1F8AE65-7CE3-49A8-B2CC-A5A64E5730FA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27F28F-6C7B-471B-9839-EF88426C1976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986162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/>
          </a:solidFill>
        </p:spPr>
        <p:txBody>
          <a:bodyPr lIns="457200" tIns="457200"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 algn="ctr"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046700-360D-4474-9946-7580E8968658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A4DE4A-F8EF-47D5-8C37-A9021C2BB6A3}"/>
              </a:ext>
            </a:extLst>
          </p:cNvPr>
          <p:cNvSpPr/>
          <p:nvPr userDrawn="1"/>
        </p:nvSpPr>
        <p:spPr>
          <a:xfrm>
            <a:off x="3536950" y="4535901"/>
            <a:ext cx="5118100" cy="1256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986956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667F3-A942-43B7-9681-6435F4941075}" type="datetime1">
              <a:rPr lang="en-US" smtClean="0"/>
              <a:t>06-Jul-20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040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346200"/>
            <a:ext cx="2448033" cy="4530725"/>
          </a:xfrm>
        </p:spPr>
        <p:txBody>
          <a:bodyPr vert="eaVert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92200" y="1346200"/>
            <a:ext cx="7480300" cy="4530723"/>
          </a:xfrm>
        </p:spPr>
        <p:txBody>
          <a:bodyPr vert="eaVert" lIns="45720" tIns="0" rIns="45720" bIns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576BB9-001A-4B59-8C51-603E71AE3226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Footer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443CC6-CDCA-4595-ADAE-DCB961FF1A8E}"/>
              </a:ext>
            </a:extLst>
          </p:cNvPr>
          <p:cNvSpPr/>
          <p:nvPr userDrawn="1"/>
        </p:nvSpPr>
        <p:spPr>
          <a:xfrm rot="16200000">
            <a:off x="8871481" y="-14658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40687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arallélogramme 14">
            <a:extLst>
              <a:ext uri="{FF2B5EF4-FFF2-40B4-BE49-F238E27FC236}">
                <a16:creationId xmlns:a16="http://schemas.microsoft.com/office/drawing/2014/main" id="{D20796F3-5674-4AF5-9623-575731F82E52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6548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341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010F8E8D-DF54-49BE-BDBC-401B280C4E3C}" type="datetime1">
              <a:rPr lang="en-US" noProof="0" smtClean="0"/>
              <a:t>06-Jul-20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48463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75670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25E55C-1C16-46C6-B789-A4B2BCEF8F86}"/>
              </a:ext>
            </a:extLst>
          </p:cNvPr>
          <p:cNvSpPr/>
          <p:nvPr userDrawn="1"/>
        </p:nvSpPr>
        <p:spPr>
          <a:xfrm>
            <a:off x="0" y="1011981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90285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8" r:id="rId2"/>
    <p:sldLayoutId id="2147483707" r:id="rId3"/>
    <p:sldLayoutId id="2147483708" r:id="rId4"/>
    <p:sldLayoutId id="2147483719" r:id="rId5"/>
    <p:sldLayoutId id="2147483709" r:id="rId6"/>
    <p:sldLayoutId id="2147483716" r:id="rId7"/>
    <p:sldLayoutId id="2147483710" r:id="rId8"/>
    <p:sldLayoutId id="2147483711" r:id="rId9"/>
    <p:sldLayoutId id="2147483712" r:id="rId10"/>
    <p:sldLayoutId id="2147483727" r:id="rId11"/>
    <p:sldLayoutId id="2147483720" r:id="rId12"/>
    <p:sldLayoutId id="2147483721" r:id="rId13"/>
    <p:sldLayoutId id="2147483725" r:id="rId14"/>
    <p:sldLayoutId id="2147483726" r:id="rId15"/>
    <p:sldLayoutId id="2147483722" r:id="rId16"/>
    <p:sldLayoutId id="2147483723" r:id="rId17"/>
    <p:sldLayoutId id="2147483715" r:id="rId18"/>
    <p:sldLayoutId id="2147483713" r:id="rId19"/>
    <p:sldLayoutId id="2147483714" r:id="rId2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 spc="-50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 userDrawn="1">
          <p15:clr>
            <a:srgbClr val="F26B43"/>
          </p15:clr>
        </p15:guide>
        <p15:guide id="2" pos="688" userDrawn="1">
          <p15:clr>
            <a:srgbClr val="F26B43"/>
          </p15:clr>
        </p15:guide>
        <p15:guide id="3" pos="7038" userDrawn="1">
          <p15:clr>
            <a:srgbClr val="F26B43"/>
          </p15:clr>
        </p15:guide>
        <p15:guide id="4" orient="horz" pos="3702" userDrawn="1">
          <p15:clr>
            <a:srgbClr val="F26B43"/>
          </p15:clr>
        </p15:guide>
        <p15:guide id="5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em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9A5382A-F722-415D-A992-A520DE0CE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016" y="0"/>
            <a:ext cx="1212172" cy="1314741"/>
          </a:xfrm>
          <a:prstGeom prst="rect">
            <a:avLst/>
          </a:prstGeom>
        </p:spPr>
      </p:pic>
      <p:sp>
        <p:nvSpPr>
          <p:cNvPr id="12" name="Title 10">
            <a:extLst>
              <a:ext uri="{FF2B5EF4-FFF2-40B4-BE49-F238E27FC236}">
                <a16:creationId xmlns:a16="http://schemas.microsoft.com/office/drawing/2014/main" id="{6631C527-12C3-471E-82FB-8B2A3476A50A}"/>
              </a:ext>
            </a:extLst>
          </p:cNvPr>
          <p:cNvSpPr txBox="1">
            <a:spLocks/>
          </p:cNvSpPr>
          <p:nvPr/>
        </p:nvSpPr>
        <p:spPr bwMode="white">
          <a:xfrm>
            <a:off x="496" y="1314741"/>
            <a:ext cx="6301212" cy="1466661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40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Bangladesh Army International University Of Science And Technology</a:t>
            </a:r>
          </a:p>
        </p:txBody>
      </p:sp>
      <p:sp>
        <p:nvSpPr>
          <p:cNvPr id="15" name="Title 10">
            <a:extLst>
              <a:ext uri="{FF2B5EF4-FFF2-40B4-BE49-F238E27FC236}">
                <a16:creationId xmlns:a16="http://schemas.microsoft.com/office/drawing/2014/main" id="{33B2BB82-6DE1-4F52-AA64-98886611BDCE}"/>
              </a:ext>
            </a:extLst>
          </p:cNvPr>
          <p:cNvSpPr txBox="1">
            <a:spLocks/>
          </p:cNvSpPr>
          <p:nvPr/>
        </p:nvSpPr>
        <p:spPr bwMode="white">
          <a:xfrm>
            <a:off x="6527549" y="878186"/>
            <a:ext cx="5663955" cy="1903216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u="sng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</a:p>
          <a:p>
            <a:pPr algn="ctr"/>
            <a:r>
              <a:rPr lang="en-US" sz="24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16" name="Title 13">
            <a:extLst>
              <a:ext uri="{FF2B5EF4-FFF2-40B4-BE49-F238E27FC236}">
                <a16:creationId xmlns:a16="http://schemas.microsoft.com/office/drawing/2014/main" id="{82C3C1EC-6D93-4C1C-AC1E-62F511EEC9C4}"/>
              </a:ext>
            </a:extLst>
          </p:cNvPr>
          <p:cNvSpPr txBox="1">
            <a:spLocks/>
          </p:cNvSpPr>
          <p:nvPr/>
        </p:nvSpPr>
        <p:spPr bwMode="white">
          <a:xfrm>
            <a:off x="1657878" y="4244326"/>
            <a:ext cx="2986447" cy="2597865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8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Arifa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Islam </a:t>
            </a: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Champa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Lecturer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</a:t>
            </a:r>
            <a:br>
              <a:rPr lang="en-US" cap="none" dirty="0">
                <a:solidFill>
                  <a:prstClr val="black"/>
                </a:solidFill>
                <a:latin typeface="Century Gothic" panose="020B0502020202020204"/>
              </a:rPr>
            </a:br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  <p:sp>
        <p:nvSpPr>
          <p:cNvPr id="17" name="Title 13">
            <a:extLst>
              <a:ext uri="{FF2B5EF4-FFF2-40B4-BE49-F238E27FC236}">
                <a16:creationId xmlns:a16="http://schemas.microsoft.com/office/drawing/2014/main" id="{7FD72A84-7680-4DB6-9D5B-B45EA3D319C5}"/>
              </a:ext>
            </a:extLst>
          </p:cNvPr>
          <p:cNvSpPr txBox="1">
            <a:spLocks/>
          </p:cNvSpPr>
          <p:nvPr/>
        </p:nvSpPr>
        <p:spPr bwMode="white">
          <a:xfrm>
            <a:off x="6527549" y="4076598"/>
            <a:ext cx="5663955" cy="2478859"/>
          </a:xfrm>
          <a:prstGeom prst="rect">
            <a:avLst/>
          </a:prstGeom>
          <a:effectLst/>
        </p:spPr>
        <p:txBody>
          <a:bodyPr vert="horz" lIns="91440" tIns="45720" rIns="91440" bIns="45720" numCol="2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Pritilata Biswas</a:t>
            </a:r>
          </a:p>
          <a:p>
            <a:pPr algn="ctr"/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Sumaia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Afrin Prity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Parvez Abedin Siddique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1103017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1103057</a:t>
            </a:r>
            <a:endParaRPr lang="en-US" sz="2400" cap="none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ID: 1103094 </a:t>
            </a:r>
            <a:r>
              <a:rPr lang="en-US" sz="3200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  <a:p>
            <a:pPr algn="ctr"/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172296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E5C437-AD27-4F68-B6B7-642AE8EF2161}"/>
              </a:ext>
            </a:extLst>
          </p:cNvPr>
          <p:cNvSpPr txBox="1"/>
          <p:nvPr/>
        </p:nvSpPr>
        <p:spPr>
          <a:xfrm>
            <a:off x="4906979" y="787651"/>
            <a:ext cx="6817260" cy="5115311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</a:t>
            </a:r>
          </a:p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Tessarect OCR Engine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Tessarect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</a:p>
        </p:txBody>
      </p:sp>
    </p:spTree>
    <p:extLst>
      <p:ext uri="{BB962C8B-B14F-4D97-AF65-F5344CB8AC3E}">
        <p14:creationId xmlns:p14="http://schemas.microsoft.com/office/powerpoint/2010/main" val="2667318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620BE9-6EB4-44F0-8F7F-C57981E50973}"/>
              </a:ext>
            </a:extLst>
          </p:cNvPr>
          <p:cNvSpPr txBox="1"/>
          <p:nvPr/>
        </p:nvSpPr>
        <p:spPr>
          <a:xfrm>
            <a:off x="4943193" y="2081699"/>
            <a:ext cx="698022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Printed text OCR have a huge success but handwritten still need to improved</a:t>
            </a:r>
          </a:p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problem – removing connectedness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642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 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460CDC7-8DBD-4205-838D-ADCA6DB7584B}"/>
              </a:ext>
            </a:extLst>
          </p:cNvPr>
          <p:cNvSpPr txBox="1"/>
          <p:nvPr/>
        </p:nvSpPr>
        <p:spPr>
          <a:xfrm>
            <a:off x="4668754" y="1885125"/>
            <a:ext cx="6853289" cy="33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effective strategy for segmenting Bengali scripts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segmentation error and time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the structuring element properly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the matra line by the morphological opening operation</a:t>
            </a:r>
          </a:p>
        </p:txBody>
      </p:sp>
    </p:spTree>
    <p:extLst>
      <p:ext uri="{BB962C8B-B14F-4D97-AF65-F5344CB8AC3E}">
        <p14:creationId xmlns:p14="http://schemas.microsoft.com/office/powerpoint/2010/main" val="3719587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458651" y="187875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5310400" y="2501845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640744" y="2557484"/>
            <a:ext cx="2597630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pic>
        <p:nvPicPr>
          <p:cNvPr id="22" name="Graphic 21" descr="Arrow Slight curve">
            <a:extLst>
              <a:ext uri="{FF2B5EF4-FFF2-40B4-BE49-F238E27FC236}">
                <a16:creationId xmlns:a16="http://schemas.microsoft.com/office/drawing/2014/main" id="{9A22ED98-A80C-41EC-9BC7-66FAA1955C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782583">
            <a:off x="3418439" y="1697990"/>
            <a:ext cx="2471415" cy="9144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5742131" y="574462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Bengali Script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678195" y="3222512"/>
            <a:ext cx="2501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5452219" y="293347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 Segmentation  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8A9900E-BA68-4DA6-84A9-A0E2AA641A6C}"/>
              </a:ext>
            </a:extLst>
          </p:cNvPr>
          <p:cNvSpPr/>
          <p:nvPr/>
        </p:nvSpPr>
        <p:spPr>
          <a:xfrm>
            <a:off x="9047430" y="2471060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5310399" y="4798668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9225032" y="2956966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Segmentation 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5CB935-E5A7-4E68-B7C4-EA12E609E0B6}"/>
              </a:ext>
            </a:extLst>
          </p:cNvPr>
          <p:cNvSpPr txBox="1"/>
          <p:nvPr/>
        </p:nvSpPr>
        <p:spPr>
          <a:xfrm>
            <a:off x="5458651" y="529244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2398" y="351489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45404" y="3512819"/>
            <a:ext cx="1379628" cy="914400"/>
          </a:xfrm>
          <a:prstGeom prst="rect">
            <a:avLst/>
          </a:prstGeom>
        </p:spPr>
      </p:pic>
      <p:pic>
        <p:nvPicPr>
          <p:cNvPr id="35" name="Graphic 34" descr="Arrow Slight curve">
            <a:extLst>
              <a:ext uri="{FF2B5EF4-FFF2-40B4-BE49-F238E27FC236}">
                <a16:creationId xmlns:a16="http://schemas.microsoft.com/office/drawing/2014/main" id="{C8B06512-5ADE-4437-B25B-D42161C2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782583">
            <a:off x="7693918" y="4581836"/>
            <a:ext cx="2566557" cy="9144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4470AAA-63C2-4D8A-B65A-75C68148C6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9800" y="16313"/>
            <a:ext cx="1092200" cy="118461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69631F4-BC89-47FA-AAAA-B005E288E963}"/>
              </a:ext>
            </a:extLst>
          </p:cNvPr>
          <p:cNvSpPr txBox="1"/>
          <p:nvPr/>
        </p:nvSpPr>
        <p:spPr>
          <a:xfrm>
            <a:off x="923956" y="6130340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System Methodology 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331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708365" y="602713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1858285" y="3177184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6126480" y="1116097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Bilateral Filtering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1974393" y="3730712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 Scale Filtering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8644474" y="3429000"/>
            <a:ext cx="3378482" cy="3083304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8930427" y="4019728"/>
            <a:ext cx="28065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Binarization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Skew Angle Correction</a:t>
            </a:r>
          </a:p>
        </p:txBody>
      </p:sp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346721">
            <a:off x="8219758" y="2432566"/>
            <a:ext cx="1926444" cy="914400"/>
          </a:xfrm>
          <a:prstGeom prst="rect">
            <a:avLst/>
          </a:prstGeom>
        </p:spPr>
      </p:pic>
      <p:pic>
        <p:nvPicPr>
          <p:cNvPr id="18" name="Graphic 17" descr="Arrow Slight curve">
            <a:extLst>
              <a:ext uri="{FF2B5EF4-FFF2-40B4-BE49-F238E27FC236}">
                <a16:creationId xmlns:a16="http://schemas.microsoft.com/office/drawing/2014/main" id="{1F64C353-9383-4AB8-9DCE-80982E8B3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911338">
            <a:off x="3829595" y="2373327"/>
            <a:ext cx="2416295" cy="914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8E486E-634B-4FA5-9400-B9887BEC9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9800" y="10404"/>
            <a:ext cx="1092200" cy="11846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D79257A-0A9E-4C14-9342-7D63B1CB8234}"/>
              </a:ext>
            </a:extLst>
          </p:cNvPr>
          <p:cNvSpPr txBox="1"/>
          <p:nvPr/>
        </p:nvSpPr>
        <p:spPr>
          <a:xfrm>
            <a:off x="1320953" y="6006485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processes.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161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729864" y="1677888"/>
            <a:ext cx="2412943" cy="216829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986753" y="2099272"/>
            <a:ext cx="189916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Horizontal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9A1DCE8-7027-4634-A3DF-8B4693402E9D}"/>
              </a:ext>
            </a:extLst>
          </p:cNvPr>
          <p:cNvSpPr/>
          <p:nvPr/>
        </p:nvSpPr>
        <p:spPr>
          <a:xfrm>
            <a:off x="8381804" y="1601867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767DF6-4130-4C97-AC93-A70BEA4C5A0A}"/>
              </a:ext>
            </a:extLst>
          </p:cNvPr>
          <p:cNvSpPr txBox="1"/>
          <p:nvPr/>
        </p:nvSpPr>
        <p:spPr>
          <a:xfrm>
            <a:off x="8681615" y="2044005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F2BB01-F790-43E3-87A1-65C1EC2B9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95" y="3896879"/>
            <a:ext cx="4148340" cy="16483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7497771-970E-4932-80CB-570D63845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1782" y="3896879"/>
            <a:ext cx="3366723" cy="145075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52A25E1-30BF-4C43-92C6-966E2C99AE6A}"/>
              </a:ext>
            </a:extLst>
          </p:cNvPr>
          <p:cNvSpPr txBox="1"/>
          <p:nvPr/>
        </p:nvSpPr>
        <p:spPr>
          <a:xfrm>
            <a:off x="417425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Line Segmentation using HPP.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7366EB-AD90-486A-A771-D8C292A93865}"/>
              </a:ext>
            </a:extLst>
          </p:cNvPr>
          <p:cNvSpPr txBox="1"/>
          <p:nvPr/>
        </p:nvSpPr>
        <p:spPr>
          <a:xfrm>
            <a:off x="7216749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414964-6FD8-47DE-BAAA-F0AA06FF5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720" y="-20042"/>
            <a:ext cx="1092200" cy="11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026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393876" y="2049270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559074" y="2562130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Opening Operation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777">
            <a:off x="2870528" y="380078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250980">
            <a:off x="6357866" y="3674590"/>
            <a:ext cx="1379628" cy="914400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8FEE480-22EF-4810-94C0-458D3D6BD5F6}"/>
              </a:ext>
            </a:extLst>
          </p:cNvPr>
          <p:cNvSpPr/>
          <p:nvPr/>
        </p:nvSpPr>
        <p:spPr>
          <a:xfrm>
            <a:off x="4137994" y="3785558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1CBEA-E3A6-42E5-80B2-83E2C0420AD0}"/>
              </a:ext>
            </a:extLst>
          </p:cNvPr>
          <p:cNvSpPr txBox="1"/>
          <p:nvPr/>
        </p:nvSpPr>
        <p:spPr>
          <a:xfrm>
            <a:off x="4378837" y="4170278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14FB54C-CD98-40C4-93DF-523067C338D0}"/>
              </a:ext>
            </a:extLst>
          </p:cNvPr>
          <p:cNvSpPr/>
          <p:nvPr/>
        </p:nvSpPr>
        <p:spPr>
          <a:xfrm>
            <a:off x="7553658" y="2274976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416AD7-A254-4ED6-8B71-89B919FEFEB3}"/>
              </a:ext>
            </a:extLst>
          </p:cNvPr>
          <p:cNvSpPr txBox="1"/>
          <p:nvPr/>
        </p:nvSpPr>
        <p:spPr>
          <a:xfrm>
            <a:off x="7711649" y="2763353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Opening Operation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2AE7FA-0E30-423C-BD12-F39883E8F147}"/>
              </a:ext>
            </a:extLst>
          </p:cNvPr>
          <p:cNvSpPr txBox="1"/>
          <p:nvPr/>
        </p:nvSpPr>
        <p:spPr>
          <a:xfrm>
            <a:off x="3678423" y="6323356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Character segmentation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processe.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826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(Printed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FB1B2CE-5D15-45A3-AAD9-5920132EF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3597"/>
            <a:ext cx="2916103" cy="27370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1A1F8A-DF81-4FA8-8B4F-E2C1B716A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102" y="2383596"/>
            <a:ext cx="2778527" cy="27370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C7EF1B-E861-4B32-A726-395515647B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3452" y="2383596"/>
            <a:ext cx="2778528" cy="27370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9D878FE-1944-463B-8DD2-3000BF517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5898" y="2383596"/>
            <a:ext cx="2783887" cy="27370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678423" y="6323356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for Bengali printed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</p:spTree>
    <p:extLst>
      <p:ext uri="{BB962C8B-B14F-4D97-AF65-F5344CB8AC3E}">
        <p14:creationId xmlns:p14="http://schemas.microsoft.com/office/powerpoint/2010/main" val="2004266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(Handwritten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97948" y="6284877"/>
            <a:ext cx="5196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Preprocessing for Bengali handwritten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2F27F8-9EA7-4091-A167-60952E197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" y="2793508"/>
            <a:ext cx="2612202" cy="20789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6C672EB-7F5F-4A65-8542-501B8B50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7692" y="2793508"/>
            <a:ext cx="3012147" cy="20789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370FF62-880B-41D6-B57C-CF1541164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634" y="2793508"/>
            <a:ext cx="3006894" cy="208197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0AA920-BEA8-4460-BA20-916844D265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4308" y="2790160"/>
            <a:ext cx="2448694" cy="207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012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Line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Line segmentation Bengali script using HPP.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2493520" y="5495349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409852" y="5495349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6E1489-2FF1-4147-9FCB-7C5D0D6CB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45" y="1936019"/>
            <a:ext cx="4312467" cy="29859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0A5AD3-A754-4B93-A091-B6E3BF689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36018"/>
            <a:ext cx="5189173" cy="298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875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Word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D3CC3F-9056-4905-8000-91144EDF7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25545"/>
            <a:ext cx="5764040" cy="29170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01A8E1-47C4-474D-B070-D250B6B6D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68" y="2023963"/>
            <a:ext cx="4934098" cy="291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752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Character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386731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16A2B1-2F70-4296-A88B-4EB8464BA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72" y="1904038"/>
            <a:ext cx="4976827" cy="34084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0435B2-6F69-49E8-BCB7-F58142CC3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023963"/>
            <a:ext cx="5790134" cy="3288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8441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Tesseract OCR Engine 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F32FE7-B121-4231-84F3-4F69F8819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896"/>
            <a:ext cx="1092200" cy="118461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F9CDFE-0A7C-4E3A-8170-1B1132715A94}"/>
              </a:ext>
            </a:extLst>
          </p:cNvPr>
          <p:cNvSpPr txBox="1"/>
          <p:nvPr/>
        </p:nvSpPr>
        <p:spPr>
          <a:xfrm>
            <a:off x="4668754" y="1885125"/>
            <a:ext cx="6853289" cy="2934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 works in various environments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by the HP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Supported in 100+ languages 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used in most complicated OCR tasks</a:t>
            </a:r>
          </a:p>
        </p:txBody>
      </p:sp>
    </p:spTree>
    <p:extLst>
      <p:ext uri="{BB962C8B-B14F-4D97-AF65-F5344CB8AC3E}">
        <p14:creationId xmlns:p14="http://schemas.microsoft.com/office/powerpoint/2010/main" val="4710672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Tessarect OCR Engine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2180376" y="6386731"/>
            <a:ext cx="7831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: Comparing of character segmentation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with Tessarect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 engine.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96167" y="5479211"/>
            <a:ext cx="274437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Output from our system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Output from the Tessarect OCR engine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971766-BB25-44A1-88CA-BA62F03AB5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5639"/>
          <a:stretch/>
        </p:blipFill>
        <p:spPr>
          <a:xfrm>
            <a:off x="595919" y="1883484"/>
            <a:ext cx="5305330" cy="3458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4F3B7-BD0A-4CCB-AC0C-A53E760728E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6139"/>
          <a:stretch/>
        </p:blipFill>
        <p:spPr>
          <a:xfrm>
            <a:off x="6126480" y="1722805"/>
            <a:ext cx="5716139" cy="361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0553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1097280" y="2023963"/>
            <a:ext cx="104821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Zahan, M.R. Selim, M.S. Rahman, M.Z. Iqbal, (2018). “Connected Component Analysis Based Two Zone Approach for Bangla Character Segmentation.” 1-4.10.1109/ICBSLP.2018.8554684.</a:t>
            </a:r>
          </a:p>
        </p:txBody>
      </p:sp>
    </p:spTree>
    <p:extLst>
      <p:ext uri="{BB962C8B-B14F-4D97-AF65-F5344CB8AC3E}">
        <p14:creationId xmlns:p14="http://schemas.microsoft.com/office/powerpoint/2010/main" val="3045734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9E3965E-AC41-4711-9D10-E25ABB132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F5DC8C3-BA5F-4EED-BB9A-A14272BD8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365BF64-4B30-4125-9A30-A1B08C80E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89216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9600" dirty="0">
                <a:solidFill>
                  <a:srgbClr val="FFFFFF"/>
                </a:solidFill>
                <a:latin typeface="+mj-lt"/>
              </a:rPr>
              <a:t>Thank you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305886-8ACA-4ED6-AA5B-215F6D741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0051" y="5225240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cap="all" spc="200" dirty="0">
                <a:solidFill>
                  <a:srgbClr val="FFFFFF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2797136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lassic Company All Hands_Win32_MS v3" id="{1F352A5D-0EBE-49A2-9FF7-DEF81AB6F3C6}" vid="{D35781EA-2188-4D84-8966-791644CE134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E0A2CB4-6869-426F-8BC4-A32C90CBE26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4E879E6-8FFE-4154-8F2A-F7518B89B376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A941CA7C-A0BF-44EF-B2E5-7539C3B9B0B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Classic company all hands presentation</Template>
  <TotalTime>0</TotalTime>
  <Words>474</Words>
  <Application>Microsoft Office PowerPoint</Application>
  <PresentationFormat>Widescreen</PresentationFormat>
  <Paragraphs>107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Calibri Light</vt:lpstr>
      <vt:lpstr>Century Gothic</vt:lpstr>
      <vt:lpstr>Times New Roman</vt:lpstr>
      <vt:lpstr>Wingdings</vt:lpstr>
      <vt:lpstr>RetrospectVTI</vt:lpstr>
      <vt:lpstr>PowerPoint Presentation</vt:lpstr>
      <vt:lpstr>Outline</vt:lpstr>
      <vt:lpstr>Motivation </vt:lpstr>
      <vt:lpstr>Objective </vt:lpstr>
      <vt:lpstr>Methodology </vt:lpstr>
      <vt:lpstr>Preprocessing </vt:lpstr>
      <vt:lpstr>Line &amp; Word Segmentation </vt:lpstr>
      <vt:lpstr>Character Segmentation </vt:lpstr>
      <vt:lpstr>Result Analysis – Preprocessing (Printed Script) </vt:lpstr>
      <vt:lpstr>Result Analysis – Preprocessing (Handwritten Script) </vt:lpstr>
      <vt:lpstr>Result Analysis – Line Segmentation</vt:lpstr>
      <vt:lpstr>Result Analysis – Word Segmentation</vt:lpstr>
      <vt:lpstr>Result Analysis – Character Segmentation</vt:lpstr>
      <vt:lpstr>Tesseract OCR Engine </vt:lpstr>
      <vt:lpstr>Comparison with Tessarect OCR Engine</vt:lpstr>
      <vt:lpstr>Reference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2020-07-05T17:08:13Z</dcterms:created>
  <dcterms:modified xsi:type="dcterms:W3CDTF">2020-07-06T06:19:17Z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
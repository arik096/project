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7" r:id="rId4"/>
  </p:sldMasterIdLst>
  <p:notesMasterIdLst>
    <p:notesMasterId r:id="rId32"/>
  </p:notesMasterIdLst>
  <p:handoutMasterIdLst>
    <p:handoutMasterId r:id="rId33"/>
  </p:handoutMasterIdLst>
  <p:sldIdLst>
    <p:sldId id="258" r:id="rId5"/>
    <p:sldId id="284" r:id="rId6"/>
    <p:sldId id="272" r:id="rId7"/>
    <p:sldId id="294" r:id="rId8"/>
    <p:sldId id="309" r:id="rId9"/>
    <p:sldId id="296" r:id="rId10"/>
    <p:sldId id="293" r:id="rId11"/>
    <p:sldId id="286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306" r:id="rId21"/>
    <p:sldId id="307" r:id="rId22"/>
    <p:sldId id="310" r:id="rId23"/>
    <p:sldId id="314" r:id="rId24"/>
    <p:sldId id="311" r:id="rId25"/>
    <p:sldId id="315" r:id="rId26"/>
    <p:sldId id="312" r:id="rId27"/>
    <p:sldId id="297" r:id="rId28"/>
    <p:sldId id="313" r:id="rId29"/>
    <p:sldId id="308" r:id="rId30"/>
    <p:sldId id="29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52" autoAdjust="0"/>
    <p:restoredTop sz="94639" autoAdjust="0"/>
  </p:normalViewPr>
  <p:slideViewPr>
    <p:cSldViewPr snapToGrid="0">
      <p:cViewPr varScale="1">
        <p:scale>
          <a:sx n="106" d="100"/>
          <a:sy n="106" d="100"/>
        </p:scale>
        <p:origin x="78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50" d="100"/>
          <a:sy n="50" d="100"/>
        </p:scale>
        <p:origin x="3403" y="33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3AA0E9-8CD0-4A6E-A65E-A06028B83F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E2408B-C9AB-4665-AC99-B057BD0A43D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8E1AF-6343-46AA-8AEF-4C12F4118850}" type="datetimeFigureOut">
              <a:rPr lang="en-US" smtClean="0"/>
              <a:t>07-Jul-20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D1B215-531B-4869-BD98-BD3B1390B1C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53F21-4D67-455D-8074-E9E6EC26FAC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2858E0-3D38-47B7-97D4-4FE08D90D35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4433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D2517-63AA-420A-887D-BE60360A8F4D}" type="datetimeFigureOut">
              <a:rPr lang="en-US" noProof="0" smtClean="0"/>
              <a:t>07-Jul-20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4ECAD9-32EE-4091-BDA5-6BD15ACC5E58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618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4ECAD9-32EE-4091-BDA5-6BD15ACC5E58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59811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4ECAD9-32EE-4091-BDA5-6BD15ACC5E5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5258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D1D313A2-A4D4-40DF-A0C2-C29F6416852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9944BB-901F-4101-AAD9-F3F9660A6803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850" y="4508500"/>
            <a:ext cx="511810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2850" y="2057400"/>
            <a:ext cx="5118100" cy="1929066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5400" b="1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27005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élogramme 14">
            <a:extLst>
              <a:ext uri="{FF2B5EF4-FFF2-40B4-BE49-F238E27FC236}">
                <a16:creationId xmlns:a16="http://schemas.microsoft.com/office/drawing/2014/main" id="{F5AA8A10-E19C-430B-9D5D-8D12F92BFEC5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C93D4F-3003-4D58-9AFB-356A0F800F42}"/>
              </a:ext>
            </a:extLst>
          </p:cNvPr>
          <p:cNvSpPr/>
          <p:nvPr userDrawn="1"/>
        </p:nvSpPr>
        <p:spPr>
          <a:xfrm>
            <a:off x="6394450" y="0"/>
            <a:ext cx="153926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CE57BC-BF01-4133-9A7B-333F3E4796E1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6028FDE-6655-4B55-B3B4-5B366034E8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629400" y="758952"/>
            <a:ext cx="4526280" cy="3227514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b="1" spc="-5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32171" y="4508500"/>
            <a:ext cx="4526280" cy="12796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3E1BBA-670B-4CAE-B839-50ADB23DDBC6}"/>
              </a:ext>
            </a:extLst>
          </p:cNvPr>
          <p:cNvSpPr/>
          <p:nvPr userDrawn="1"/>
        </p:nvSpPr>
        <p:spPr>
          <a:xfrm>
            <a:off x="6311900" y="0"/>
            <a:ext cx="15392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393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B6E837-5E5C-4ABC-B2B6-47473AC749E7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278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arallélogramme 14">
            <a:extLst>
              <a:ext uri="{FF2B5EF4-FFF2-40B4-BE49-F238E27FC236}">
                <a16:creationId xmlns:a16="http://schemas.microsoft.com/office/drawing/2014/main" id="{98B82A56-7790-48EC-983D-AB8F703699B2}"/>
              </a:ext>
            </a:extLst>
          </p:cNvPr>
          <p:cNvSpPr/>
          <p:nvPr userDrawn="1"/>
        </p:nvSpPr>
        <p:spPr>
          <a:xfrm>
            <a:off x="7972121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E1740BF-A968-409A-BEFD-8D81A8EA189C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2451099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599" y="3746500"/>
            <a:ext cx="8331202" cy="1308100"/>
          </a:xfrm>
        </p:spPr>
        <p:txBody>
          <a:bodyPr anchor="b" anchorCtr="0">
            <a:noAutofit/>
          </a:bodyPr>
          <a:lstStyle>
            <a:lvl1pPr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7528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96984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2E2D5AB1-A71C-4946-A337-64380CF8CC9C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76B772A-7600-4ECE-B5A2-34827D4C71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820398-8D1F-4543-ABA0-7A67C38769B3}"/>
              </a:ext>
            </a:extLst>
          </p:cNvPr>
          <p:cNvSpPr/>
          <p:nvPr userDrawn="1"/>
        </p:nvSpPr>
        <p:spPr>
          <a:xfrm>
            <a:off x="1735138" y="3568700"/>
            <a:ext cx="8721725" cy="23082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algn="ctr"/>
            <a:endParaRPr lang="en-US" sz="1400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0399" y="3746500"/>
            <a:ext cx="8331202" cy="1308100"/>
          </a:xfrm>
        </p:spPr>
        <p:txBody>
          <a:bodyPr anchor="b" anchorCtr="0">
            <a:noAutofit/>
          </a:bodyPr>
          <a:lstStyle>
            <a:lvl1pPr algn="ctr">
              <a:lnSpc>
                <a:spcPct val="90000"/>
              </a:lnSpc>
              <a:defRPr sz="48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30400" y="5219700"/>
            <a:ext cx="8331201" cy="586740"/>
          </a:xfrm>
        </p:spPr>
        <p:txBody>
          <a:bodyPr lIns="91440" rIns="91440" anchor="t" anchorCtr="0">
            <a:normAutofit/>
          </a:bodyPr>
          <a:lstStyle>
            <a:lvl1pPr marL="0" indent="0" algn="ctr">
              <a:buNone/>
              <a:defRPr sz="2400" cap="all" spc="200" baseline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5757C57-BBBA-44C6-9A4D-12F5D1E400AA}"/>
              </a:ext>
            </a:extLst>
          </p:cNvPr>
          <p:cNvSpPr/>
          <p:nvPr userDrawn="1"/>
        </p:nvSpPr>
        <p:spPr>
          <a:xfrm>
            <a:off x="3536950" y="3469101"/>
            <a:ext cx="511810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66489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95E87B-542F-419C-88D5-9A3CC43211E6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97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 algn="l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6731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Autofit/>
          </a:bodyPr>
          <a:lstStyle>
            <a:lvl1pPr marL="0" indent="0">
              <a:buNone/>
              <a:defRPr sz="24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395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D4E80-31CA-4027-8BB1-5262B9EE189A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94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4B30-F80E-444D-8B0E-80AB9BCEF812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0013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rallélogramme 14">
            <a:extLst>
              <a:ext uri="{FF2B5EF4-FFF2-40B4-BE49-F238E27FC236}">
                <a16:creationId xmlns:a16="http://schemas.microsoft.com/office/drawing/2014/main" id="{AF082EE3-41AA-4817-A1CC-C33DDB8F675F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1AB854B5-8C9F-4641-9122-5745D9CED2A4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010507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786383"/>
            <a:ext cx="3068833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800"/>
            <a:ext cx="5713841" cy="4868609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2200" y="3043050"/>
            <a:ext cx="3068832" cy="2638359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139700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624142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D52EFED-3821-4252-B066-81DF622ABB93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cxnSp>
        <p:nvCxnSpPr>
          <p:cNvPr id="15" name="Connecteur droit 19">
            <a:extLst>
              <a:ext uri="{FF2B5EF4-FFF2-40B4-BE49-F238E27FC236}">
                <a16:creationId xmlns:a16="http://schemas.microsoft.com/office/drawing/2014/main" id="{D84C14C5-D99C-45CD-8001-AC745F4FB49B}"/>
              </a:ext>
            </a:extLst>
          </p:cNvPr>
          <p:cNvCxnSpPr>
            <a:cxnSpLocks/>
          </p:cNvCxnSpPr>
          <p:nvPr userDrawn="1"/>
        </p:nvCxnSpPr>
        <p:spPr>
          <a:xfrm flipH="1">
            <a:off x="1092200" y="6446838"/>
            <a:ext cx="1643438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9">
            <a:extLst>
              <a:ext uri="{FF2B5EF4-FFF2-40B4-BE49-F238E27FC236}">
                <a16:creationId xmlns:a16="http://schemas.microsoft.com/office/drawing/2014/main" id="{019842DD-D0AB-4E35-9AB2-7DBB6E266120}"/>
              </a:ext>
            </a:extLst>
          </p:cNvPr>
          <p:cNvCxnSpPr>
            <a:cxnSpLocks/>
          </p:cNvCxnSpPr>
          <p:nvPr userDrawn="1"/>
        </p:nvCxnSpPr>
        <p:spPr>
          <a:xfrm flipH="1">
            <a:off x="8420100" y="6429376"/>
            <a:ext cx="1000462" cy="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9">
            <a:extLst>
              <a:ext uri="{FF2B5EF4-FFF2-40B4-BE49-F238E27FC236}">
                <a16:creationId xmlns:a16="http://schemas.microsoft.com/office/drawing/2014/main" id="{832851A7-B301-4616-9843-9A0D06646DFD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10765675" y="6446838"/>
            <a:ext cx="407258" cy="6350"/>
          </a:xfrm>
          <a:prstGeom prst="line">
            <a:avLst/>
          </a:prstGeom>
          <a:ln w="28575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9208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5F4B2-95AB-4443-9F28-03AD8938EA06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0827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DC51BA7-A5A7-4A7F-A707-DBBDEA7705F3}"/>
              </a:ext>
            </a:extLst>
          </p:cNvPr>
          <p:cNvSpPr/>
          <p:nvPr userDrawn="1"/>
        </p:nvSpPr>
        <p:spPr>
          <a:xfrm>
            <a:off x="0" y="2003424"/>
            <a:ext cx="1036320" cy="185737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3174BA-29D0-4C1A-95C9-5A86FD25E47A}"/>
              </a:ext>
            </a:extLst>
          </p:cNvPr>
          <p:cNvSpPr/>
          <p:nvPr userDrawn="1"/>
        </p:nvSpPr>
        <p:spPr>
          <a:xfrm>
            <a:off x="5458983" y="377398"/>
            <a:ext cx="5713840" cy="125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BC7D056-A642-43A3-B203-9C21AEAD9466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BC7DA98-7B92-4F45-80F8-1AEF72A601CF}"/>
              </a:ext>
            </a:extLst>
          </p:cNvPr>
          <p:cNvSpPr/>
          <p:nvPr userDrawn="1"/>
        </p:nvSpPr>
        <p:spPr>
          <a:xfrm>
            <a:off x="1078230" y="2003423"/>
            <a:ext cx="3576082" cy="185737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314700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96815B-4256-4CE0-9FCF-3A2967CF5792}"/>
              </a:ext>
            </a:extLst>
          </p:cNvPr>
          <p:cNvSpPr/>
          <p:nvPr userDrawn="1"/>
        </p:nvSpPr>
        <p:spPr>
          <a:xfrm>
            <a:off x="1092200" y="993775"/>
            <a:ext cx="1036320" cy="936626"/>
          </a:xfrm>
          <a:prstGeom prst="rect">
            <a:avLst/>
          </a:prstGeom>
          <a:solidFill>
            <a:schemeClr val="tx2">
              <a:lumMod val="20000"/>
              <a:lumOff val="80000"/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812829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497808"/>
            <a:ext cx="5713841" cy="4868609"/>
          </a:xfrm>
        </p:spPr>
        <p:txBody>
          <a:bodyPr anchor="ctr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D95F6834-5987-445D-80C1-222E1FC2D277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543055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22" y="548355"/>
            <a:ext cx="6054846" cy="634336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36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0833" y="1611313"/>
            <a:ext cx="6072099" cy="3755104"/>
          </a:xfrm>
        </p:spPr>
        <p:txBody>
          <a:bodyPr anchor="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05D4D86-BCF3-49B6-95C6-F23DD933B6B9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4296" cy="58642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10465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9">
            <a:extLst>
              <a:ext uri="{FF2B5EF4-FFF2-40B4-BE49-F238E27FC236}">
                <a16:creationId xmlns:a16="http://schemas.microsoft.com/office/drawing/2014/main" id="{4F173117-1383-4956-B947-1EA7A51D0D4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3541486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68577" y="880375"/>
            <a:ext cx="6054846" cy="634336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sz="3600" b="1" i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7A86F2A-3DA7-4B63-9709-3605A14B6A55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446475-024F-4C71-99D3-501468ACAD11}"/>
              </a:ext>
            </a:extLst>
          </p:cNvPr>
          <p:cNvSpPr/>
          <p:nvPr userDrawn="1"/>
        </p:nvSpPr>
        <p:spPr>
          <a:xfrm>
            <a:off x="5577840" y="0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676028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73373" y="943430"/>
            <a:ext cx="4699452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A3FE53B-DAB0-4423-9FCB-C9083E9C2645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F73BF96-A07C-4AAA-A37F-65151BD22A70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27715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arallélogramme 14">
            <a:extLst>
              <a:ext uri="{FF2B5EF4-FFF2-40B4-BE49-F238E27FC236}">
                <a16:creationId xmlns:a16="http://schemas.microsoft.com/office/drawing/2014/main" id="{BA60C70F-7EE5-4927-B922-88B1C47FADB9}"/>
              </a:ext>
            </a:extLst>
          </p:cNvPr>
          <p:cNvSpPr/>
          <p:nvPr userDrawn="1"/>
        </p:nvSpPr>
        <p:spPr>
          <a:xfrm>
            <a:off x="74485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8F6D61-9E88-4632-A0A8-CB2E0CC5DEAF}"/>
              </a:ext>
            </a:extLst>
          </p:cNvPr>
          <p:cNvSpPr/>
          <p:nvPr userDrawn="1"/>
        </p:nvSpPr>
        <p:spPr>
          <a:xfrm>
            <a:off x="4654312" y="507333"/>
            <a:ext cx="7537688" cy="48495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 userDrawn="1"/>
        </p:nvSpPr>
        <p:spPr>
          <a:xfrm>
            <a:off x="16" y="0"/>
            <a:ext cx="4654296" cy="58642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2200" y="1885125"/>
            <a:ext cx="3068833" cy="2093975"/>
          </a:xfr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4400" b="1" i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8529" y="943430"/>
            <a:ext cx="4654296" cy="3977366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Date Placeholder 1">
            <a:extLst>
              <a:ext uri="{FF2B5EF4-FFF2-40B4-BE49-F238E27FC236}">
                <a16:creationId xmlns:a16="http://schemas.microsoft.com/office/drawing/2014/main" id="{F417C55D-4AE8-427B-A32E-9F54E007E6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34126" y="6446838"/>
            <a:ext cx="258485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4CCD7F3-096C-4E5B-A197-7308942D4001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C05871B-E916-40A4-B5E3-65C15F5A4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4846321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B45E789F-2E61-4EC0-8973-681625FE5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5670" y="6446838"/>
            <a:ext cx="78001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127F28F-6C7B-471B-9839-EF88426C1976}"/>
              </a:ext>
            </a:extLst>
          </p:cNvPr>
          <p:cNvSpPr/>
          <p:nvPr userDrawn="1"/>
        </p:nvSpPr>
        <p:spPr>
          <a:xfrm>
            <a:off x="4370251" y="2322780"/>
            <a:ext cx="1348378" cy="121866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986162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/>
          </a:solidFill>
        </p:spPr>
        <p:txBody>
          <a:bodyPr lIns="457200" tIns="457200"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 algn="ctr">
              <a:defRPr sz="4400" b="1">
                <a:solidFill>
                  <a:srgbClr val="FFFFFF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93B9231-83C0-4D2F-9AB1-C6ADB0CA623F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A4DE4A-F8EF-47D5-8C37-A9021C2BB6A3}"/>
              </a:ext>
            </a:extLst>
          </p:cNvPr>
          <p:cNvSpPr/>
          <p:nvPr userDrawn="1"/>
        </p:nvSpPr>
        <p:spPr>
          <a:xfrm>
            <a:off x="3536950" y="4535901"/>
            <a:ext cx="5118100" cy="1256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986956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D3A87B-D27B-4669-B2FF-81DA53395577}" type="datetime2">
              <a:rPr lang="en-US" smtClean="0"/>
              <a:t>Tuesday, July 7, 2020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Handwritten and printed Bengali script character segmentation using morphological analysis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604090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346200"/>
            <a:ext cx="2448033" cy="4530725"/>
          </a:xfrm>
        </p:spPr>
        <p:txBody>
          <a:bodyPr vert="eaVert"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92200" y="1346200"/>
            <a:ext cx="7480300" cy="4530723"/>
          </a:xfrm>
        </p:spPr>
        <p:txBody>
          <a:bodyPr vert="eaVert" lIns="45720" tIns="0" rIns="45720" bIns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6E2B4-71DF-401A-A5AD-E3E9B678914B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B443CC6-CDCA-4595-ADAE-DCB961FF1A8E}"/>
              </a:ext>
            </a:extLst>
          </p:cNvPr>
          <p:cNvSpPr/>
          <p:nvPr userDrawn="1"/>
        </p:nvSpPr>
        <p:spPr>
          <a:xfrm rot="16200000">
            <a:off x="8871481" y="-146580"/>
            <a:ext cx="1036320" cy="132948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40687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élogramme 14">
            <a:extLst>
              <a:ext uri="{FF2B5EF4-FFF2-40B4-BE49-F238E27FC236}">
                <a16:creationId xmlns:a16="http://schemas.microsoft.com/office/drawing/2014/main" id="{D20796F3-5674-4AF5-9623-575731F82E52}"/>
              </a:ext>
            </a:extLst>
          </p:cNvPr>
          <p:cNvSpPr/>
          <p:nvPr userDrawn="1"/>
        </p:nvSpPr>
        <p:spPr>
          <a:xfrm>
            <a:off x="4667250" y="0"/>
            <a:ext cx="2857500" cy="6858000"/>
          </a:xfrm>
          <a:prstGeom prst="parallelogram">
            <a:avLst>
              <a:gd name="adj" fmla="val 0"/>
            </a:avLst>
          </a:prstGeom>
          <a:solidFill>
            <a:schemeClr val="bg1">
              <a:lumMod val="9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6548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41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763756A-7B39-4EF2-9803-2EACB5D7FB84}" type="datetime2">
              <a:rPr lang="en-US" noProof="0" smtClean="0"/>
              <a:t>Tuesday, July 7, 2020</a:t>
            </a:fld>
            <a:endParaRPr lang="en-US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48463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/>
              <a:t>Handwritten and printed Bengali script character segmentation using morphological analysis</a:t>
            </a:r>
            <a:endParaRPr lang="en-US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75670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25E55C-1C16-46C6-B789-A4B2BCEF8F86}"/>
              </a:ext>
            </a:extLst>
          </p:cNvPr>
          <p:cNvSpPr/>
          <p:nvPr userDrawn="1"/>
        </p:nvSpPr>
        <p:spPr>
          <a:xfrm>
            <a:off x="0" y="1011981"/>
            <a:ext cx="1036320" cy="685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0285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18" r:id="rId2"/>
    <p:sldLayoutId id="2147483707" r:id="rId3"/>
    <p:sldLayoutId id="2147483708" r:id="rId4"/>
    <p:sldLayoutId id="2147483719" r:id="rId5"/>
    <p:sldLayoutId id="2147483709" r:id="rId6"/>
    <p:sldLayoutId id="2147483716" r:id="rId7"/>
    <p:sldLayoutId id="2147483710" r:id="rId8"/>
    <p:sldLayoutId id="2147483711" r:id="rId9"/>
    <p:sldLayoutId id="2147483712" r:id="rId10"/>
    <p:sldLayoutId id="2147483727" r:id="rId11"/>
    <p:sldLayoutId id="2147483720" r:id="rId12"/>
    <p:sldLayoutId id="2147483721" r:id="rId13"/>
    <p:sldLayoutId id="2147483725" r:id="rId14"/>
    <p:sldLayoutId id="2147483726" r:id="rId15"/>
    <p:sldLayoutId id="2147483722" r:id="rId16"/>
    <p:sldLayoutId id="2147483723" r:id="rId17"/>
    <p:sldLayoutId id="2147483715" r:id="rId18"/>
    <p:sldLayoutId id="2147483713" r:id="rId19"/>
    <p:sldLayoutId id="214748371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spc="-50" baseline="0">
          <a:solidFill>
            <a:schemeClr val="tx1">
              <a:lumMod val="75000"/>
              <a:lumOff val="25000"/>
            </a:schemeClr>
          </a:solidFill>
          <a:latin typeface="+mn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Wingdings" panose="05000000000000000000" pitchFamily="2" charset="2"/>
        <a:buChar char="§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" panose="05000000000000000000" pitchFamily="2" charset="2"/>
        <a:buChar char="§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7" userDrawn="1">
          <p15:clr>
            <a:srgbClr val="F26B43"/>
          </p15:clr>
        </p15:guide>
        <p15:guide id="2" pos="688" userDrawn="1">
          <p15:clr>
            <a:srgbClr val="F26B43"/>
          </p15:clr>
        </p15:guide>
        <p15:guide id="3" pos="7038" userDrawn="1">
          <p15:clr>
            <a:srgbClr val="F26B43"/>
          </p15:clr>
        </p15:guide>
        <p15:guide id="4" orient="horz" pos="3702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4.emf"/><Relationship Id="rId5" Type="http://schemas.openxmlformats.org/officeDocument/2006/relationships/image" Target="../media/image13.emf"/><Relationship Id="rId4" Type="http://schemas.openxmlformats.org/officeDocument/2006/relationships/image" Target="../media/image1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e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9A5382A-F722-415D-A992-A520DE0CE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016" y="0"/>
            <a:ext cx="1212172" cy="1314741"/>
          </a:xfrm>
          <a:prstGeom prst="rect">
            <a:avLst/>
          </a:prstGeom>
        </p:spPr>
      </p:pic>
      <p:sp>
        <p:nvSpPr>
          <p:cNvPr id="12" name="Title 10">
            <a:extLst>
              <a:ext uri="{FF2B5EF4-FFF2-40B4-BE49-F238E27FC236}">
                <a16:creationId xmlns:a16="http://schemas.microsoft.com/office/drawing/2014/main" id="{6631C527-12C3-471E-82FB-8B2A3476A50A}"/>
              </a:ext>
            </a:extLst>
          </p:cNvPr>
          <p:cNvSpPr txBox="1">
            <a:spLocks/>
          </p:cNvSpPr>
          <p:nvPr/>
        </p:nvSpPr>
        <p:spPr bwMode="white">
          <a:xfrm>
            <a:off x="496" y="1314741"/>
            <a:ext cx="6301212" cy="1466661"/>
          </a:xfrm>
          <a:prstGeom prst="rect">
            <a:avLst/>
          </a:prstGeom>
          <a:ln>
            <a:solidFill>
              <a:schemeClr val="accent2"/>
            </a:solidFill>
          </a:ln>
          <a:effectLst/>
        </p:spPr>
        <p:txBody>
          <a:bodyPr vert="horz" lIns="91440" tIns="45720" rIns="91440" bIns="45720" rtlCol="0" anchor="ctr" anchorCtr="0">
            <a:normAutofit fontScale="85000" lnSpcReduction="2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Bangladesh Army International University Of Science And Technology</a:t>
            </a:r>
          </a:p>
        </p:txBody>
      </p:sp>
      <p:sp>
        <p:nvSpPr>
          <p:cNvPr id="15" name="Title 10">
            <a:extLst>
              <a:ext uri="{FF2B5EF4-FFF2-40B4-BE49-F238E27FC236}">
                <a16:creationId xmlns:a16="http://schemas.microsoft.com/office/drawing/2014/main" id="{33B2BB82-6DE1-4F52-AA64-98886611BDCE}"/>
              </a:ext>
            </a:extLst>
          </p:cNvPr>
          <p:cNvSpPr txBox="1">
            <a:spLocks/>
          </p:cNvSpPr>
          <p:nvPr/>
        </p:nvSpPr>
        <p:spPr bwMode="white">
          <a:xfrm>
            <a:off x="6527549" y="1314740"/>
            <a:ext cx="5663955" cy="1466662"/>
          </a:xfrm>
          <a:prstGeom prst="rect">
            <a:avLst/>
          </a:prstGeom>
          <a:ln>
            <a:solidFill>
              <a:schemeClr val="accent2"/>
            </a:solidFill>
          </a:ln>
          <a:effectLst/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u="sng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  <a:p>
            <a:pPr algn="ctr"/>
            <a:r>
              <a:rPr lang="en-US" sz="24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6" name="Title 13">
            <a:extLst>
              <a:ext uri="{FF2B5EF4-FFF2-40B4-BE49-F238E27FC236}">
                <a16:creationId xmlns:a16="http://schemas.microsoft.com/office/drawing/2014/main" id="{82C3C1EC-6D93-4C1C-AC1E-62F511EEC9C4}"/>
              </a:ext>
            </a:extLst>
          </p:cNvPr>
          <p:cNvSpPr txBox="1">
            <a:spLocks/>
          </p:cNvSpPr>
          <p:nvPr/>
        </p:nvSpPr>
        <p:spPr bwMode="white">
          <a:xfrm>
            <a:off x="1657878" y="4244326"/>
            <a:ext cx="2986447" cy="2597865"/>
          </a:xfrm>
          <a:prstGeom prst="rect">
            <a:avLst/>
          </a:prstGeom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8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Arifa</a:t>
            </a:r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Islam </a:t>
            </a:r>
            <a:r>
              <a:rPr lang="en-US" sz="2400" cap="none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Champa</a:t>
            </a: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</a:t>
            </a: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</a:t>
            </a:r>
            <a:br>
              <a:rPr lang="en-US" cap="none" dirty="0">
                <a:solidFill>
                  <a:prstClr val="black"/>
                </a:solidFill>
                <a:latin typeface="Century Gothic" panose="020B0502020202020204"/>
              </a:rPr>
            </a:br>
            <a:endParaRPr lang="en-US" cap="none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17" name="Title 13">
            <a:extLst>
              <a:ext uri="{FF2B5EF4-FFF2-40B4-BE49-F238E27FC236}">
                <a16:creationId xmlns:a16="http://schemas.microsoft.com/office/drawing/2014/main" id="{7FD72A84-7680-4DB6-9D5B-B45EA3D319C5}"/>
              </a:ext>
            </a:extLst>
          </p:cNvPr>
          <p:cNvSpPr txBox="1">
            <a:spLocks/>
          </p:cNvSpPr>
          <p:nvPr/>
        </p:nvSpPr>
        <p:spPr bwMode="white">
          <a:xfrm>
            <a:off x="6527549" y="4076598"/>
            <a:ext cx="5663955" cy="2478859"/>
          </a:xfrm>
          <a:prstGeom prst="rect">
            <a:avLst/>
          </a:prstGeom>
          <a:effectLst/>
        </p:spPr>
        <p:txBody>
          <a:bodyPr vert="horz" lIns="91440" tIns="45720" rIns="91440" bIns="45720" numCol="2" rtlCol="0" anchor="ctr" anchorCtr="0">
            <a:noAutofit/>
          </a:bodyPr>
          <a:lstStyle>
            <a:lvl1pPr algn="r" defTabSz="457200" rtl="0" eaLnBrk="1" latinLnBrk="0" hangingPunct="1">
              <a:spcBef>
                <a:spcPct val="0"/>
              </a:spcBef>
              <a:buNone/>
              <a:defRPr sz="3000" b="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Pritilata Biswas</a:t>
            </a:r>
          </a:p>
          <a:p>
            <a:pPr algn="ctr"/>
            <a:r>
              <a:rPr lang="en-US" sz="2400" cap="none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Sumaia</a:t>
            </a:r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Afrin Prity</a:t>
            </a:r>
          </a:p>
          <a:p>
            <a:pPr algn="ctr"/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Parvez Abedin Siddique</a:t>
            </a:r>
            <a:b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cap="none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1103017</a:t>
            </a:r>
          </a:p>
          <a:p>
            <a:pPr algn="ctr"/>
            <a:r>
              <a:rPr lang="en-US" sz="2400" cap="none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ID: 1103057</a:t>
            </a:r>
            <a:endParaRPr lang="en-US" sz="2400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ID: 1103094 </a:t>
            </a: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</a:rPr>
              <a:t>	</a:t>
            </a:r>
          </a:p>
          <a:p>
            <a:pPr algn="ctr"/>
            <a:endParaRPr lang="en-US" cap="none" dirty="0">
              <a:solidFill>
                <a:prstClr val="black"/>
              </a:solidFill>
              <a:latin typeface="Century Gothic" panose="020B0502020202020204"/>
            </a:endParaRP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74E64A99-DA87-4576-B80B-121C703408AC}"/>
              </a:ext>
            </a:extLst>
          </p:cNvPr>
          <p:cNvSpPr txBox="1">
            <a:spLocks/>
          </p:cNvSpPr>
          <p:nvPr/>
        </p:nvSpPr>
        <p:spPr bwMode="white">
          <a:xfrm>
            <a:off x="6527548" y="19545"/>
            <a:ext cx="5663955" cy="1295196"/>
          </a:xfrm>
          <a:prstGeom prst="rect">
            <a:avLst/>
          </a:prstGeom>
          <a:ln>
            <a:solidFill>
              <a:schemeClr val="accent2"/>
            </a:solidFill>
          </a:ln>
          <a:effectLst/>
        </p:spPr>
        <p:txBody>
          <a:bodyPr vert="horz" lIns="91440" tIns="45720" rIns="91440" bIns="45720" rtlCol="0" anchor="ctr" anchorCtr="0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0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sz="4000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Thesis Presentation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E06FDE-9733-4C6F-8AEE-0E7D87D1FE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809D-54EB-46CE-96B3-E6750ED98BC5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CDEB54-228F-4744-96AD-A58637080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54538F-A179-42B9-991B-9D9B1BF0B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2296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5C437-AD27-4F68-B6B7-642AE8EF2161}"/>
              </a:ext>
            </a:extLst>
          </p:cNvPr>
          <p:cNvSpPr txBox="1"/>
          <p:nvPr/>
        </p:nvSpPr>
        <p:spPr>
          <a:xfrm>
            <a:off x="4906979" y="787651"/>
            <a:ext cx="6817260" cy="511531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&amp; Word Segmentation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</a:t>
            </a: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Tessarect OCR Engine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Tessarect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 startAt="1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A1F7BE-F12A-45AE-B216-B948749D2F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AF44D2-ECF8-4B1B-8773-EB240A7483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A9EC6-9929-4A15-8F79-84FC27C7A84C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D8CA67-0AAA-4DE0-BA41-2FEBAF9AD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6FF83-7235-47B0-BA78-F1FE80DAF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7318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690374C-1A59-4A71-8148-5C0E026A3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1315" y="1885125"/>
            <a:ext cx="3599719" cy="20939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1A8359F-00D6-408F-ACF5-D8A1A931C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858" y="943430"/>
            <a:ext cx="5875699" cy="3977366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1950, Optical Character Recognition is a major research area.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field of OCR, segmentation is one of the most challenging tasks of Bengali character recognition.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a large number of characters in Bengali. So we need a robust technique for our research.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F12D0B-F78A-4AEA-8280-6C4EFD2725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D8DFC2-9793-4EB6-8E30-2E619EE0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6B7096-C5D7-4618-858A-E7E5B670BB78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5776B8-3084-4628-9C53-74E919A5F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1AB559-2D51-42F5-B4E2-2E6FB23FD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0388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20BE9-6EB4-44F0-8F7F-C57981E50973}"/>
              </a:ext>
            </a:extLst>
          </p:cNvPr>
          <p:cNvSpPr txBox="1"/>
          <p:nvPr/>
        </p:nvSpPr>
        <p:spPr>
          <a:xfrm>
            <a:off x="4943193" y="2081699"/>
            <a:ext cx="6980222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Printed text OCR have a huge success but handwritten still need to improved</a:t>
            </a:r>
          </a:p>
          <a:p>
            <a:pPr marL="342900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problem – removing connectedness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741A29-8E3D-417F-A904-D20AC17C5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769F9-01A6-4771-9A33-E4ADF0270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D7D9E-9F9C-49C6-A42D-16EEBEB0A008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B1A843-C979-4423-9E9C-FB55C3068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3FB02-C996-4C16-852D-C7DC062AC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8642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02859" y="943430"/>
            <a:ext cx="6038662" cy="397736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Bengali script, there is no good OCR solution until now.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store a million pages of paper documents into electronic form, OCR is the key tool.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an OCR the foremost step in the recognition process is the script segmentation of the document image which is the most challenging task.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94BEC8-B77A-403C-91E3-2BD4B85E0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85FB1-1C85-41E3-AD28-56522CA176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46C60-EF15-436F-A51F-4CEC2F471F29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013EE-A350-4FE1-8AE6-9ADAA0D98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130048-BC27-4EA0-9750-8F26918C3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60CDC7-8DBD-4205-838D-ADCA6DB7584B}"/>
              </a:ext>
            </a:extLst>
          </p:cNvPr>
          <p:cNvSpPr txBox="1"/>
          <p:nvPr/>
        </p:nvSpPr>
        <p:spPr>
          <a:xfrm>
            <a:off x="4668754" y="1885125"/>
            <a:ext cx="6853289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effective strategy for segmenting Bengali scripts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the segmentation error and time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structuring element properly</a:t>
            </a:r>
          </a:p>
          <a:p>
            <a:pPr marL="800100" lvl="1" indent="-342900">
              <a:lnSpc>
                <a:spcPct val="150000"/>
              </a:lnSpc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Determine the matra line by the morphological opening operation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D6E838-AE77-4EA2-9155-5B75B8762E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A909413-5FE1-4276-9571-301A5A54A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AB2FC2-4CE9-4F02-BCB4-2BDE48E178BF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83339D-4754-4CCF-BABC-048E49857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FEB922-14DB-4109-8A8B-B82D8D285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95877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  <a:r>
              <a:rPr lang="en-US" dirty="0"/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Bengali handwritten text into characters by recursive contour following by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Bishnu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Choudhury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Their algorithm gives fairly good results if the sequent characters are not touching in the zone of contour following [1].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Segmenting Bangla Text for Optical Recognition by Sattar. Their proposal is a condition-based methodology for overlapped character segmentation. They examine the width of a single character, on the off chance that it is sufficiently large, at that point check for the overlapped character ‘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ekar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 They didn't discuss other sorts of overlapping problems [2].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DFF363-B304-47B2-98CD-690A566BF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90B93-2162-47EC-9A2E-203EB537A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D39E6-45BA-477B-A8BB-ECC8D72D4F34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4D47-AA3C-47CB-843C-E961400C0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015D2-AE02-4C7E-B382-CBA7B78B1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458651" y="187875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5310400" y="2501845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640744" y="2557484"/>
            <a:ext cx="2597630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pic>
        <p:nvPicPr>
          <p:cNvPr id="22" name="Graphic 21" descr="Arrow Slight curve">
            <a:extLst>
              <a:ext uri="{FF2B5EF4-FFF2-40B4-BE49-F238E27FC236}">
                <a16:creationId xmlns:a16="http://schemas.microsoft.com/office/drawing/2014/main" id="{9A22ED98-A80C-41EC-9BC7-66FAA1955C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782583">
            <a:off x="3418439" y="1697990"/>
            <a:ext cx="2471415" cy="9144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5742131" y="574462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Bengali Script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678195" y="3222512"/>
            <a:ext cx="25012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5452219" y="2933471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Segmentation  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8A9900E-BA68-4DA6-84A9-A0E2AA641A6C}"/>
              </a:ext>
            </a:extLst>
          </p:cNvPr>
          <p:cNvSpPr/>
          <p:nvPr/>
        </p:nvSpPr>
        <p:spPr>
          <a:xfrm>
            <a:off x="9047430" y="2471060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5310399" y="4798668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9225032" y="2956966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 Segmentation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E5CB935-E5A7-4E68-B7C4-EA12E609E0B6}"/>
              </a:ext>
            </a:extLst>
          </p:cNvPr>
          <p:cNvSpPr txBox="1"/>
          <p:nvPr/>
        </p:nvSpPr>
        <p:spPr>
          <a:xfrm>
            <a:off x="5458651" y="5292441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12398" y="351489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5404" y="3512819"/>
            <a:ext cx="1379628" cy="914400"/>
          </a:xfrm>
          <a:prstGeom prst="rect">
            <a:avLst/>
          </a:prstGeom>
        </p:spPr>
      </p:pic>
      <p:pic>
        <p:nvPicPr>
          <p:cNvPr id="35" name="Graphic 34" descr="Arrow Slight curve">
            <a:extLst>
              <a:ext uri="{FF2B5EF4-FFF2-40B4-BE49-F238E27FC236}">
                <a16:creationId xmlns:a16="http://schemas.microsoft.com/office/drawing/2014/main" id="{C8B06512-5ADE-4437-B25B-D42161C22E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8782583">
            <a:off x="7693918" y="4581836"/>
            <a:ext cx="2566557" cy="9144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470AAA-63C2-4D8A-B65A-75C68148C6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9800" y="16313"/>
            <a:ext cx="1092200" cy="118461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769631F4-BC89-47FA-AAAA-B005E288E963}"/>
              </a:ext>
            </a:extLst>
          </p:cNvPr>
          <p:cNvSpPr txBox="1"/>
          <p:nvPr/>
        </p:nvSpPr>
        <p:spPr>
          <a:xfrm>
            <a:off x="652778" y="5627057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1: System Methodology 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DCACC5-C353-4061-99A7-60C59E19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1D369-CCC5-49A5-B8BE-6DF4BED1114D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11FAF9-6353-477E-90D4-B74C0FCFC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5432" y="6388834"/>
            <a:ext cx="4846321" cy="365125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FE11EE-30EC-4947-BB31-F7B1814A9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6331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55DFD7E-1293-4491-9929-0DBCDBB4E59D}"/>
              </a:ext>
            </a:extLst>
          </p:cNvPr>
          <p:cNvSpPr/>
          <p:nvPr/>
        </p:nvSpPr>
        <p:spPr>
          <a:xfrm>
            <a:off x="5708365" y="602713"/>
            <a:ext cx="3187408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25EDFE-5926-489F-91E5-072C32F194B1}"/>
              </a:ext>
            </a:extLst>
          </p:cNvPr>
          <p:cNvSpPr/>
          <p:nvPr/>
        </p:nvSpPr>
        <p:spPr>
          <a:xfrm>
            <a:off x="1858285" y="3177184"/>
            <a:ext cx="2688225" cy="202611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EEADF3-212E-428A-BB6A-C415BA258C1D}"/>
              </a:ext>
            </a:extLst>
          </p:cNvPr>
          <p:cNvSpPr txBox="1"/>
          <p:nvPr/>
        </p:nvSpPr>
        <p:spPr>
          <a:xfrm>
            <a:off x="6126480" y="1116097"/>
            <a:ext cx="241321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Bilateral Filtering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4263ADA-4611-4D36-89C7-38F9875F7532}"/>
              </a:ext>
            </a:extLst>
          </p:cNvPr>
          <p:cNvSpPr txBox="1"/>
          <p:nvPr/>
        </p:nvSpPr>
        <p:spPr>
          <a:xfrm>
            <a:off x="1974393" y="3730712"/>
            <a:ext cx="24560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Gray Scale Filtering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81CDD94-80B7-4E39-9191-D724AEA41C34}"/>
              </a:ext>
            </a:extLst>
          </p:cNvPr>
          <p:cNvSpPr/>
          <p:nvPr/>
        </p:nvSpPr>
        <p:spPr>
          <a:xfrm>
            <a:off x="8644474" y="3429000"/>
            <a:ext cx="3378482" cy="3083304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B563153-41E6-4634-AAFC-3CE5AD3EC19A}"/>
              </a:ext>
            </a:extLst>
          </p:cNvPr>
          <p:cNvSpPr txBox="1"/>
          <p:nvPr/>
        </p:nvSpPr>
        <p:spPr>
          <a:xfrm>
            <a:off x="8930427" y="4019728"/>
            <a:ext cx="2806575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Binarization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</a:p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Skew Angle Correction</a:t>
            </a:r>
          </a:p>
        </p:txBody>
      </p:sp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346721">
            <a:off x="8219758" y="2432566"/>
            <a:ext cx="1926444" cy="914400"/>
          </a:xfrm>
          <a:prstGeom prst="rect">
            <a:avLst/>
          </a:prstGeom>
        </p:spPr>
      </p:pic>
      <p:pic>
        <p:nvPicPr>
          <p:cNvPr id="18" name="Graphic 17" descr="Arrow Slight curve">
            <a:extLst>
              <a:ext uri="{FF2B5EF4-FFF2-40B4-BE49-F238E27FC236}">
                <a16:creationId xmlns:a16="http://schemas.microsoft.com/office/drawing/2014/main" id="{1F64C353-9383-4AB8-9DCE-80982E8B37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8911338">
            <a:off x="3829595" y="2373327"/>
            <a:ext cx="2416295" cy="914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38E486E-634B-4FA5-9400-B9887BEC90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10404"/>
            <a:ext cx="1092200" cy="118461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D79257A-0A9E-4C14-9342-7D63B1CB8234}"/>
              </a:ext>
            </a:extLst>
          </p:cNvPr>
          <p:cNvSpPr txBox="1"/>
          <p:nvPr/>
        </p:nvSpPr>
        <p:spPr>
          <a:xfrm>
            <a:off x="1320953" y="6006485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2: Preprocessing processes.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B03297-3B80-4A53-8172-452ECEA2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D3C6FB-6B19-48DA-87DB-62149B546DB0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CF8325-3673-43CF-870D-770F4AE47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B7ABF1-E81A-4B98-8CC7-075BF89E5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91613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&amp; Word Segmentation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1729864" y="1677888"/>
            <a:ext cx="2412943" cy="216829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1986753" y="2099272"/>
            <a:ext cx="189916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Horizontal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9A1DCE8-7027-4634-A3DF-8B4693402E9D}"/>
              </a:ext>
            </a:extLst>
          </p:cNvPr>
          <p:cNvSpPr/>
          <p:nvPr/>
        </p:nvSpPr>
        <p:spPr>
          <a:xfrm>
            <a:off x="8381804" y="1601867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767DF6-4130-4C97-AC93-A70BEA4C5A0A}"/>
              </a:ext>
            </a:extLst>
          </p:cNvPr>
          <p:cNvSpPr txBox="1"/>
          <p:nvPr/>
        </p:nvSpPr>
        <p:spPr>
          <a:xfrm>
            <a:off x="8681615" y="2044005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F2BB01-F790-43E3-87A1-65C1EC2B9F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495" y="3896879"/>
            <a:ext cx="4148340" cy="16483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7497771-970E-4932-80CB-570D63845E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782" y="3896879"/>
            <a:ext cx="3366723" cy="145075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52A25E1-30BF-4C43-92C6-966E2C99AE6A}"/>
              </a:ext>
            </a:extLst>
          </p:cNvPr>
          <p:cNvSpPr txBox="1"/>
          <p:nvPr/>
        </p:nvSpPr>
        <p:spPr>
          <a:xfrm>
            <a:off x="417425" y="5740400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3: Line Segmentation using HPP [3].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7366EB-AD90-486A-A771-D8C292A93865}"/>
              </a:ext>
            </a:extLst>
          </p:cNvPr>
          <p:cNvSpPr txBox="1"/>
          <p:nvPr/>
        </p:nvSpPr>
        <p:spPr>
          <a:xfrm>
            <a:off x="7216749" y="5740400"/>
            <a:ext cx="47430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4: Word Segmentation using VPP [3].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414964-6FD8-47DE-BAAA-F0AA06FF54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-20042"/>
            <a:ext cx="1092200" cy="118461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04965-D056-4492-920C-A1CD6C19B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3693B-535B-4975-B0FD-797EBC6F8E55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E1C1C-5D6B-4EB8-ADF9-834FD8071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69E78-235E-48F4-AC92-403E65AFC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0263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C91B9B4-ACB1-4193-8DAB-75541D083352}"/>
              </a:ext>
            </a:extLst>
          </p:cNvPr>
          <p:cNvSpPr/>
          <p:nvPr/>
        </p:nvSpPr>
        <p:spPr>
          <a:xfrm>
            <a:off x="393876" y="2049270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D2EADE-B09C-4A09-A47A-F7B043AB5838}"/>
              </a:ext>
            </a:extLst>
          </p:cNvPr>
          <p:cNvSpPr txBox="1"/>
          <p:nvPr/>
        </p:nvSpPr>
        <p:spPr>
          <a:xfrm>
            <a:off x="559074" y="2562130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Opening Operation </a:t>
            </a:r>
          </a:p>
        </p:txBody>
      </p:sp>
      <p:pic>
        <p:nvPicPr>
          <p:cNvPr id="32" name="Graphic 31" descr="Arrow Slight curve">
            <a:extLst>
              <a:ext uri="{FF2B5EF4-FFF2-40B4-BE49-F238E27FC236}">
                <a16:creationId xmlns:a16="http://schemas.microsoft.com/office/drawing/2014/main" id="{04FBD34F-A0E0-4E4C-9F76-E8CE49E0D4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769777">
            <a:off x="2870528" y="3800789"/>
            <a:ext cx="1379628" cy="914400"/>
          </a:xfrm>
          <a:prstGeom prst="rect">
            <a:avLst/>
          </a:prstGeom>
        </p:spPr>
      </p:pic>
      <p:pic>
        <p:nvPicPr>
          <p:cNvPr id="34" name="Graphic 33" descr="Arrow Slight curve">
            <a:extLst>
              <a:ext uri="{FF2B5EF4-FFF2-40B4-BE49-F238E27FC236}">
                <a16:creationId xmlns:a16="http://schemas.microsoft.com/office/drawing/2014/main" id="{9BAA63D8-5C76-4415-AF81-7B8DD82763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50980">
            <a:off x="6357866" y="3674590"/>
            <a:ext cx="1379628" cy="914400"/>
          </a:xfrm>
          <a:prstGeom prst="rect">
            <a:avLst/>
          </a:pr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08FEE480-22EF-4810-94C0-458D3D6BD5F6}"/>
              </a:ext>
            </a:extLst>
          </p:cNvPr>
          <p:cNvSpPr/>
          <p:nvPr/>
        </p:nvSpPr>
        <p:spPr>
          <a:xfrm>
            <a:off x="4137994" y="3785558"/>
            <a:ext cx="2412943" cy="2168290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81CBEA-E3A6-42E5-80B2-83E2C0420AD0}"/>
              </a:ext>
            </a:extLst>
          </p:cNvPr>
          <p:cNvSpPr txBox="1"/>
          <p:nvPr/>
        </p:nvSpPr>
        <p:spPr>
          <a:xfrm>
            <a:off x="4378837" y="4170278"/>
            <a:ext cx="1856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Vertical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Projection</a:t>
            </a:r>
          </a:p>
          <a:p>
            <a:pPr algn="ctr"/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314FB54C-CD98-40C4-93DF-523067C338D0}"/>
              </a:ext>
            </a:extLst>
          </p:cNvPr>
          <p:cNvSpPr/>
          <p:nvPr/>
        </p:nvSpPr>
        <p:spPr>
          <a:xfrm>
            <a:off x="7553658" y="2274976"/>
            <a:ext cx="2925622" cy="2274961"/>
          </a:xfrm>
          <a:prstGeom prst="ellipse">
            <a:avLst/>
          </a:prstGeom>
          <a:solidFill>
            <a:schemeClr val="accent2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5416AD7-A254-4ED6-8B71-89B919FEFEB3}"/>
              </a:ext>
            </a:extLst>
          </p:cNvPr>
          <p:cNvSpPr txBox="1"/>
          <p:nvPr/>
        </p:nvSpPr>
        <p:spPr>
          <a:xfrm>
            <a:off x="7711649" y="2763353"/>
            <a:ext cx="2609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Closing Operation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2AE7FA-0E30-423C-BD12-F39883E8F147}"/>
              </a:ext>
            </a:extLst>
          </p:cNvPr>
          <p:cNvSpPr txBox="1"/>
          <p:nvPr/>
        </p:nvSpPr>
        <p:spPr>
          <a:xfrm>
            <a:off x="3678423" y="6104507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5: Character segmentation process.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966309-C23C-44C2-88CA-65786099AE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988CAE-15CF-41EE-9DE3-B54129D9F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D1777-4500-409F-875C-1842C36DCAEE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8F1FCA-5843-4307-B3F0-5B185A8FD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9C40B-B169-4F75-BC88-DE16B0CA5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261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– Preprocessing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(Printed Script)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CFB1B2CE-5D15-45A3-AAD9-5920132EF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83597"/>
            <a:ext cx="2916103" cy="273704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1A1F8A-DF81-4FA8-8B4F-E2C1B716A9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6102" y="2383596"/>
            <a:ext cx="2778527" cy="2737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C7EF1B-E861-4B32-A726-395515647B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3452" y="2383596"/>
            <a:ext cx="2778528" cy="27370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9D878FE-1944-463B-8DD2-3000BF517A7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5898" y="2383596"/>
            <a:ext cx="2783887" cy="27370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678423" y="6073884"/>
            <a:ext cx="4896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6: Preprocessing for Bengali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713736" y="5486348"/>
            <a:ext cx="29161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778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&amp; Skew Angle Correction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32AB6B-F478-45CC-A209-6AF86AF69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F48D42-85B0-4CA3-A207-C65A841680B8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3AAA758-E1E0-4572-B97B-B909622C7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507B282-4B3C-4B9B-A135-2A4CDD89C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426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– Preprocessing</a:t>
            </a:r>
            <a:b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(Handwritten Script)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758554" y="6080508"/>
            <a:ext cx="62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7: Preprocessing for Bengali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302582" y="5486348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Input Image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21CE92-305D-4DE9-84FE-36087979B226}"/>
              </a:ext>
            </a:extLst>
          </p:cNvPr>
          <p:cNvSpPr/>
          <p:nvPr/>
        </p:nvSpPr>
        <p:spPr>
          <a:xfrm>
            <a:off x="2713736" y="5486348"/>
            <a:ext cx="291610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Applying Grayscale filter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E7D359-6BFF-4415-8FC2-5BFC6FCB61C9}"/>
              </a:ext>
            </a:extLst>
          </p:cNvPr>
          <p:cNvSpPr/>
          <p:nvPr/>
        </p:nvSpPr>
        <p:spPr>
          <a:xfrm>
            <a:off x="6096000" y="5489970"/>
            <a:ext cx="27785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Applying Bilateral filter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9112321" y="5486348"/>
            <a:ext cx="307968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Image Binarization &amp; Skew Angle Correction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2F27F8-9EA7-4091-A167-60952E1973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" y="2793508"/>
            <a:ext cx="2612202" cy="20789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C672EB-7F5F-4A65-8542-501B8B50BF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7692" y="2793508"/>
            <a:ext cx="3012147" cy="20789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370FF62-880B-41D6-B57C-CF1541164B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7634" y="2793508"/>
            <a:ext cx="3006894" cy="208197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40AA920-BEA8-4460-BA20-916844D26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74308" y="2790160"/>
            <a:ext cx="2448694" cy="207863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F87D7C-49B4-4C7E-A464-94C5F08C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DE1CB-2C19-4CC2-8782-27D16269A9E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F56A0-E35B-4164-90E5-1AA523252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FB5AF-EA44-41B3-95EA-5A2B0FE19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101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– Line Segmentation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443335" y="6114756"/>
            <a:ext cx="530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8: Line segmentation Bengali script using HPP.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2493520" y="5495349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409852" y="5495349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6E1489-2FF1-4147-9FCB-7C5D0D6CB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45" y="1936019"/>
            <a:ext cx="4312467" cy="29859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0A5AD3-A754-4B93-A091-B6E3BF6897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936018"/>
            <a:ext cx="5189173" cy="2985961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E1760E-2091-4485-AD89-F05117360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4097B-CFF0-4D04-A0E7-9D3A51A19B7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84C59A-43FF-4FEB-BB41-A4B5A6ECC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B774B59-BB89-4B79-98B5-82ABA1B258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875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– Word Segmentation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443335" y="6015816"/>
            <a:ext cx="5305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9: Word segmentation Bengali script using VPP.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D3CC3F-9056-4905-8000-91144EDF7C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25545"/>
            <a:ext cx="5764040" cy="29170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01A8E1-47C4-474D-B070-D250B6B6D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68" y="2023963"/>
            <a:ext cx="4934098" cy="2917061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569E15-19B1-4581-B3C9-11BFF8F02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8B5AD-1853-4118-8E6C-BAF28C1D63C7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7C55C-8C49-4E5B-9C85-FE4DA19D7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D599974-B1B4-4062-8552-363DEAB2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6375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Analysis – Character Segmentation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3286408" y="6015221"/>
            <a:ext cx="5462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10: Word segmentation Bengali script using VPP.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73348" y="5479211"/>
            <a:ext cx="231093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Handwritten Script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Printed Script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116A2B1-2F70-4296-A88B-4EB8464BA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72" y="1904038"/>
            <a:ext cx="4976827" cy="34084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30435B2-6F69-49E8-BCB7-F58142CC3F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2023963"/>
            <a:ext cx="5790134" cy="328857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DBD5D-1624-4637-96FD-D4C29716C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BBCF8-995C-4310-9E04-61272E970FBA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8204854-2732-41D7-A075-F8F6F64D5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77D1E3-59A8-4016-8F10-5471DC69F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9844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A5C30F-185D-413F-9005-B41DD0FA09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Tesseract OCR Engine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F9CDFE-0A7C-4E3A-8170-1B1132715A94}"/>
              </a:ext>
            </a:extLst>
          </p:cNvPr>
          <p:cNvSpPr txBox="1"/>
          <p:nvPr/>
        </p:nvSpPr>
        <p:spPr>
          <a:xfrm>
            <a:off x="4668754" y="1885125"/>
            <a:ext cx="6853289" cy="29344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OCR works in various environments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the HP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Supported in 100+ languages </a:t>
            </a:r>
          </a:p>
          <a:p>
            <a:pPr marL="800100" lvl="1" indent="-342900">
              <a:lnSpc>
                <a:spcPct val="200000"/>
              </a:lnSpc>
              <a:buClr>
                <a:schemeClr val="accent2"/>
              </a:buClr>
              <a:buFont typeface="Wingdings" panose="05000000000000000000" pitchFamily="2" charset="2"/>
              <a:buChar char="v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most complicated OCR tasks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4210B4-CA00-4E57-B2AB-F2721F6DF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B4FA97-DBB3-424D-A342-B0FFC5333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FE038B-EA8B-4F38-BA5C-614278DF1D93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EE85F91-7464-4F13-8314-83A5A0D8F1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67ECC2-3803-4988-9745-A49E8755A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17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10672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with Tessarect OCR Engine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2210856" y="6077506"/>
            <a:ext cx="7831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11: Comparing of character segmentation with Tessarect OCR engine.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BFC615-6EB7-4E56-BF6B-B7393ECBC340}"/>
              </a:ext>
            </a:extLst>
          </p:cNvPr>
          <p:cNvSpPr/>
          <p:nvPr/>
        </p:nvSpPr>
        <p:spPr>
          <a:xfrm>
            <a:off x="1796167" y="5479211"/>
            <a:ext cx="27443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 Output from our system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EFAE29-47FD-4571-A395-27A61F3F318C}"/>
              </a:ext>
            </a:extLst>
          </p:cNvPr>
          <p:cNvSpPr/>
          <p:nvPr/>
        </p:nvSpPr>
        <p:spPr>
          <a:xfrm>
            <a:off x="6605106" y="5479211"/>
            <a:ext cx="47458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 Output from the Tessarect OCR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D971766-BB25-44A1-88CA-BA62F03AB5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5639"/>
          <a:stretch/>
        </p:blipFill>
        <p:spPr>
          <a:xfrm>
            <a:off x="595919" y="1883484"/>
            <a:ext cx="5305330" cy="3458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84F3B7-BD0A-4CCB-AC0C-A53E760728E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6139"/>
          <a:stretch/>
        </p:blipFill>
        <p:spPr>
          <a:xfrm>
            <a:off x="6126480" y="1722805"/>
            <a:ext cx="5716139" cy="3619122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15D2E-EF42-413C-8376-D81E4E4B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0DDF3-69F5-4539-8231-8CD7962088C1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9B96C-50DF-4881-B3F2-049BD7959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21F4E9D-F614-4DCE-B9E7-25FDC813A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20553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867304" y="2057511"/>
            <a:ext cx="8272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1: Overall best accuracy and average accuracy of our system on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AFDE34D-06B0-4864-94E0-53956DCF28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521"/>
          <a:stretch/>
        </p:blipFill>
        <p:spPr>
          <a:xfrm>
            <a:off x="1073218" y="2842788"/>
            <a:ext cx="10408010" cy="26707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BE8302-4C4D-4C05-8AC1-D85DE9FBC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A2F0D1A-2450-44A0-87BA-F73A05772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6073E-4497-4542-884F-6850C38342DB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2EAB1B-FD5D-4A64-83EE-0E2A18F4D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42B2E9-A572-4F3E-BD94-485044084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9C3E1E-10F6-4A41-8709-9224C77C7EDB}"/>
              </a:ext>
            </a:extLst>
          </p:cNvPr>
          <p:cNvSpPr txBox="1"/>
          <p:nvPr/>
        </p:nvSpPr>
        <p:spPr>
          <a:xfrm>
            <a:off x="1984519" y="2087661"/>
            <a:ext cx="8283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2: Overall accuracy and average accuracy of our system of 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796475-A627-4661-B026-B4390F1AD5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819" y="2856800"/>
            <a:ext cx="10576361" cy="282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3814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6" name="Picture 5" descr="g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230" y="1798471"/>
            <a:ext cx="6058746" cy="35437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Series1 shows line segmentation, series2 shows word segmentation and series3 shows character segmentation of printed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Graph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6EDAF98-BA18-422B-B858-6A3E455DF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B049A7-94C4-4D6E-8E6A-CE10D9973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F70DC-817D-44CD-A54C-AF3C3050253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11881-C655-4425-AA38-2137AC7EF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49ACDF1-AAE1-44C5-9936-EC137AB4B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07515A3-A3CB-4A4E-BB31-F5CC993070DA}"/>
              </a:ext>
            </a:extLst>
          </p:cNvPr>
          <p:cNvSpPr txBox="1"/>
          <p:nvPr/>
        </p:nvSpPr>
        <p:spPr>
          <a:xfrm>
            <a:off x="634698" y="5709429"/>
            <a:ext cx="115522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Figure 12: Series1 shows line segmentation, series2 shows word segmentation and series3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segmentation of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script.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458085-83B0-4A23-B6AE-AAA05FCB58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6233" y="1750306"/>
            <a:ext cx="4394734" cy="386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630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Bengali character recognition has become a vital issue in the last few years.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a huge challenge.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mainly focused on the segmentation process.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used some basic operations.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tried to segment the Bengali script that solves the problem of making a good Optical Character Recognition system.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5E3DB-C3FB-40AA-902A-5791C2A12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D8E16B-7BFD-43A3-8A01-F20FA39B19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90A6E-B3DA-423D-99FF-81A019BD3FF3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F2D12-E13D-47D5-97EE-9F72E079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C08680-D19F-455B-A625-FEFA3FEF4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23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have a plan to use HMM (Hidden Markov model).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also have plans to use our system for other recognition based research.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9DE3B6-0279-40B4-B496-B8086E9DD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2F7DE6-C497-4A27-B814-C446F0E2C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36A9B-AAEF-4473-B088-3AFBF160982C}" type="datetime2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2E5F2C-7700-4212-B9A9-193660C621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06DDF-BB66-4EF4-AA98-5A5285E7B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noProof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24</a:t>
            </a:fld>
            <a:endParaRPr lang="en-US" noProof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some methodologies for segmenting Bengali characters.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the morphological image processing operations.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Finally, we got a good accuracy of our system and we are hoping to work with our system to get better accuracy.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562820-CE57-4C6D-8A0D-6F75C593D6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FDBA8-8965-42C3-8432-F5D4A00F8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276DC-CB4E-4496-BF2A-8A5E66193373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CD1262-8C79-46F9-8688-4CC3AFBA1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5691B5-BEFA-42FF-A7D1-C646C017D6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E09A200-4838-4284-BD1E-19701CABB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 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44B879-7A13-4367-8708-C64E57FE3A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720" y="0"/>
            <a:ext cx="1092200" cy="11846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32A9361-E5EC-41B2-9DB1-399EE671BBB3}"/>
              </a:ext>
            </a:extLst>
          </p:cNvPr>
          <p:cNvSpPr txBox="1"/>
          <p:nvPr/>
        </p:nvSpPr>
        <p:spPr>
          <a:xfrm>
            <a:off x="1097280" y="2023963"/>
            <a:ext cx="10482102" cy="4191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Bishnu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B.B. Chaudhuri (1999) “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of Bangla handwritten text into characters by recursive contour following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Proceedings of the Fifth International Conference on Document Analysis and Recognition. ICDAR '99: IEEE.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Md.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Abdus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Sattar, Khaled Mahmud, Humayun Arafat and A. F.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M.Noor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Uz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Zaman, “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Segmenting Bangla Text for Optical Recognition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”ICCIT, 2007. ISBN: 978-1-4244-1550-2, pp. 1-6.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T. Zahan, M.R. Selim, M.S. Rahman, M.Z. Iqbal, (2018). “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Connected Component Analysis Based Two Zone Approach for Bangla Character Segmentation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.” 1-4.10.1109/ICBSLP.2018.8554684.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2A94D9-582F-424F-9E18-FB7A483E1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ADA86-30F1-49D4-A0E4-FF628971F937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9FD3C7-226D-485C-834A-4EDB4490E6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D6A84F-4D3A-426F-B7D2-C7A996BF7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57347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365BF64-4B30-4125-9A30-A1B08C80E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96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305886-8ACA-4ED6-AA5B-215F6D741C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51" y="5225240"/>
            <a:ext cx="10058400" cy="1143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2400" cap="all" spc="20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7CFEE9C-9E9D-49F3-B6B8-78869818B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8891" y="338000"/>
            <a:ext cx="2429684" cy="2635273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D01ED8-AB5A-4EE2-BD60-7A0377CA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256CBC-5AEB-4B81-BA1A-CBC332C575A4}" type="datetime2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Tuesday, July 7, 2020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6D50DB1-1A0C-4AAC-B08D-EF95F888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Handwritten and printed Bengali script character segmentation using morphological analysis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54E126-A77E-44FA-8874-12E9943A7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797136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ssic Company All Hands_Win32_MS v3" id="{1F352A5D-0EBE-49A2-9FF7-DEF81AB6F3C6}" vid="{D35781EA-2188-4D84-8966-791644CE134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4E879E6-8FFE-4154-8F2A-F7518B89B376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A941CA7C-A0BF-44EF-B2E5-7539C3B9B0B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0A2CB4-6869-426F-8BC4-A32C90CBE2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Classic company all hands presentation</Template>
  <TotalTime>0</TotalTime>
  <Words>1314</Words>
  <Application>Microsoft Office PowerPoint</Application>
  <PresentationFormat>Widescreen</PresentationFormat>
  <Paragraphs>225</Paragraphs>
  <Slides>27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3" baseType="lpstr">
      <vt:lpstr>Arial</vt:lpstr>
      <vt:lpstr>Calibri</vt:lpstr>
      <vt:lpstr>Century Gothic</vt:lpstr>
      <vt:lpstr>Times New Roman</vt:lpstr>
      <vt:lpstr>Wingdings</vt:lpstr>
      <vt:lpstr>RetrospectVTI</vt:lpstr>
      <vt:lpstr>PowerPoint Presentation</vt:lpstr>
      <vt:lpstr>Outline</vt:lpstr>
      <vt:lpstr>Introduction</vt:lpstr>
      <vt:lpstr>Motivation </vt:lpstr>
      <vt:lpstr>Challenges</vt:lpstr>
      <vt:lpstr>Objective </vt:lpstr>
      <vt:lpstr>Literature Review</vt:lpstr>
      <vt:lpstr>Methodology </vt:lpstr>
      <vt:lpstr>Preprocessing </vt:lpstr>
      <vt:lpstr>Line &amp; Word Segmentation </vt:lpstr>
      <vt:lpstr>Character Segmentation </vt:lpstr>
      <vt:lpstr>Result Analysis – Preprocessing (Printed Script) </vt:lpstr>
      <vt:lpstr>Result Analysis – Preprocessing (Handwritten Script) </vt:lpstr>
      <vt:lpstr>Result Analysis – Line Segmentation</vt:lpstr>
      <vt:lpstr>Result Analysis – Word Segmentation</vt:lpstr>
      <vt:lpstr>Result Analysis – Character Segmentation</vt:lpstr>
      <vt:lpstr>Tesseract OCR Engine </vt:lpstr>
      <vt:lpstr>Comparison with Tessarect OCR Engine</vt:lpstr>
      <vt:lpstr>Accuracy</vt:lpstr>
      <vt:lpstr>Accuracy</vt:lpstr>
      <vt:lpstr>Accuracy Graph</vt:lpstr>
      <vt:lpstr>Accuracy Graph</vt:lpstr>
      <vt:lpstr>Discussion</vt:lpstr>
      <vt:lpstr>Future Scope</vt:lpstr>
      <vt:lpstr>Conclusion</vt:lpstr>
      <vt:lpstr>Reference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2020-07-05T17:08:13Z</dcterms:created>
  <dcterms:modified xsi:type="dcterms:W3CDTF">2020-07-06T20:35:41Z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
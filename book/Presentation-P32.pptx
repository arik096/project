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717" r:id="rId4"/>
  </p:sldMasterIdLst>
  <p:notesMasterIdLst>
    <p:notesMasterId r:id="rId37"/>
  </p:notesMasterIdLst>
  <p:handoutMasterIdLst>
    <p:handoutMasterId r:id="rId38"/>
  </p:handoutMasterIdLst>
  <p:sldIdLst>
    <p:sldId id="293" r:id="rId5"/>
    <p:sldId id="284" r:id="rId6"/>
    <p:sldId id="272" r:id="rId7"/>
    <p:sldId id="309" r:id="rId8"/>
    <p:sldId id="294" r:id="rId9"/>
    <p:sldId id="296" r:id="rId10"/>
    <p:sldId id="320" r:id="rId11"/>
    <p:sldId id="286" r:id="rId12"/>
    <p:sldId id="298" r:id="rId13"/>
    <p:sldId id="299" r:id="rId14"/>
    <p:sldId id="316" r:id="rId15"/>
    <p:sldId id="300" r:id="rId16"/>
    <p:sldId id="317" r:id="rId17"/>
    <p:sldId id="318" r:id="rId18"/>
    <p:sldId id="323" r:id="rId19"/>
    <p:sldId id="301" r:id="rId20"/>
    <p:sldId id="302" r:id="rId21"/>
    <p:sldId id="303" r:id="rId22"/>
    <p:sldId id="304" r:id="rId23"/>
    <p:sldId id="305" r:id="rId24"/>
    <p:sldId id="306" r:id="rId25"/>
    <p:sldId id="307" r:id="rId26"/>
    <p:sldId id="310" r:id="rId27"/>
    <p:sldId id="314" r:id="rId28"/>
    <p:sldId id="311" r:id="rId29"/>
    <p:sldId id="315" r:id="rId30"/>
    <p:sldId id="312" r:id="rId31"/>
    <p:sldId id="322" r:id="rId32"/>
    <p:sldId id="297" r:id="rId33"/>
    <p:sldId id="308" r:id="rId34"/>
    <p:sldId id="319" r:id="rId35"/>
    <p:sldId id="290" r:id="rId3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 horzBarState="maximized">
    <p:restoredLeft sz="15152" autoAdjust="0"/>
    <p:restoredTop sz="94639" autoAdjust="0"/>
  </p:normalViewPr>
  <p:slideViewPr>
    <p:cSldViewPr snapToGrid="0">
      <p:cViewPr varScale="1">
        <p:scale>
          <a:sx n="107" d="100"/>
          <a:sy n="107" d="100"/>
        </p:scale>
        <p:origin x="744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20" d="100"/>
        <a:sy n="120" d="100"/>
      </p:scale>
      <p:origin x="0" y="-4662"/>
    </p:cViewPr>
  </p:sorterViewPr>
  <p:notesViewPr>
    <p:cSldViewPr snapToGrid="0">
      <p:cViewPr>
        <p:scale>
          <a:sx n="50" d="100"/>
          <a:sy n="50" d="100"/>
        </p:scale>
        <p:origin x="3403" y="33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presProps" Target="presProps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tableStyles" Target="tableStyle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notesMaster" Target="notesMasters/notesMaster1.xml"/><Relationship Id="rId40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23AA0E9-8CD0-4A6E-A65E-A06028B83FE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5E2408B-C9AB-4665-AC99-B057BD0A43D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48E1AF-6343-46AA-8AEF-4C12F4118850}" type="datetimeFigureOut">
              <a:rPr lang="en-US" smtClean="0"/>
              <a:pPr/>
              <a:t>11-Jul-20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CD1B215-531B-4869-BD98-BD3B1390B1C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B53F21-4D67-455D-8074-E9E6EC26FAC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2858E0-3D38-47B7-97D4-4FE08D90D35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144333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9D2517-63AA-420A-887D-BE60360A8F4D}" type="datetimeFigureOut">
              <a:rPr lang="en-US" noProof="0" smtClean="0"/>
              <a:pPr/>
              <a:t>11-Jul-20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4ECAD9-32EE-4091-BDA5-6BD15ACC5E58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1066189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4ECAD9-32EE-4091-BDA5-6BD15ACC5E5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552588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9">
            <a:extLst>
              <a:ext uri="{FF2B5EF4-FFF2-40B4-BE49-F238E27FC236}">
                <a16:creationId xmlns:a16="http://schemas.microsoft.com/office/drawing/2014/main" id="{D1D313A2-A4D4-40DF-A0C2-C29F6416852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9944BB-901F-4101-AAD9-F3F9660A6803}" type="datetime2">
              <a:rPr lang="en-US" noProof="0" smtClean="0"/>
              <a:pPr/>
              <a:t>Saturday, July 11, 2020</a:t>
            </a:fld>
            <a:endParaRPr lang="en-US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Handwritten and printed Bengali script character segmentation using morphological analysis</a:t>
            </a:r>
            <a:endParaRPr lang="en-US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12850" y="4508500"/>
            <a:ext cx="5118100" cy="1279652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bg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noProof="0"/>
              <a:t>Click to edit Master subtitle style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12850" y="2057400"/>
            <a:ext cx="5118100" cy="1929066"/>
          </a:xfrm>
        </p:spPr>
        <p:txBody>
          <a:bodyPr anchor="b">
            <a:noAutofit/>
          </a:bodyPr>
          <a:lstStyle>
            <a:lvl1pPr algn="l">
              <a:lnSpc>
                <a:spcPct val="90000"/>
              </a:lnSpc>
              <a:defRPr sz="5400" b="1" spc="-50" baseline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6727005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arallélogramme 14">
            <a:extLst>
              <a:ext uri="{FF2B5EF4-FFF2-40B4-BE49-F238E27FC236}">
                <a16:creationId xmlns:a16="http://schemas.microsoft.com/office/drawing/2014/main" id="{F5AA8A10-E19C-430B-9D5D-8D12F92BFEC5}"/>
              </a:ext>
            </a:extLst>
          </p:cNvPr>
          <p:cNvSpPr/>
          <p:nvPr userDrawn="1"/>
        </p:nvSpPr>
        <p:spPr>
          <a:xfrm>
            <a:off x="7972121" y="0"/>
            <a:ext cx="2857500" cy="6858000"/>
          </a:xfrm>
          <a:prstGeom prst="parallelogram">
            <a:avLst>
              <a:gd name="adj" fmla="val 0"/>
            </a:avLst>
          </a:prstGeom>
          <a:solidFill>
            <a:schemeClr val="bg1">
              <a:lumMod val="9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7C93D4F-3003-4D58-9AFB-356A0F800F42}"/>
              </a:ext>
            </a:extLst>
          </p:cNvPr>
          <p:cNvSpPr/>
          <p:nvPr userDrawn="1"/>
        </p:nvSpPr>
        <p:spPr>
          <a:xfrm>
            <a:off x="6394450" y="0"/>
            <a:ext cx="153926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CE57BC-BF01-4133-9A7B-333F3E4796E1}" type="datetime2">
              <a:rPr lang="en-US" noProof="0" smtClean="0"/>
              <a:pPr/>
              <a:t>Saturday, July 11, 2020</a:t>
            </a:fld>
            <a:endParaRPr lang="en-US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Handwritten and printed Bengali script character segmentation using morphological analysis</a:t>
            </a:r>
            <a:endParaRPr lang="en-US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6028FDE-6655-4B55-B3B4-5B366034E8A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311900" cy="6858000"/>
          </a:xfrm>
        </p:spPr>
        <p:txBody>
          <a:bodyPr/>
          <a:lstStyle/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629400" y="758952"/>
            <a:ext cx="4526280" cy="3227514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6000" b="1" spc="-5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632171" y="4508500"/>
            <a:ext cx="4526280" cy="1279652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noProof="0"/>
              <a:t>Click to edit Master subtitle style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D3E1BBA-670B-4CAE-B839-50ADB23DDBC6}"/>
              </a:ext>
            </a:extLst>
          </p:cNvPr>
          <p:cNvSpPr/>
          <p:nvPr userDrawn="1"/>
        </p:nvSpPr>
        <p:spPr>
          <a:xfrm>
            <a:off x="6311900" y="0"/>
            <a:ext cx="153926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663938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B6E837-5E5C-4ABC-B2B6-47473AC749E7}" type="datetime2">
              <a:rPr lang="en-US" smtClean="0"/>
              <a:pPr/>
              <a:t>Saturday, July 11, 2020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Handwritten and printed Bengali script character segmentation using morphological analysis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82784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arallélogramme 14">
            <a:extLst>
              <a:ext uri="{FF2B5EF4-FFF2-40B4-BE49-F238E27FC236}">
                <a16:creationId xmlns:a16="http://schemas.microsoft.com/office/drawing/2014/main" id="{98B82A56-7790-48EC-983D-AB8F703699B2}"/>
              </a:ext>
            </a:extLst>
          </p:cNvPr>
          <p:cNvSpPr/>
          <p:nvPr userDrawn="1"/>
        </p:nvSpPr>
        <p:spPr>
          <a:xfrm>
            <a:off x="7972121" y="0"/>
            <a:ext cx="2857500" cy="6858000"/>
          </a:xfrm>
          <a:prstGeom prst="parallelogram">
            <a:avLst>
              <a:gd name="adj" fmla="val 0"/>
            </a:avLst>
          </a:prstGeom>
          <a:solidFill>
            <a:schemeClr val="bg1">
              <a:lumMod val="9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6E1740BF-A968-409A-BEFD-8D81A8EA189C}" type="datetime2">
              <a:rPr lang="en-US" noProof="0" smtClean="0"/>
              <a:pPr/>
              <a:t>Saturday, July 11, 2020</a:t>
            </a:fld>
            <a:endParaRPr lang="en-US" noProof="0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Handwritten and printed Bengali script character segmentation using morphological analysis</a:t>
            </a:r>
            <a:endParaRPr lang="en-US" noProof="0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2" name="Picture Placeholder 9">
            <a:extLst>
              <a:ext uri="{FF2B5EF4-FFF2-40B4-BE49-F238E27FC236}">
                <a16:creationId xmlns:a16="http://schemas.microsoft.com/office/drawing/2014/main" id="{E76B772A-7600-4ECE-B5A2-34827D4C710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311900" cy="6858000"/>
          </a:xfrm>
        </p:spPr>
        <p:txBody>
          <a:bodyPr/>
          <a:lstStyle/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3820398-8D1F-4543-ABA0-7A67C38769B3}"/>
              </a:ext>
            </a:extLst>
          </p:cNvPr>
          <p:cNvSpPr/>
          <p:nvPr userDrawn="1"/>
        </p:nvSpPr>
        <p:spPr>
          <a:xfrm>
            <a:off x="2451099" y="3568700"/>
            <a:ext cx="8721725" cy="23082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endParaRPr lang="en-US" sz="1400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41599" y="3746500"/>
            <a:ext cx="8331202" cy="1308100"/>
          </a:xfrm>
        </p:spPr>
        <p:txBody>
          <a:bodyPr anchor="b" anchorCtr="0">
            <a:noAutofit/>
          </a:bodyPr>
          <a:lstStyle>
            <a:lvl1pPr>
              <a:lnSpc>
                <a:spcPct val="90000"/>
              </a:lnSpc>
              <a:defRPr sz="4800"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41600" y="5219700"/>
            <a:ext cx="8331201" cy="58674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5757C57-BBBA-44C6-9A4D-12F5D1E400AA}"/>
              </a:ext>
            </a:extLst>
          </p:cNvPr>
          <p:cNvSpPr/>
          <p:nvPr userDrawn="1"/>
        </p:nvSpPr>
        <p:spPr>
          <a:xfrm>
            <a:off x="3752850" y="3469101"/>
            <a:ext cx="5118100" cy="12566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969842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2E2D5AB1-A71C-4946-A337-64380CF8CC9C}" type="datetime2">
              <a:rPr lang="en-US" noProof="0" smtClean="0"/>
              <a:pPr/>
              <a:t>Saturday, July 11, 2020</a:t>
            </a:fld>
            <a:endParaRPr lang="en-US" noProof="0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Handwritten and printed Bengali script character segmentation using morphological analysis</a:t>
            </a:r>
            <a:endParaRPr lang="en-US" noProof="0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2" name="Picture Placeholder 9">
            <a:extLst>
              <a:ext uri="{FF2B5EF4-FFF2-40B4-BE49-F238E27FC236}">
                <a16:creationId xmlns:a16="http://schemas.microsoft.com/office/drawing/2014/main" id="{E76B772A-7600-4ECE-B5A2-34827D4C710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3820398-8D1F-4543-ABA0-7A67C38769B3}"/>
              </a:ext>
            </a:extLst>
          </p:cNvPr>
          <p:cNvSpPr/>
          <p:nvPr userDrawn="1"/>
        </p:nvSpPr>
        <p:spPr>
          <a:xfrm>
            <a:off x="1735138" y="3568700"/>
            <a:ext cx="8721725" cy="23082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endParaRPr lang="en-US" sz="1400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30399" y="3746500"/>
            <a:ext cx="8331202" cy="1308100"/>
          </a:xfrm>
        </p:spPr>
        <p:txBody>
          <a:bodyPr anchor="b" anchorCtr="0">
            <a:noAutofit/>
          </a:bodyPr>
          <a:lstStyle>
            <a:lvl1pPr algn="ctr">
              <a:lnSpc>
                <a:spcPct val="90000"/>
              </a:lnSpc>
              <a:defRPr sz="4800"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30400" y="5219700"/>
            <a:ext cx="8331201" cy="586740"/>
          </a:xfrm>
        </p:spPr>
        <p:txBody>
          <a:bodyPr lIns="91440" rIns="91440" anchor="t" anchorCtr="0">
            <a:normAutofit/>
          </a:bodyPr>
          <a:lstStyle>
            <a:lvl1pPr marL="0" indent="0" algn="ctr">
              <a:buNone/>
              <a:defRPr sz="2400" cap="all" spc="200" baseline="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5757C57-BBBA-44C6-9A4D-12F5D1E400AA}"/>
              </a:ext>
            </a:extLst>
          </p:cNvPr>
          <p:cNvSpPr/>
          <p:nvPr userDrawn="1"/>
        </p:nvSpPr>
        <p:spPr>
          <a:xfrm>
            <a:off x="3536950" y="3469101"/>
            <a:ext cx="5118100" cy="12566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7664897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95E87B-542F-419C-88D5-9A3CC43211E6}" type="datetime2">
              <a:rPr lang="en-US" smtClean="0"/>
              <a:pPr/>
              <a:t>Saturday, July 11, 2020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Handwritten and printed Bengali script character segmentation using morphological analysis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79728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anchor="ctr">
            <a:noAutofit/>
          </a:bodyPr>
          <a:lstStyle>
            <a:lvl1pPr marL="0" indent="0" algn="l">
              <a:buNone/>
              <a:defRPr sz="2400" b="1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86731" y="2958274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anchor="ctr">
            <a:noAutofit/>
          </a:bodyPr>
          <a:lstStyle>
            <a:lvl1pPr marL="0" indent="0">
              <a:buNone/>
              <a:defRPr sz="2400" b="1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5395" y="2958273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FD4E80-31CA-4027-8BB1-5262B9EE189A}" type="datetime2">
              <a:rPr lang="en-US" smtClean="0"/>
              <a:pPr/>
              <a:t>Saturday, July 11, 2020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Handwritten and printed Bengali script character segmentation using morphological analysis</a:t>
            </a:r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5941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54B30-F80E-444D-8B0E-80AB9BCEF812}" type="datetime2">
              <a:rPr lang="en-US" smtClean="0"/>
              <a:pPr/>
              <a:t>Saturday, July 11, 2020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Handwritten and printed Bengali script character segmentation using morphological analysis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00130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arallélogramme 14">
            <a:extLst>
              <a:ext uri="{FF2B5EF4-FFF2-40B4-BE49-F238E27FC236}">
                <a16:creationId xmlns:a16="http://schemas.microsoft.com/office/drawing/2014/main" id="{AF082EE3-41AA-4817-A1CC-C33DDB8F675F}"/>
              </a:ext>
            </a:extLst>
          </p:cNvPr>
          <p:cNvSpPr/>
          <p:nvPr userDrawn="1"/>
        </p:nvSpPr>
        <p:spPr>
          <a:xfrm>
            <a:off x="4667250" y="0"/>
            <a:ext cx="2857500" cy="6858000"/>
          </a:xfrm>
          <a:prstGeom prst="parallelogram">
            <a:avLst>
              <a:gd name="adj" fmla="val 0"/>
            </a:avLst>
          </a:prstGeom>
          <a:solidFill>
            <a:schemeClr val="bg1">
              <a:lumMod val="9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AB854B5-8C9F-4641-9122-5745D9CED2A4}" type="datetime2">
              <a:rPr lang="en-US" noProof="0" smtClean="0"/>
              <a:pPr/>
              <a:t>Saturday, July 11, 2020</a:t>
            </a:fld>
            <a:endParaRPr lang="en-US" noProof="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Handwritten and printed Bengali script character segmentation using morphological analysis</a:t>
            </a:r>
            <a:endParaRPr lang="en-US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0105073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arallélogramme 14">
            <a:extLst>
              <a:ext uri="{FF2B5EF4-FFF2-40B4-BE49-F238E27FC236}">
                <a16:creationId xmlns:a16="http://schemas.microsoft.com/office/drawing/2014/main" id="{BA60C70F-7EE5-4927-B922-88B1C47FADB9}"/>
              </a:ext>
            </a:extLst>
          </p:cNvPr>
          <p:cNvSpPr/>
          <p:nvPr userDrawn="1"/>
        </p:nvSpPr>
        <p:spPr>
          <a:xfrm>
            <a:off x="7448550" y="0"/>
            <a:ext cx="2857500" cy="6858000"/>
          </a:xfrm>
          <a:prstGeom prst="parallelogram">
            <a:avLst>
              <a:gd name="adj" fmla="val 0"/>
            </a:avLst>
          </a:prstGeom>
          <a:solidFill>
            <a:schemeClr val="bg1">
              <a:lumMod val="9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586422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2200" y="786383"/>
            <a:ext cx="3068833" cy="2093975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8984" y="812800"/>
            <a:ext cx="5713841" cy="4868609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2200" y="3043050"/>
            <a:ext cx="3068832" cy="2638359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DC51BA7-A5A7-4A7F-A707-DBBDEA7705F3}"/>
              </a:ext>
            </a:extLst>
          </p:cNvPr>
          <p:cNvSpPr/>
          <p:nvPr userDrawn="1"/>
        </p:nvSpPr>
        <p:spPr>
          <a:xfrm>
            <a:off x="0" y="1397000"/>
            <a:ext cx="1036320" cy="132948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23174BA-29D0-4C1A-95C9-5A86FD25E47A}"/>
              </a:ext>
            </a:extLst>
          </p:cNvPr>
          <p:cNvSpPr/>
          <p:nvPr userDrawn="1"/>
        </p:nvSpPr>
        <p:spPr>
          <a:xfrm>
            <a:off x="5458983" y="624142"/>
            <a:ext cx="5713840" cy="12566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2" name="Date Placeholder 1">
            <a:extLst>
              <a:ext uri="{FF2B5EF4-FFF2-40B4-BE49-F238E27FC236}">
                <a16:creationId xmlns:a16="http://schemas.microsoft.com/office/drawing/2014/main" id="{F417C55D-4AE8-427B-A32E-9F54E007E68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34126" y="6446838"/>
            <a:ext cx="258485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DD52EFED-3821-4252-B066-81DF622ABB93}" type="datetime2">
              <a:rPr lang="en-US" noProof="0" smtClean="0"/>
              <a:pPr/>
              <a:t>Saturday, July 11, 2020</a:t>
            </a:fld>
            <a:endParaRPr lang="en-US" noProof="0" dirty="0"/>
          </a:p>
        </p:txBody>
      </p:sp>
      <p:sp>
        <p:nvSpPr>
          <p:cNvPr id="13" name="Footer Placeholder 2">
            <a:extLst>
              <a:ext uri="{FF2B5EF4-FFF2-40B4-BE49-F238E27FC236}">
                <a16:creationId xmlns:a16="http://schemas.microsoft.com/office/drawing/2014/main" id="{8C05871B-E916-40A4-B5E3-65C15F5A4D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4846321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Handwritten and printed Bengali script character segmentation using morphological analysis</a:t>
            </a:r>
            <a:endParaRPr lang="en-US" noProof="0" dirty="0"/>
          </a:p>
        </p:txBody>
      </p:sp>
      <p:sp>
        <p:nvSpPr>
          <p:cNvPr id="14" name="Slide Number Placeholder 3">
            <a:extLst>
              <a:ext uri="{FF2B5EF4-FFF2-40B4-BE49-F238E27FC236}">
                <a16:creationId xmlns:a16="http://schemas.microsoft.com/office/drawing/2014/main" id="{B45E789F-2E61-4EC0-8973-681625FE51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5670" y="6446838"/>
            <a:ext cx="78001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cxnSp>
        <p:nvCxnSpPr>
          <p:cNvPr id="15" name="Connecteur droit 19">
            <a:extLst>
              <a:ext uri="{FF2B5EF4-FFF2-40B4-BE49-F238E27FC236}">
                <a16:creationId xmlns:a16="http://schemas.microsoft.com/office/drawing/2014/main" id="{D84C14C5-D99C-45CD-8001-AC745F4FB49B}"/>
              </a:ext>
            </a:extLst>
          </p:cNvPr>
          <p:cNvCxnSpPr>
            <a:cxnSpLocks/>
          </p:cNvCxnSpPr>
          <p:nvPr userDrawn="1"/>
        </p:nvCxnSpPr>
        <p:spPr>
          <a:xfrm flipH="1">
            <a:off x="1092200" y="6446838"/>
            <a:ext cx="1643438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eur droit 19">
            <a:extLst>
              <a:ext uri="{FF2B5EF4-FFF2-40B4-BE49-F238E27FC236}">
                <a16:creationId xmlns:a16="http://schemas.microsoft.com/office/drawing/2014/main" id="{019842DD-D0AB-4E35-9AB2-7DBB6E266120}"/>
              </a:ext>
            </a:extLst>
          </p:cNvPr>
          <p:cNvCxnSpPr>
            <a:cxnSpLocks/>
          </p:cNvCxnSpPr>
          <p:nvPr userDrawn="1"/>
        </p:nvCxnSpPr>
        <p:spPr>
          <a:xfrm flipH="1">
            <a:off x="8420100" y="6429376"/>
            <a:ext cx="1000462" cy="0"/>
          </a:xfrm>
          <a:prstGeom prst="line">
            <a:avLst/>
          </a:prstGeom>
          <a:ln w="2857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eur droit 19">
            <a:extLst>
              <a:ext uri="{FF2B5EF4-FFF2-40B4-BE49-F238E27FC236}">
                <a16:creationId xmlns:a16="http://schemas.microsoft.com/office/drawing/2014/main" id="{832851A7-B301-4616-9843-9A0D06646DFD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10765675" y="6446838"/>
            <a:ext cx="407258" cy="6350"/>
          </a:xfrm>
          <a:prstGeom prst="line">
            <a:avLst/>
          </a:prstGeom>
          <a:ln w="2857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892083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65F4B2-95AB-4443-9F28-03AD8938EA06}" type="datetime2">
              <a:rPr lang="en-US" smtClean="0"/>
              <a:pPr/>
              <a:t>Saturday, July 11, 2020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Handwritten and printed Bengali script character segmentation using morphological analysis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508271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arallélogramme 14">
            <a:extLst>
              <a:ext uri="{FF2B5EF4-FFF2-40B4-BE49-F238E27FC236}">
                <a16:creationId xmlns:a16="http://schemas.microsoft.com/office/drawing/2014/main" id="{BA60C70F-7EE5-4927-B922-88B1C47FADB9}"/>
              </a:ext>
            </a:extLst>
          </p:cNvPr>
          <p:cNvSpPr/>
          <p:nvPr userDrawn="1"/>
        </p:nvSpPr>
        <p:spPr>
          <a:xfrm>
            <a:off x="7448550" y="0"/>
            <a:ext cx="2857500" cy="6858000"/>
          </a:xfrm>
          <a:prstGeom prst="parallelogram">
            <a:avLst>
              <a:gd name="adj" fmla="val 0"/>
            </a:avLst>
          </a:prstGeom>
          <a:solidFill>
            <a:schemeClr val="bg1">
              <a:lumMod val="9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586422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8984" y="497808"/>
            <a:ext cx="5713841" cy="4868609"/>
          </a:xfrm>
        </p:spPr>
        <p:txBody>
          <a:bodyPr anchor="ctr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DC51BA7-A5A7-4A7F-A707-DBBDEA7705F3}"/>
              </a:ext>
            </a:extLst>
          </p:cNvPr>
          <p:cNvSpPr/>
          <p:nvPr userDrawn="1"/>
        </p:nvSpPr>
        <p:spPr>
          <a:xfrm>
            <a:off x="0" y="2003424"/>
            <a:ext cx="1036320" cy="185737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23174BA-29D0-4C1A-95C9-5A86FD25E47A}"/>
              </a:ext>
            </a:extLst>
          </p:cNvPr>
          <p:cNvSpPr/>
          <p:nvPr userDrawn="1"/>
        </p:nvSpPr>
        <p:spPr>
          <a:xfrm>
            <a:off x="5458983" y="377398"/>
            <a:ext cx="5713840" cy="12566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2" name="Date Placeholder 1">
            <a:extLst>
              <a:ext uri="{FF2B5EF4-FFF2-40B4-BE49-F238E27FC236}">
                <a16:creationId xmlns:a16="http://schemas.microsoft.com/office/drawing/2014/main" id="{F417C55D-4AE8-427B-A32E-9F54E007E68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34126" y="6446838"/>
            <a:ext cx="258485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5BC7D056-A642-43A3-B203-9C21AEAD9466}" type="datetime2">
              <a:rPr lang="en-US" noProof="0" smtClean="0"/>
              <a:pPr/>
              <a:t>Saturday, July 11, 2020</a:t>
            </a:fld>
            <a:endParaRPr lang="en-US" noProof="0" dirty="0"/>
          </a:p>
        </p:txBody>
      </p:sp>
      <p:sp>
        <p:nvSpPr>
          <p:cNvPr id="13" name="Footer Placeholder 2">
            <a:extLst>
              <a:ext uri="{FF2B5EF4-FFF2-40B4-BE49-F238E27FC236}">
                <a16:creationId xmlns:a16="http://schemas.microsoft.com/office/drawing/2014/main" id="{8C05871B-E916-40A4-B5E3-65C15F5A4D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4846321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Handwritten and printed Bengali script character segmentation using morphological analysis</a:t>
            </a:r>
            <a:endParaRPr lang="en-US" noProof="0" dirty="0"/>
          </a:p>
        </p:txBody>
      </p:sp>
      <p:sp>
        <p:nvSpPr>
          <p:cNvPr id="14" name="Slide Number Placeholder 3">
            <a:extLst>
              <a:ext uri="{FF2B5EF4-FFF2-40B4-BE49-F238E27FC236}">
                <a16:creationId xmlns:a16="http://schemas.microsoft.com/office/drawing/2014/main" id="{B45E789F-2E61-4EC0-8973-681625FE51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5670" y="6446838"/>
            <a:ext cx="78001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BC7DA98-7B92-4F45-80F8-1AEF72A601CF}"/>
              </a:ext>
            </a:extLst>
          </p:cNvPr>
          <p:cNvSpPr/>
          <p:nvPr userDrawn="1"/>
        </p:nvSpPr>
        <p:spPr>
          <a:xfrm>
            <a:off x="1078230" y="2003423"/>
            <a:ext cx="3576082" cy="1857378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2200" y="1885125"/>
            <a:ext cx="3314700" cy="2093975"/>
          </a:xfrm>
        </p:spPr>
        <p:txBody>
          <a:bodyPr anchor="ctr">
            <a:normAutofit/>
          </a:bodyPr>
          <a:lstStyle>
            <a:lvl1pPr>
              <a:lnSpc>
                <a:spcPct val="90000"/>
              </a:lnSpc>
              <a:defRPr sz="4400" b="1">
                <a:solidFill>
                  <a:srgbClr val="FFFFFF"/>
                </a:solidFill>
                <a:latin typeface="+mn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F96815B-4256-4CE0-9FCF-3A2967CF5792}"/>
              </a:ext>
            </a:extLst>
          </p:cNvPr>
          <p:cNvSpPr/>
          <p:nvPr userDrawn="1"/>
        </p:nvSpPr>
        <p:spPr>
          <a:xfrm>
            <a:off x="1092200" y="993775"/>
            <a:ext cx="1036320" cy="936626"/>
          </a:xfrm>
          <a:prstGeom prst="rect">
            <a:avLst/>
          </a:prstGeom>
          <a:solidFill>
            <a:schemeClr val="tx2">
              <a:lumMod val="20000"/>
              <a:lumOff val="80000"/>
              <a:alpha val="2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1812829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icture Placeholder 9">
            <a:extLst>
              <a:ext uri="{FF2B5EF4-FFF2-40B4-BE49-F238E27FC236}">
                <a16:creationId xmlns:a16="http://schemas.microsoft.com/office/drawing/2014/main" id="{4F173117-1383-4956-B947-1EA7A51D0D4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4654296" cy="58642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10" name="Parallélogramme 14">
            <a:extLst>
              <a:ext uri="{FF2B5EF4-FFF2-40B4-BE49-F238E27FC236}">
                <a16:creationId xmlns:a16="http://schemas.microsoft.com/office/drawing/2014/main" id="{BA60C70F-7EE5-4927-B922-88B1C47FADB9}"/>
              </a:ext>
            </a:extLst>
          </p:cNvPr>
          <p:cNvSpPr/>
          <p:nvPr userDrawn="1"/>
        </p:nvSpPr>
        <p:spPr>
          <a:xfrm>
            <a:off x="7448550" y="0"/>
            <a:ext cx="2857500" cy="6858000"/>
          </a:xfrm>
          <a:prstGeom prst="parallelogram">
            <a:avLst>
              <a:gd name="adj" fmla="val 0"/>
            </a:avLst>
          </a:prstGeom>
          <a:solidFill>
            <a:schemeClr val="bg1">
              <a:lumMod val="9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8984" y="497808"/>
            <a:ext cx="5713841" cy="4868609"/>
          </a:xfrm>
        </p:spPr>
        <p:txBody>
          <a:bodyPr anchor="ctr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2" name="Date Placeholder 1">
            <a:extLst>
              <a:ext uri="{FF2B5EF4-FFF2-40B4-BE49-F238E27FC236}">
                <a16:creationId xmlns:a16="http://schemas.microsoft.com/office/drawing/2014/main" id="{F417C55D-4AE8-427B-A32E-9F54E007E68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34126" y="6446838"/>
            <a:ext cx="258485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D95F6834-5987-445D-80C1-222E1FC2D277}" type="datetime2">
              <a:rPr lang="en-US" noProof="0" smtClean="0"/>
              <a:pPr/>
              <a:t>Saturday, July 11, 2020</a:t>
            </a:fld>
            <a:endParaRPr lang="en-US" noProof="0" dirty="0"/>
          </a:p>
        </p:txBody>
      </p:sp>
      <p:sp>
        <p:nvSpPr>
          <p:cNvPr id="13" name="Footer Placeholder 2">
            <a:extLst>
              <a:ext uri="{FF2B5EF4-FFF2-40B4-BE49-F238E27FC236}">
                <a16:creationId xmlns:a16="http://schemas.microsoft.com/office/drawing/2014/main" id="{8C05871B-E916-40A4-B5E3-65C15F5A4D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4846321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Handwritten and printed Bengali script character segmentation using morphological analysis</a:t>
            </a:r>
            <a:endParaRPr lang="en-US" noProof="0" dirty="0"/>
          </a:p>
        </p:txBody>
      </p:sp>
      <p:sp>
        <p:nvSpPr>
          <p:cNvPr id="14" name="Slide Number Placeholder 3">
            <a:extLst>
              <a:ext uri="{FF2B5EF4-FFF2-40B4-BE49-F238E27FC236}">
                <a16:creationId xmlns:a16="http://schemas.microsoft.com/office/drawing/2014/main" id="{B45E789F-2E61-4EC0-8973-681625FE51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5670" y="6446838"/>
            <a:ext cx="78001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2200" y="1885125"/>
            <a:ext cx="3068833" cy="2093975"/>
          </a:xfrm>
        </p:spPr>
        <p:txBody>
          <a:bodyPr anchor="ctr">
            <a:normAutofit/>
          </a:bodyPr>
          <a:lstStyle>
            <a:lvl1pPr>
              <a:lnSpc>
                <a:spcPct val="90000"/>
              </a:lnSpc>
              <a:defRPr sz="4400" b="1" i="0">
                <a:solidFill>
                  <a:srgbClr val="FFFFFF"/>
                </a:solidFill>
                <a:latin typeface="+mn-lt"/>
              </a:defRPr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95430553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arallélogramme 14">
            <a:extLst>
              <a:ext uri="{FF2B5EF4-FFF2-40B4-BE49-F238E27FC236}">
                <a16:creationId xmlns:a16="http://schemas.microsoft.com/office/drawing/2014/main" id="{BA60C70F-7EE5-4927-B922-88B1C47FADB9}"/>
              </a:ext>
            </a:extLst>
          </p:cNvPr>
          <p:cNvSpPr/>
          <p:nvPr userDrawn="1"/>
        </p:nvSpPr>
        <p:spPr>
          <a:xfrm>
            <a:off x="7448550" y="0"/>
            <a:ext cx="2857500" cy="6858000"/>
          </a:xfrm>
          <a:prstGeom prst="parallelogram">
            <a:avLst>
              <a:gd name="adj" fmla="val 0"/>
            </a:avLst>
          </a:prstGeom>
          <a:solidFill>
            <a:schemeClr val="bg1">
              <a:lumMod val="9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84722" y="548355"/>
            <a:ext cx="6054846" cy="634336"/>
          </a:xfrm>
        </p:spPr>
        <p:txBody>
          <a:bodyPr anchor="ctr">
            <a:noAutofit/>
          </a:bodyPr>
          <a:lstStyle>
            <a:lvl1pPr>
              <a:lnSpc>
                <a:spcPct val="90000"/>
              </a:lnSpc>
              <a:defRPr sz="3600" b="1" i="0">
                <a:solidFill>
                  <a:srgbClr val="FFFFFF"/>
                </a:solidFill>
                <a:latin typeface="+mn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0833" y="1611313"/>
            <a:ext cx="6072099" cy="3755104"/>
          </a:xfrm>
        </p:spPr>
        <p:txBody>
          <a:bodyPr anchor="t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2" name="Date Placeholder 1">
            <a:extLst>
              <a:ext uri="{FF2B5EF4-FFF2-40B4-BE49-F238E27FC236}">
                <a16:creationId xmlns:a16="http://schemas.microsoft.com/office/drawing/2014/main" id="{F417C55D-4AE8-427B-A32E-9F54E007E68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34126" y="6446838"/>
            <a:ext cx="258485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405D4D86-BCF3-49B6-95C6-F23DD933B6B9}" type="datetime2">
              <a:rPr lang="en-US" noProof="0" smtClean="0"/>
              <a:pPr/>
              <a:t>Saturday, July 11, 2020</a:t>
            </a:fld>
            <a:endParaRPr lang="en-US" noProof="0" dirty="0"/>
          </a:p>
        </p:txBody>
      </p:sp>
      <p:sp>
        <p:nvSpPr>
          <p:cNvPr id="13" name="Footer Placeholder 2">
            <a:extLst>
              <a:ext uri="{FF2B5EF4-FFF2-40B4-BE49-F238E27FC236}">
                <a16:creationId xmlns:a16="http://schemas.microsoft.com/office/drawing/2014/main" id="{8C05871B-E916-40A4-B5E3-65C15F5A4D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4846321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Handwritten and printed Bengali script character segmentation using morphological analysis</a:t>
            </a:r>
            <a:endParaRPr lang="en-US" noProof="0" dirty="0"/>
          </a:p>
        </p:txBody>
      </p:sp>
      <p:sp>
        <p:nvSpPr>
          <p:cNvPr id="14" name="Slide Number Placeholder 3">
            <a:extLst>
              <a:ext uri="{FF2B5EF4-FFF2-40B4-BE49-F238E27FC236}">
                <a16:creationId xmlns:a16="http://schemas.microsoft.com/office/drawing/2014/main" id="{B45E789F-2E61-4EC0-8973-681625FE51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5670" y="6446838"/>
            <a:ext cx="78001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8" name="Picture Placeholder 9">
            <a:extLst>
              <a:ext uri="{FF2B5EF4-FFF2-40B4-BE49-F238E27FC236}">
                <a16:creationId xmlns:a16="http://schemas.microsoft.com/office/drawing/2014/main" id="{4F173117-1383-4956-B947-1EA7A51D0D4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4654296" cy="58642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75104652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7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icture Placeholder 9">
            <a:extLst>
              <a:ext uri="{FF2B5EF4-FFF2-40B4-BE49-F238E27FC236}">
                <a16:creationId xmlns:a16="http://schemas.microsoft.com/office/drawing/2014/main" id="{4F173117-1383-4956-B947-1EA7A51D0D4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3541486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10" name="Parallélogramme 14">
            <a:extLst>
              <a:ext uri="{FF2B5EF4-FFF2-40B4-BE49-F238E27FC236}">
                <a16:creationId xmlns:a16="http://schemas.microsoft.com/office/drawing/2014/main" id="{BA60C70F-7EE5-4927-B922-88B1C47FADB9}"/>
              </a:ext>
            </a:extLst>
          </p:cNvPr>
          <p:cNvSpPr/>
          <p:nvPr userDrawn="1"/>
        </p:nvSpPr>
        <p:spPr>
          <a:xfrm>
            <a:off x="7448550" y="0"/>
            <a:ext cx="2857500" cy="6858000"/>
          </a:xfrm>
          <a:prstGeom prst="parallelogram">
            <a:avLst>
              <a:gd name="adj" fmla="val 0"/>
            </a:avLst>
          </a:prstGeom>
          <a:solidFill>
            <a:schemeClr val="bg1">
              <a:lumMod val="9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68577" y="880375"/>
            <a:ext cx="6054846" cy="634336"/>
          </a:xfrm>
        </p:spPr>
        <p:txBody>
          <a:bodyPr anchor="ctr">
            <a:noAutofit/>
          </a:bodyPr>
          <a:lstStyle>
            <a:lvl1pPr algn="ctr">
              <a:lnSpc>
                <a:spcPct val="90000"/>
              </a:lnSpc>
              <a:defRPr sz="3600" b="1" i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2" name="Date Placeholder 1">
            <a:extLst>
              <a:ext uri="{FF2B5EF4-FFF2-40B4-BE49-F238E27FC236}">
                <a16:creationId xmlns:a16="http://schemas.microsoft.com/office/drawing/2014/main" id="{F417C55D-4AE8-427B-A32E-9F54E007E68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34126" y="6446838"/>
            <a:ext cx="258485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7A86F2A-3DA7-4B63-9709-3605A14B6A55}" type="datetime2">
              <a:rPr lang="en-US" noProof="0" smtClean="0"/>
              <a:pPr/>
              <a:t>Saturday, July 11, 2020</a:t>
            </a:fld>
            <a:endParaRPr lang="en-US" noProof="0" dirty="0"/>
          </a:p>
        </p:txBody>
      </p:sp>
      <p:sp>
        <p:nvSpPr>
          <p:cNvPr id="13" name="Footer Placeholder 2">
            <a:extLst>
              <a:ext uri="{FF2B5EF4-FFF2-40B4-BE49-F238E27FC236}">
                <a16:creationId xmlns:a16="http://schemas.microsoft.com/office/drawing/2014/main" id="{8C05871B-E916-40A4-B5E3-65C15F5A4D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4846321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Handwritten and printed Bengali script character segmentation using morphological analysis</a:t>
            </a:r>
            <a:endParaRPr lang="en-US" noProof="0" dirty="0"/>
          </a:p>
        </p:txBody>
      </p:sp>
      <p:sp>
        <p:nvSpPr>
          <p:cNvPr id="14" name="Slide Number Placeholder 3">
            <a:extLst>
              <a:ext uri="{FF2B5EF4-FFF2-40B4-BE49-F238E27FC236}">
                <a16:creationId xmlns:a16="http://schemas.microsoft.com/office/drawing/2014/main" id="{B45E789F-2E61-4EC0-8973-681625FE51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5670" y="6446838"/>
            <a:ext cx="78001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F446475-024F-4C71-99D3-501468ACAD11}"/>
              </a:ext>
            </a:extLst>
          </p:cNvPr>
          <p:cNvSpPr/>
          <p:nvPr userDrawn="1"/>
        </p:nvSpPr>
        <p:spPr>
          <a:xfrm>
            <a:off x="5577840" y="0"/>
            <a:ext cx="1036320" cy="6858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76760285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arallélogramme 14">
            <a:extLst>
              <a:ext uri="{FF2B5EF4-FFF2-40B4-BE49-F238E27FC236}">
                <a16:creationId xmlns:a16="http://schemas.microsoft.com/office/drawing/2014/main" id="{BA60C70F-7EE5-4927-B922-88B1C47FADB9}"/>
              </a:ext>
            </a:extLst>
          </p:cNvPr>
          <p:cNvSpPr/>
          <p:nvPr userDrawn="1"/>
        </p:nvSpPr>
        <p:spPr>
          <a:xfrm>
            <a:off x="7448550" y="0"/>
            <a:ext cx="2857500" cy="6858000"/>
          </a:xfrm>
          <a:prstGeom prst="parallelogram">
            <a:avLst>
              <a:gd name="adj" fmla="val 0"/>
            </a:avLst>
          </a:prstGeom>
          <a:solidFill>
            <a:schemeClr val="bg1">
              <a:lumMod val="9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48F6D61-9E88-4632-A0A8-CB2E0CC5DEAF}"/>
              </a:ext>
            </a:extLst>
          </p:cNvPr>
          <p:cNvSpPr/>
          <p:nvPr userDrawn="1"/>
        </p:nvSpPr>
        <p:spPr>
          <a:xfrm>
            <a:off x="4654312" y="507333"/>
            <a:ext cx="7537688" cy="484955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586422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2200" y="1885125"/>
            <a:ext cx="3068833" cy="2093975"/>
          </a:xfrm>
        </p:spPr>
        <p:txBody>
          <a:bodyPr anchor="ctr">
            <a:normAutofit/>
          </a:bodyPr>
          <a:lstStyle>
            <a:lvl1pPr>
              <a:lnSpc>
                <a:spcPct val="90000"/>
              </a:lnSpc>
              <a:defRPr sz="4400" b="1" i="0">
                <a:solidFill>
                  <a:srgbClr val="FFFFFF"/>
                </a:solidFill>
                <a:latin typeface="+mn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73373" y="943430"/>
            <a:ext cx="4699452" cy="3977366"/>
          </a:xfrm>
        </p:spPr>
        <p:txBody>
          <a:bodyPr anchor="ctr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2" name="Date Placeholder 1">
            <a:extLst>
              <a:ext uri="{FF2B5EF4-FFF2-40B4-BE49-F238E27FC236}">
                <a16:creationId xmlns:a16="http://schemas.microsoft.com/office/drawing/2014/main" id="{F417C55D-4AE8-427B-A32E-9F54E007E68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34126" y="6446838"/>
            <a:ext cx="258485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FA3FE53B-DAB0-4423-9FCB-C9083E9C2645}" type="datetime2">
              <a:rPr lang="en-US" noProof="0" smtClean="0"/>
              <a:pPr/>
              <a:t>Saturday, July 11, 2020</a:t>
            </a:fld>
            <a:endParaRPr lang="en-US" noProof="0" dirty="0"/>
          </a:p>
        </p:txBody>
      </p:sp>
      <p:sp>
        <p:nvSpPr>
          <p:cNvPr id="13" name="Footer Placeholder 2">
            <a:extLst>
              <a:ext uri="{FF2B5EF4-FFF2-40B4-BE49-F238E27FC236}">
                <a16:creationId xmlns:a16="http://schemas.microsoft.com/office/drawing/2014/main" id="{8C05871B-E916-40A4-B5E3-65C15F5A4D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4846321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Handwritten and printed Bengali script character segmentation using morphological analysis</a:t>
            </a:r>
            <a:endParaRPr lang="en-US" noProof="0" dirty="0"/>
          </a:p>
        </p:txBody>
      </p:sp>
      <p:sp>
        <p:nvSpPr>
          <p:cNvPr id="14" name="Slide Number Placeholder 3">
            <a:extLst>
              <a:ext uri="{FF2B5EF4-FFF2-40B4-BE49-F238E27FC236}">
                <a16:creationId xmlns:a16="http://schemas.microsoft.com/office/drawing/2014/main" id="{B45E789F-2E61-4EC0-8973-681625FE51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5670" y="6446838"/>
            <a:ext cx="78001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F73BF96-A07C-4AAA-A37F-65151BD22A70}"/>
              </a:ext>
            </a:extLst>
          </p:cNvPr>
          <p:cNvSpPr/>
          <p:nvPr userDrawn="1"/>
        </p:nvSpPr>
        <p:spPr>
          <a:xfrm>
            <a:off x="4370251" y="2322780"/>
            <a:ext cx="1348378" cy="1218664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01277159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arallélogramme 14">
            <a:extLst>
              <a:ext uri="{FF2B5EF4-FFF2-40B4-BE49-F238E27FC236}">
                <a16:creationId xmlns:a16="http://schemas.microsoft.com/office/drawing/2014/main" id="{BA60C70F-7EE5-4927-B922-88B1C47FADB9}"/>
              </a:ext>
            </a:extLst>
          </p:cNvPr>
          <p:cNvSpPr/>
          <p:nvPr userDrawn="1"/>
        </p:nvSpPr>
        <p:spPr>
          <a:xfrm>
            <a:off x="7448550" y="0"/>
            <a:ext cx="2857500" cy="6858000"/>
          </a:xfrm>
          <a:prstGeom prst="parallelogram">
            <a:avLst>
              <a:gd name="adj" fmla="val 0"/>
            </a:avLst>
          </a:prstGeom>
          <a:solidFill>
            <a:schemeClr val="bg1">
              <a:lumMod val="9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48F6D61-9E88-4632-A0A8-CB2E0CC5DEAF}"/>
              </a:ext>
            </a:extLst>
          </p:cNvPr>
          <p:cNvSpPr/>
          <p:nvPr userDrawn="1"/>
        </p:nvSpPr>
        <p:spPr>
          <a:xfrm>
            <a:off x="4654312" y="507333"/>
            <a:ext cx="7537688" cy="48495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 userDrawn="1"/>
        </p:nvSpPr>
        <p:spPr>
          <a:xfrm>
            <a:off x="16" y="0"/>
            <a:ext cx="4654296" cy="58642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2200" y="1885125"/>
            <a:ext cx="3068833" cy="2093975"/>
          </a:xfrm>
        </p:spPr>
        <p:txBody>
          <a:bodyPr anchor="ctr">
            <a:normAutofit/>
          </a:bodyPr>
          <a:lstStyle>
            <a:lvl1pPr>
              <a:lnSpc>
                <a:spcPct val="90000"/>
              </a:lnSpc>
              <a:defRPr sz="4400" b="1" i="0">
                <a:solidFill>
                  <a:srgbClr val="FFFFFF"/>
                </a:solidFill>
                <a:latin typeface="+mn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18529" y="943430"/>
            <a:ext cx="4654296" cy="3977366"/>
          </a:xfrm>
        </p:spPr>
        <p:txBody>
          <a:bodyPr anchor="ctr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2" name="Date Placeholder 1">
            <a:extLst>
              <a:ext uri="{FF2B5EF4-FFF2-40B4-BE49-F238E27FC236}">
                <a16:creationId xmlns:a16="http://schemas.microsoft.com/office/drawing/2014/main" id="{F417C55D-4AE8-427B-A32E-9F54E007E68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34126" y="6446838"/>
            <a:ext cx="258485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F4CCD7F3-096C-4E5B-A197-7308942D4001}" type="datetime2">
              <a:rPr lang="en-US" noProof="0" smtClean="0"/>
              <a:pPr/>
              <a:t>Saturday, July 11, 2020</a:t>
            </a:fld>
            <a:endParaRPr lang="en-US" noProof="0" dirty="0"/>
          </a:p>
        </p:txBody>
      </p:sp>
      <p:sp>
        <p:nvSpPr>
          <p:cNvPr id="13" name="Footer Placeholder 2">
            <a:extLst>
              <a:ext uri="{FF2B5EF4-FFF2-40B4-BE49-F238E27FC236}">
                <a16:creationId xmlns:a16="http://schemas.microsoft.com/office/drawing/2014/main" id="{8C05871B-E916-40A4-B5E3-65C15F5A4D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4846321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Handwritten and printed Bengali script character segmentation using morphological analysis</a:t>
            </a:r>
            <a:endParaRPr lang="en-US" noProof="0" dirty="0"/>
          </a:p>
        </p:txBody>
      </p:sp>
      <p:sp>
        <p:nvSpPr>
          <p:cNvPr id="14" name="Slide Number Placeholder 3">
            <a:extLst>
              <a:ext uri="{FF2B5EF4-FFF2-40B4-BE49-F238E27FC236}">
                <a16:creationId xmlns:a16="http://schemas.microsoft.com/office/drawing/2014/main" id="{B45E789F-2E61-4EC0-8973-681625FE51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5670" y="6446838"/>
            <a:ext cx="78001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127F28F-6C7B-471B-9839-EF88426C1976}"/>
              </a:ext>
            </a:extLst>
          </p:cNvPr>
          <p:cNvSpPr/>
          <p:nvPr userDrawn="1"/>
        </p:nvSpPr>
        <p:spPr>
          <a:xfrm>
            <a:off x="4370251" y="2322780"/>
            <a:ext cx="1348378" cy="121866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49861624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/>
          </a:solidFill>
        </p:spPr>
        <p:txBody>
          <a:bodyPr lIns="457200" tIns="457200"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anchor="b">
            <a:noAutofit/>
          </a:bodyPr>
          <a:lstStyle>
            <a:lvl1pPr algn="ctr">
              <a:defRPr sz="4400" b="1">
                <a:solidFill>
                  <a:srgbClr val="FFFFFF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93B9231-83C0-4D2F-9AB1-C6ADB0CA623F}" type="datetime2">
              <a:rPr lang="en-US" noProof="0" smtClean="0"/>
              <a:pPr/>
              <a:t>Saturday, July 11, 2020</a:t>
            </a:fld>
            <a:endParaRPr lang="en-US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Handwritten and printed Bengali script character segmentation using morphological analysis</a:t>
            </a:r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A98EE3D-8CD1-4C3F-BD1C-C98C9596463C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4A4DE4A-F8EF-47D5-8C37-A9021C2BB6A3}"/>
              </a:ext>
            </a:extLst>
          </p:cNvPr>
          <p:cNvSpPr/>
          <p:nvPr userDrawn="1"/>
        </p:nvSpPr>
        <p:spPr>
          <a:xfrm>
            <a:off x="3536950" y="4535901"/>
            <a:ext cx="5118100" cy="12566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59869563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5506EE-1026-4F35-9ACC-BD05BE0F9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3A87B-D27B-4669-B2FF-81DA53395577}" type="datetime2">
              <a:rPr lang="en-US" smtClean="0"/>
              <a:pPr/>
              <a:t>Saturday, July 11, 2020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696E5F-8D95-4450-AE52-5438E6EDE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Handwritten and printed Bengali script character segmentation using morphological analysis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9B2253-74CC-409E-BEB0-F8EFCFCB5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604090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1346200"/>
            <a:ext cx="2448033" cy="4530725"/>
          </a:xfrm>
        </p:spPr>
        <p:txBody>
          <a:bodyPr vert="eaVert"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92200" y="1346200"/>
            <a:ext cx="7480300" cy="4530723"/>
          </a:xfrm>
        </p:spPr>
        <p:txBody>
          <a:bodyPr vert="eaVert" lIns="45720" tIns="0" rIns="45720" bIns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F33D6B0-F070-45C4-A472-19F432BE3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6E2B4-71DF-401A-A5AD-E3E9B678914B}" type="datetime2">
              <a:rPr lang="en-US" noProof="0" smtClean="0"/>
              <a:pPr/>
              <a:t>Saturday, July 11, 2020</a:t>
            </a:fld>
            <a:endParaRPr lang="en-US" noProof="0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975399F-DAB2-410D-967F-ED17E6F79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Handwritten and printed Bengali script character segmentation using morphological analysis</a:t>
            </a:r>
            <a:endParaRPr lang="en-US" noProof="0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762A46F-6BE5-4D12-9412-5CA7672EA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B443CC6-CDCA-4595-ADAE-DCB961FF1A8E}"/>
              </a:ext>
            </a:extLst>
          </p:cNvPr>
          <p:cNvSpPr/>
          <p:nvPr userDrawn="1"/>
        </p:nvSpPr>
        <p:spPr>
          <a:xfrm rot="16200000">
            <a:off x="8871481" y="-146580"/>
            <a:ext cx="1036320" cy="132948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9406879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arallélogramme 14">
            <a:extLst>
              <a:ext uri="{FF2B5EF4-FFF2-40B4-BE49-F238E27FC236}">
                <a16:creationId xmlns:a16="http://schemas.microsoft.com/office/drawing/2014/main" id="{D20796F3-5674-4AF5-9623-575731F82E52}"/>
              </a:ext>
            </a:extLst>
          </p:cNvPr>
          <p:cNvSpPr/>
          <p:nvPr userDrawn="1"/>
        </p:nvSpPr>
        <p:spPr>
          <a:xfrm>
            <a:off x="4667250" y="0"/>
            <a:ext cx="2857500" cy="6858000"/>
          </a:xfrm>
          <a:prstGeom prst="parallelogram">
            <a:avLst>
              <a:gd name="adj" fmla="val 0"/>
            </a:avLst>
          </a:prstGeom>
          <a:solidFill>
            <a:schemeClr val="bg1">
              <a:lumMod val="9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6548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8763756A-7B39-4EF2-9803-2EACB5D7FB84}" type="datetime2">
              <a:rPr lang="en-US" noProof="0" smtClean="0"/>
              <a:pPr/>
              <a:t>Saturday, July 11, 2020</a:t>
            </a:fld>
            <a:endParaRPr 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48463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Handwritten and printed Bengali script character segmentation using morphological analysis</a:t>
            </a:r>
            <a:endParaRPr lang="en-US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F25E55C-1C16-46C6-B789-A4B2BCEF8F86}"/>
              </a:ext>
            </a:extLst>
          </p:cNvPr>
          <p:cNvSpPr/>
          <p:nvPr userDrawn="1"/>
        </p:nvSpPr>
        <p:spPr>
          <a:xfrm>
            <a:off x="0" y="1011981"/>
            <a:ext cx="1036320" cy="6858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6902857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  <p:sldLayoutId id="2147483718" r:id="rId2"/>
    <p:sldLayoutId id="2147483707" r:id="rId3"/>
    <p:sldLayoutId id="2147483708" r:id="rId4"/>
    <p:sldLayoutId id="2147483719" r:id="rId5"/>
    <p:sldLayoutId id="2147483709" r:id="rId6"/>
    <p:sldLayoutId id="2147483716" r:id="rId7"/>
    <p:sldLayoutId id="2147483710" r:id="rId8"/>
    <p:sldLayoutId id="2147483711" r:id="rId9"/>
    <p:sldLayoutId id="2147483712" r:id="rId10"/>
    <p:sldLayoutId id="2147483727" r:id="rId11"/>
    <p:sldLayoutId id="2147483720" r:id="rId12"/>
    <p:sldLayoutId id="2147483721" r:id="rId13"/>
    <p:sldLayoutId id="2147483725" r:id="rId14"/>
    <p:sldLayoutId id="2147483726" r:id="rId15"/>
    <p:sldLayoutId id="2147483722" r:id="rId16"/>
    <p:sldLayoutId id="2147483723" r:id="rId17"/>
    <p:sldLayoutId id="2147483715" r:id="rId18"/>
    <p:sldLayoutId id="2147483713" r:id="rId19"/>
    <p:sldLayoutId id="2147483714" r:id="rId20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b="1" kern="1200" spc="-50" baseline="0">
          <a:solidFill>
            <a:schemeClr val="tx1">
              <a:lumMod val="75000"/>
              <a:lumOff val="25000"/>
            </a:schemeClr>
          </a:solidFill>
          <a:latin typeface="+mn-lt"/>
          <a:ea typeface="+mj-ea"/>
          <a:cs typeface="+mj-cs"/>
        </a:defRPr>
      </a:lvl1pPr>
    </p:titleStyle>
    <p:bodyStyle>
      <a:lvl1pPr marL="266700" indent="-266700" algn="l" defTabSz="914400" rtl="0" eaLnBrk="1" latinLnBrk="0" hangingPunct="1">
        <a:lnSpc>
          <a:spcPct val="10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Wingdings" panose="05000000000000000000" pitchFamily="2" charset="2"/>
        <a:buChar char="§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" panose="05000000000000000000" pitchFamily="2" charset="2"/>
        <a:buChar char="§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" panose="05000000000000000000" pitchFamily="2" charset="2"/>
        <a:buChar char="§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" panose="05000000000000000000" pitchFamily="2" charset="2"/>
        <a:buChar char="§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" panose="05000000000000000000" pitchFamily="2" charset="2"/>
        <a:buChar char="§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87" userDrawn="1">
          <p15:clr>
            <a:srgbClr val="F26B43"/>
          </p15:clr>
        </p15:guide>
        <p15:guide id="2" pos="688" userDrawn="1">
          <p15:clr>
            <a:srgbClr val="F26B43"/>
          </p15:clr>
        </p15:guide>
        <p15:guide id="3" pos="7038" userDrawn="1">
          <p15:clr>
            <a:srgbClr val="F26B43"/>
          </p15:clr>
        </p15:guide>
        <p15:guide id="4" orient="horz" pos="3702" userDrawn="1">
          <p15:clr>
            <a:srgbClr val="F26B43"/>
          </p15:clr>
        </p15:guide>
        <p15:guide id="5" orient="horz" pos="4065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.png"/><Relationship Id="rId4" Type="http://schemas.openxmlformats.org/officeDocument/2006/relationships/image" Target="../media/image5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4.emf"/><Relationship Id="rId5" Type="http://schemas.openxmlformats.org/officeDocument/2006/relationships/image" Target="../media/image13.emf"/><Relationship Id="rId4" Type="http://schemas.openxmlformats.org/officeDocument/2006/relationships/image" Target="../media/image12.e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8.emf"/><Relationship Id="rId5" Type="http://schemas.openxmlformats.org/officeDocument/2006/relationships/image" Target="../media/image17.emf"/><Relationship Id="rId4" Type="http://schemas.openxmlformats.org/officeDocument/2006/relationships/image" Target="../media/image16.e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0.e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2.em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em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4.emf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em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6.emf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EDFF363-B304-47B2-98CD-690A566BF29A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5303" y="63967"/>
            <a:ext cx="874956" cy="948991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990B93-2162-47EC-9A2E-203EB537AA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BD39E6-45BA-477B-A8BB-ECC8D72D4F34}" type="datetime2">
              <a:rPr lang="en-US" b="1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Saturday, July 11, 2020</a:t>
            </a:fld>
            <a:endParaRPr lang="en-US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804D47-AA3C-47CB-843C-E961400C0A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53208" y="6446838"/>
            <a:ext cx="6755803" cy="365125"/>
          </a:xfrm>
        </p:spPr>
        <p:txBody>
          <a:bodyPr/>
          <a:lstStyle/>
          <a:p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Handwritten and printed Bengali script character segmentation using morphological analysis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1015D2-AE02-4C7E-B382-CBA7B78B1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b="1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</a:t>
            </a:fld>
            <a:endParaRPr lang="en-US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E1A60A53-6019-454D-A61F-BE5B03D4CE92}"/>
              </a:ext>
            </a:extLst>
          </p:cNvPr>
          <p:cNvSpPr txBox="1">
            <a:spLocks/>
          </p:cNvSpPr>
          <p:nvPr/>
        </p:nvSpPr>
        <p:spPr bwMode="white">
          <a:xfrm>
            <a:off x="1097279" y="63967"/>
            <a:ext cx="11019418" cy="924941"/>
          </a:xfrm>
          <a:prstGeom prst="rect">
            <a:avLst/>
          </a:prstGeom>
          <a:ln>
            <a:solidFill>
              <a:schemeClr val="bg1"/>
            </a:solidFill>
          </a:ln>
          <a:effectLst/>
        </p:spPr>
        <p:txBody>
          <a:bodyPr vert="horz" lIns="91440" tIns="45720" rIns="91440" bIns="45720" rtlCol="0" anchor="ctr" anchorCtr="0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0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sz="2800" b="1" cap="none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Bangladesh Army International University Of Science And Technology</a:t>
            </a:r>
          </a:p>
        </p:txBody>
      </p:sp>
      <p:sp>
        <p:nvSpPr>
          <p:cNvPr id="16" name="Rectangle: Diagonal Corners Rounded 15">
            <a:extLst>
              <a:ext uri="{FF2B5EF4-FFF2-40B4-BE49-F238E27FC236}">
                <a16:creationId xmlns:a16="http://schemas.microsoft.com/office/drawing/2014/main" id="{4B8183E8-94E2-4373-953B-913E05A8B5CA}"/>
              </a:ext>
            </a:extLst>
          </p:cNvPr>
          <p:cNvSpPr/>
          <p:nvPr/>
        </p:nvSpPr>
        <p:spPr>
          <a:xfrm>
            <a:off x="378543" y="1742731"/>
            <a:ext cx="11434916" cy="1869257"/>
          </a:xfrm>
          <a:prstGeom prst="round2Diag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36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Title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ctr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Handwritten And Printed Bengali Script Character Segmentation Using Morphological Analysis</a:t>
            </a:r>
          </a:p>
        </p:txBody>
      </p:sp>
      <p:sp>
        <p:nvSpPr>
          <p:cNvPr id="18" name="Title 13">
            <a:extLst>
              <a:ext uri="{FF2B5EF4-FFF2-40B4-BE49-F238E27FC236}">
                <a16:creationId xmlns:a16="http://schemas.microsoft.com/office/drawing/2014/main" id="{1FA98F1C-AC9B-43EE-A79A-E8D61F7C89E5}"/>
              </a:ext>
            </a:extLst>
          </p:cNvPr>
          <p:cNvSpPr txBox="1">
            <a:spLocks/>
          </p:cNvSpPr>
          <p:nvPr/>
        </p:nvSpPr>
        <p:spPr bwMode="white">
          <a:xfrm>
            <a:off x="824753" y="3918262"/>
            <a:ext cx="4338917" cy="2597865"/>
          </a:xfrm>
          <a:prstGeom prst="rect">
            <a:avLst/>
          </a:prstGeom>
          <a:effectLst/>
        </p:spPr>
        <p:txBody>
          <a:bodyPr vert="horz" lIns="91440" tIns="45720" rIns="91440" bIns="45720" rtlCol="0" anchor="ctr" anchorCtr="0">
            <a:noAutofit/>
          </a:bodyPr>
          <a:lstStyle>
            <a:lvl1pPr algn="r" defTabSz="457200" rtl="0" eaLnBrk="1" latinLnBrk="0" hangingPunct="1">
              <a:spcBef>
                <a:spcPct val="0"/>
              </a:spcBef>
              <a:buNone/>
              <a:defRPr sz="3000" b="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en-US" sz="2000" b="1" cap="none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Supervised By:</a:t>
            </a:r>
            <a:br>
              <a:rPr lang="en-US" sz="2000" b="1" cap="none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b="1" cap="none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Arifa Islam Champa</a:t>
            </a:r>
            <a:br>
              <a:rPr lang="en-US" sz="2000" b="1" cap="none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b="1" cap="none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Lecturer</a:t>
            </a:r>
            <a:br>
              <a:rPr lang="en-US" sz="2000" b="1" cap="none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b="1" cap="none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CSE,BAIUST</a:t>
            </a:r>
            <a:br>
              <a:rPr lang="en-US" cap="none" dirty="0">
                <a:solidFill>
                  <a:prstClr val="black"/>
                </a:solidFill>
                <a:latin typeface="Century Gothic" panose="020B0502020202020204"/>
              </a:rPr>
            </a:br>
            <a:endParaRPr lang="en-US" cap="none" dirty="0">
              <a:solidFill>
                <a:prstClr val="black"/>
              </a:solidFill>
              <a:latin typeface="Century Gothic" panose="020B0502020202020204"/>
            </a:endParaRPr>
          </a:p>
        </p:txBody>
      </p:sp>
      <p:sp>
        <p:nvSpPr>
          <p:cNvPr id="20" name="Title 13">
            <a:extLst>
              <a:ext uri="{FF2B5EF4-FFF2-40B4-BE49-F238E27FC236}">
                <a16:creationId xmlns:a16="http://schemas.microsoft.com/office/drawing/2014/main" id="{C67600ED-980B-41DD-9AAF-6155BD8DDDD3}"/>
              </a:ext>
            </a:extLst>
          </p:cNvPr>
          <p:cNvSpPr txBox="1">
            <a:spLocks/>
          </p:cNvSpPr>
          <p:nvPr/>
        </p:nvSpPr>
        <p:spPr bwMode="white">
          <a:xfrm>
            <a:off x="5441577" y="3824117"/>
            <a:ext cx="6447368" cy="2597864"/>
          </a:xfrm>
          <a:prstGeom prst="rect">
            <a:avLst/>
          </a:prstGeom>
          <a:effectLst/>
        </p:spPr>
        <p:txBody>
          <a:bodyPr vert="horz" lIns="91440" tIns="45720" rIns="91440" bIns="45720" numCol="1" rtlCol="0" anchor="ctr" anchorCtr="0">
            <a:noAutofit/>
          </a:bodyPr>
          <a:lstStyle>
            <a:lvl1pPr algn="r" defTabSz="457200" rtl="0" eaLnBrk="1" latinLnBrk="0" hangingPunct="1">
              <a:spcBef>
                <a:spcPct val="0"/>
              </a:spcBef>
              <a:buNone/>
              <a:defRPr sz="3000" b="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en-US" sz="2000" b="1" cap="none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  <a:br>
              <a:rPr lang="en-US" sz="2000" b="1" cap="none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b="1" cap="none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Pritilata Biswas                 ID: 1103017</a:t>
            </a:r>
          </a:p>
          <a:p>
            <a:pPr algn="ctr">
              <a:lnSpc>
                <a:spcPct val="150000"/>
              </a:lnSpc>
            </a:pPr>
            <a:r>
              <a:rPr lang="en-US" sz="2000" b="1" cap="none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Sumaia</a:t>
            </a:r>
            <a:r>
              <a:rPr lang="en-US" sz="2000" b="1" cap="none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Afrin Prity            ID: 1103057</a:t>
            </a:r>
          </a:p>
          <a:p>
            <a:pPr algn="ctr">
              <a:lnSpc>
                <a:spcPct val="150000"/>
              </a:lnSpc>
            </a:pPr>
            <a:r>
              <a:rPr lang="en-US" sz="2000" b="1" cap="none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Parvez Abedin Siddique   </a:t>
            </a: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ID: 1103094 </a:t>
            </a:r>
          </a:p>
          <a:p>
            <a:pPr algn="ctr">
              <a:lnSpc>
                <a:spcPct val="150000"/>
              </a:lnSpc>
            </a:pPr>
            <a:r>
              <a:rPr lang="en-US" sz="2000" b="1" cap="none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</a:rPr>
              <a:t>Department of CSE,BAIUST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10A5C30F-185D-413F-9005-B41DD0FA09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Outline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2E5C437-AD27-4F68-B6B7-642AE8EF2161}"/>
              </a:ext>
            </a:extLst>
          </p:cNvPr>
          <p:cNvSpPr txBox="1"/>
          <p:nvPr/>
        </p:nvSpPr>
        <p:spPr>
          <a:xfrm>
            <a:off x="7151661" y="760757"/>
            <a:ext cx="3224009" cy="5632311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Motivation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Challenges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 Analysis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Limitations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4A1F7BE-F12A-45AE-B216-B948749D2F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4720" y="0"/>
            <a:ext cx="1092200" cy="1184617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AF44D2-ECF8-4B1B-8773-EB240A7483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A9EC6-9929-4A15-8F79-84FC27C7A84C}" type="datetime2">
              <a:rPr lang="en-US" b="1" noProof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Saturday, July 11, 2020</a:t>
            </a:fld>
            <a:endParaRPr lang="en-US" b="1" noProof="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D8CA67-0AAA-4DE0-BA41-2FEBAF9ADB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93059" y="6446838"/>
            <a:ext cx="6866965" cy="365125"/>
          </a:xfrm>
        </p:spPr>
        <p:txBody>
          <a:bodyPr/>
          <a:lstStyle/>
          <a:p>
            <a:r>
              <a:rPr lang="en-US" b="1" noProof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Handwritten and printed Bengali script character segmentation using morphological analysis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86FF83-7235-47B0-BA78-F1FE80DAF6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b="1" noProof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2</a:t>
            </a:fld>
            <a:endParaRPr lang="en-US" b="1" noProof="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73185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690374C-1A59-4A71-8148-5C0E026A3A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1315" y="1885125"/>
            <a:ext cx="3599719" cy="2093975"/>
          </a:xfrm>
        </p:spPr>
        <p:txBody>
          <a:bodyPr>
            <a:normAutofit/>
          </a:bodyPr>
          <a:lstStyle/>
          <a:p>
            <a:r>
              <a:rPr lang="en-US" sz="4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1A8359F-00D6-408F-ACF5-D8A1A931CD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02858" y="943430"/>
            <a:ext cx="5875699" cy="3977366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OCR is a major research area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Segmentation is the most challenging part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 a robust technique for segmentation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2F12D0B-F78A-4AEA-8280-6C4EFD2725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94720" y="0"/>
            <a:ext cx="1092200" cy="1184617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2D8DFC2-9793-4EB6-8E30-2E619EE0AC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6B7096-C5D7-4618-858A-E7E5B670BB78}" type="datetime2">
              <a:rPr lang="en-US" noProof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Saturday, July 11, 2020</a:t>
            </a:fld>
            <a:endParaRPr lang="en-US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05776B8-3084-4628-9C53-74E919A5F3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Handwritten and printed Bengali script character segmentation using morphological analysis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71AB559-2D51-42F5-B4E2-2E6FB23FDA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noProof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3</a:t>
            </a:fld>
            <a:endParaRPr lang="en-US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03882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02859" y="943430"/>
            <a:ext cx="6038662" cy="3977366"/>
          </a:xfrm>
        </p:spPr>
        <p:txBody>
          <a:bodyPr>
            <a:norm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Bengali script, no good OCR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OCR is the key tool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Script segmentation is the most challenging task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894BEC8-B77A-403C-91E3-2BD4B85E02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4720" y="0"/>
            <a:ext cx="1092200" cy="1184617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A85FB1-1C85-41E3-AD28-56522CA176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246C60-EF15-436F-A51F-4CEC2F471F29}" type="datetime2">
              <a:rPr lang="en-US" noProof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Saturday, July 11, 2020</a:t>
            </a:fld>
            <a:endParaRPr lang="en-US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4013EE-A350-4FE1-8AE6-9ADAA0D98C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Handwritten and printed Bengali script character segmentation using morphological analysis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130048-BC27-4EA0-9750-8F26918C3D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noProof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4</a:t>
            </a:fld>
            <a:endParaRPr lang="en-US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10A5C30F-185D-413F-9005-B41DD0FA09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Motivation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F620BE9-6EB4-44F0-8F7F-C57981E50973}"/>
              </a:ext>
            </a:extLst>
          </p:cNvPr>
          <p:cNvSpPr txBox="1"/>
          <p:nvPr/>
        </p:nvSpPr>
        <p:spPr>
          <a:xfrm>
            <a:off x="4943193" y="2081699"/>
            <a:ext cx="6980222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Clr>
                <a:schemeClr val="accent2"/>
              </a:buClr>
              <a:buFont typeface="Arial" pitchFamily="34" charset="0"/>
              <a:buChar char="•"/>
            </a:pPr>
            <a: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Printed text OCR have a huge success but handwritten still need to improved</a:t>
            </a:r>
          </a:p>
          <a:p>
            <a:pPr marL="342900" indent="-342900">
              <a:lnSpc>
                <a:spcPct val="150000"/>
              </a:lnSpc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Major problem – removing connectedness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1741A29-8E3D-417F-A904-D20AC17C51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4720" y="0"/>
            <a:ext cx="1092200" cy="1184617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8A769F9-01A6-4771-9A33-E4ADF02707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D7D9E-9F9C-49C6-A42D-16EEBEB0A008}" type="datetime2">
              <a:rPr lang="en-US" b="1" noProof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Saturday, July 11, 2020</a:t>
            </a:fld>
            <a:endParaRPr lang="en-US" b="1" noProof="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8B1A843-C979-4423-9E9C-FB55C3068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3765" y="6446838"/>
            <a:ext cx="6980222" cy="365125"/>
          </a:xfrm>
        </p:spPr>
        <p:txBody>
          <a:bodyPr/>
          <a:lstStyle/>
          <a:p>
            <a:r>
              <a:rPr lang="en-US" b="1" noProof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Handwritten and printed Bengali script character segmentation using morphological analysis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33FB02-C996-4C16-852D-C7DC062AC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b="1" noProof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5</a:t>
            </a:fld>
            <a:endParaRPr lang="en-US" b="1" noProof="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86422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10A5C30F-185D-413F-9005-B41DD0FA09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460CDC7-8DBD-4205-838D-ADCA6DB7584B}"/>
              </a:ext>
            </a:extLst>
          </p:cNvPr>
          <p:cNvSpPr txBox="1"/>
          <p:nvPr/>
        </p:nvSpPr>
        <p:spPr>
          <a:xfrm>
            <a:off x="4668754" y="1885125"/>
            <a:ext cx="685328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00100" lvl="1" indent="-342900">
              <a:lnSpc>
                <a:spcPct val="150000"/>
              </a:lnSpc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Effective strategy for segmenting Bengali scripts</a:t>
            </a:r>
          </a:p>
          <a:p>
            <a:pPr marL="800100" lvl="1" indent="-342900">
              <a:lnSpc>
                <a:spcPct val="150000"/>
              </a:lnSpc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Reduce the segmentation error and time</a:t>
            </a:r>
          </a:p>
          <a:p>
            <a:pPr lvl="1">
              <a:lnSpc>
                <a:spcPct val="150000"/>
              </a:lnSpc>
              <a:buClr>
                <a:schemeClr val="accent2"/>
              </a:buClr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4D6E838-AE77-4EA2-9155-5B75B8762E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4720" y="0"/>
            <a:ext cx="1092200" cy="1184617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A909413-5FE1-4276-9571-301A5A54AA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AB2FC2-4CE9-4F02-BCB4-2BDE48E178BF}" type="datetime2">
              <a:rPr lang="en-US" b="1" noProof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Saturday, July 11, 2020</a:t>
            </a:fld>
            <a:endParaRPr lang="en-US" b="1" noProof="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D83339D-4754-4CCF-BABC-048E49857D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4118" y="6446838"/>
            <a:ext cx="6853289" cy="365125"/>
          </a:xfrm>
        </p:spPr>
        <p:txBody>
          <a:bodyPr/>
          <a:lstStyle/>
          <a:p>
            <a:r>
              <a:rPr lang="en-US" b="1" noProof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Handwritten and printed Bengali script character segmentation using morphological analysis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FEB922-14DB-4109-8A8B-B82D8D2851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b="1" noProof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6</a:t>
            </a:fld>
            <a:endParaRPr lang="en-US" b="1" noProof="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95877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</a:t>
            </a:r>
            <a:r>
              <a:rPr lang="en-US" dirty="0"/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b="1" dirty="0"/>
              <a:t>Segmentation of Bengali handwritten text into characters by recursive contour following by </a:t>
            </a:r>
            <a:r>
              <a:rPr lang="en-US" sz="2400" b="1" dirty="0" err="1"/>
              <a:t>Bishnu</a:t>
            </a:r>
            <a:r>
              <a:rPr lang="en-US" sz="2400" b="1" dirty="0"/>
              <a:t> and Choudhury[1]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b="1" dirty="0">
                <a:cs typeface="Times New Roman" panose="02020603050405020304" pitchFamily="18" charset="0"/>
              </a:rPr>
              <a:t>Got fairly good results if the sequent characters are not touching in the zone of contour following </a:t>
            </a:r>
          </a:p>
          <a:p>
            <a:r>
              <a:rPr lang="en-US" sz="2400" b="1" dirty="0"/>
              <a:t>Segmenting Bangla Text for Optical Recognition by Sattar[2]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b="1" dirty="0">
                <a:cs typeface="Times New Roman" panose="02020603050405020304" pitchFamily="18" charset="0"/>
              </a:rPr>
              <a:t>Examined the width of a single character sufficiently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EDFF363-B304-47B2-98CD-690A566BF2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4720" y="0"/>
            <a:ext cx="1092200" cy="1184617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990B93-2162-47EC-9A2E-203EB537AA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BD39E6-45BA-477B-A8BB-ECC8D72D4F34}" type="datetime2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Saturday, July 11, 2020</a:t>
            </a:fld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804D47-AA3C-47CB-843C-E961400C0A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Handwritten and printed Bengali script character segmentation using morphological analysis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1015D2-AE02-4C7E-B382-CBA7B78B1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7</a:t>
            </a:fld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7986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CE09A200-4838-4284-BD1E-19701CABB5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F55DFD7E-1293-4491-9929-0DBCDBB4E59D}"/>
              </a:ext>
            </a:extLst>
          </p:cNvPr>
          <p:cNvSpPr/>
          <p:nvPr/>
        </p:nvSpPr>
        <p:spPr>
          <a:xfrm>
            <a:off x="5458651" y="187875"/>
            <a:ext cx="3187408" cy="2026111"/>
          </a:xfrm>
          <a:prstGeom prst="ellipse">
            <a:avLst/>
          </a:prstGeom>
          <a:solidFill>
            <a:schemeClr val="accent2"/>
          </a:solidFill>
        </p:spPr>
        <p:style>
          <a:lnRef idx="0">
            <a:schemeClr val="lt1">
              <a:alpha val="0"/>
              <a:hueOff val="0"/>
              <a:satOff val="0"/>
              <a:lumOff val="0"/>
              <a:alphaOff val="0"/>
            </a:schemeClr>
          </a:lnRef>
          <a:fillRef idx="1">
            <a:schemeClr val="accent2">
              <a:hueOff val="0"/>
              <a:satOff val="0"/>
              <a:lumOff val="0"/>
              <a:alphaOff val="0"/>
            </a:schemeClr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/>
        </p:style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4C25EDFE-5926-489F-91E5-072C32F194B1}"/>
              </a:ext>
            </a:extLst>
          </p:cNvPr>
          <p:cNvSpPr/>
          <p:nvPr/>
        </p:nvSpPr>
        <p:spPr>
          <a:xfrm>
            <a:off x="5310400" y="2501845"/>
            <a:ext cx="2688225" cy="2026111"/>
          </a:xfrm>
          <a:prstGeom prst="ellipse">
            <a:avLst/>
          </a:prstGeom>
          <a:solidFill>
            <a:schemeClr val="accent2"/>
          </a:solidFill>
        </p:spPr>
        <p:style>
          <a:lnRef idx="0">
            <a:schemeClr val="lt1">
              <a:alpha val="0"/>
              <a:hueOff val="0"/>
              <a:satOff val="0"/>
              <a:lumOff val="0"/>
              <a:alphaOff val="0"/>
            </a:schemeClr>
          </a:lnRef>
          <a:fillRef idx="1">
            <a:schemeClr val="accent2">
              <a:hueOff val="0"/>
              <a:satOff val="0"/>
              <a:lumOff val="0"/>
              <a:alphaOff val="0"/>
            </a:schemeClr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/>
        </p:style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DC91B9B4-ACB1-4193-8DAB-75541D083352}"/>
              </a:ext>
            </a:extLst>
          </p:cNvPr>
          <p:cNvSpPr/>
          <p:nvPr/>
        </p:nvSpPr>
        <p:spPr>
          <a:xfrm>
            <a:off x="1640744" y="2557484"/>
            <a:ext cx="2597630" cy="2026111"/>
          </a:xfrm>
          <a:prstGeom prst="ellipse">
            <a:avLst/>
          </a:prstGeom>
          <a:solidFill>
            <a:schemeClr val="accent2"/>
          </a:solidFill>
        </p:spPr>
        <p:style>
          <a:lnRef idx="0">
            <a:schemeClr val="lt1">
              <a:alpha val="0"/>
              <a:hueOff val="0"/>
              <a:satOff val="0"/>
              <a:lumOff val="0"/>
              <a:alphaOff val="0"/>
            </a:schemeClr>
          </a:lnRef>
          <a:fillRef idx="1">
            <a:schemeClr val="accent2">
              <a:hueOff val="0"/>
              <a:satOff val="0"/>
              <a:lumOff val="0"/>
              <a:alphaOff val="0"/>
            </a:schemeClr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/>
        </p:style>
      </p:sp>
      <p:pic>
        <p:nvPicPr>
          <p:cNvPr id="22" name="Graphic 21" descr="Arrow Slight curve">
            <a:extLst>
              <a:ext uri="{FF2B5EF4-FFF2-40B4-BE49-F238E27FC236}">
                <a16:creationId xmlns:a16="http://schemas.microsoft.com/office/drawing/2014/main" id="{9A22ED98-A80C-41EC-9BC7-66FAA1955C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8782583">
            <a:off x="3418439" y="1697990"/>
            <a:ext cx="2471415" cy="914400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A0EEADF3-212E-428A-BB6A-C415BA258C1D}"/>
              </a:ext>
            </a:extLst>
          </p:cNvPr>
          <p:cNvSpPr txBox="1"/>
          <p:nvPr/>
        </p:nvSpPr>
        <p:spPr>
          <a:xfrm>
            <a:off x="5742131" y="574462"/>
            <a:ext cx="241321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Bengali Script 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6D2EADE-B09C-4A09-A47A-F7B043AB5838}"/>
              </a:ext>
            </a:extLst>
          </p:cNvPr>
          <p:cNvSpPr txBox="1"/>
          <p:nvPr/>
        </p:nvSpPr>
        <p:spPr>
          <a:xfrm>
            <a:off x="1678195" y="3222512"/>
            <a:ext cx="250122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Preprocessing 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4263ADA-4611-4D36-89C7-38F9875F7532}"/>
              </a:ext>
            </a:extLst>
          </p:cNvPr>
          <p:cNvSpPr txBox="1"/>
          <p:nvPr/>
        </p:nvSpPr>
        <p:spPr>
          <a:xfrm>
            <a:off x="5452219" y="2933471"/>
            <a:ext cx="245600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Line Segmentation  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38A9900E-BA68-4DA6-84A9-A0E2AA641A6C}"/>
              </a:ext>
            </a:extLst>
          </p:cNvPr>
          <p:cNvSpPr/>
          <p:nvPr/>
        </p:nvSpPr>
        <p:spPr>
          <a:xfrm>
            <a:off x="8929992" y="1467285"/>
            <a:ext cx="2688225" cy="2026111"/>
          </a:xfrm>
          <a:prstGeom prst="ellipse">
            <a:avLst/>
          </a:prstGeom>
          <a:solidFill>
            <a:schemeClr val="accent2"/>
          </a:solidFill>
        </p:spPr>
        <p:style>
          <a:lnRef idx="0">
            <a:schemeClr val="lt1">
              <a:alpha val="0"/>
              <a:hueOff val="0"/>
              <a:satOff val="0"/>
              <a:lumOff val="0"/>
              <a:alphaOff val="0"/>
            </a:schemeClr>
          </a:lnRef>
          <a:fillRef idx="1">
            <a:schemeClr val="accent2">
              <a:hueOff val="0"/>
              <a:satOff val="0"/>
              <a:lumOff val="0"/>
              <a:alphaOff val="0"/>
            </a:schemeClr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/>
        </p:style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A81CDD94-80B7-4E39-9191-D724AEA41C34}"/>
              </a:ext>
            </a:extLst>
          </p:cNvPr>
          <p:cNvSpPr/>
          <p:nvPr/>
        </p:nvSpPr>
        <p:spPr>
          <a:xfrm>
            <a:off x="6965349" y="4550075"/>
            <a:ext cx="2688225" cy="2026111"/>
          </a:xfrm>
          <a:prstGeom prst="ellipse">
            <a:avLst/>
          </a:prstGeom>
          <a:solidFill>
            <a:schemeClr val="accent2"/>
          </a:solidFill>
        </p:spPr>
        <p:style>
          <a:lnRef idx="0">
            <a:schemeClr val="lt1">
              <a:alpha val="0"/>
              <a:hueOff val="0"/>
              <a:satOff val="0"/>
              <a:lumOff val="0"/>
              <a:alphaOff val="0"/>
            </a:schemeClr>
          </a:lnRef>
          <a:fillRef idx="1">
            <a:schemeClr val="accent2">
              <a:hueOff val="0"/>
              <a:satOff val="0"/>
              <a:lumOff val="0"/>
              <a:alphaOff val="0"/>
            </a:schemeClr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/>
        </p:style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B563153-41E6-4634-AAFC-3CE5AD3EC19A}"/>
              </a:ext>
            </a:extLst>
          </p:cNvPr>
          <p:cNvSpPr txBox="1"/>
          <p:nvPr/>
        </p:nvSpPr>
        <p:spPr>
          <a:xfrm>
            <a:off x="9046100" y="1961154"/>
            <a:ext cx="245600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Word Segmentation  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E5CB935-E5A7-4E68-B7C4-EA12E609E0B6}"/>
              </a:ext>
            </a:extLst>
          </p:cNvPr>
          <p:cNvSpPr txBox="1"/>
          <p:nvPr/>
        </p:nvSpPr>
        <p:spPr>
          <a:xfrm>
            <a:off x="7095732" y="4976864"/>
            <a:ext cx="245600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Character Segmentation  </a:t>
            </a:r>
          </a:p>
        </p:txBody>
      </p:sp>
      <p:pic>
        <p:nvPicPr>
          <p:cNvPr id="32" name="Graphic 31" descr="Arrow Slight curve">
            <a:extLst>
              <a:ext uri="{FF2B5EF4-FFF2-40B4-BE49-F238E27FC236}">
                <a16:creationId xmlns:a16="http://schemas.microsoft.com/office/drawing/2014/main" id="{04FBD34F-A0E0-4E4C-9F76-E8CE49E0D43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112398" y="3514899"/>
            <a:ext cx="1379628" cy="914400"/>
          </a:xfrm>
          <a:prstGeom prst="rect">
            <a:avLst/>
          </a:prstGeom>
        </p:spPr>
      </p:pic>
      <p:pic>
        <p:nvPicPr>
          <p:cNvPr id="34" name="Graphic 33" descr="Arrow Slight curve">
            <a:extLst>
              <a:ext uri="{FF2B5EF4-FFF2-40B4-BE49-F238E27FC236}">
                <a16:creationId xmlns:a16="http://schemas.microsoft.com/office/drawing/2014/main" id="{9BAA63D8-5C76-4415-AF81-7B8DD82763B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9458427">
            <a:off x="7795924" y="2533578"/>
            <a:ext cx="1379628" cy="914400"/>
          </a:xfrm>
          <a:prstGeom prst="rect">
            <a:avLst/>
          </a:prstGeom>
        </p:spPr>
      </p:pic>
      <p:pic>
        <p:nvPicPr>
          <p:cNvPr id="35" name="Graphic 34" descr="Arrow Slight curve">
            <a:extLst>
              <a:ext uri="{FF2B5EF4-FFF2-40B4-BE49-F238E27FC236}">
                <a16:creationId xmlns:a16="http://schemas.microsoft.com/office/drawing/2014/main" id="{C8B06512-5ADE-4437-B25B-D42161C22E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8782583">
            <a:off x="8550657" y="3514899"/>
            <a:ext cx="2566557" cy="9144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04470AAA-63C2-4D8A-B65A-75C68148C68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99800" y="16313"/>
            <a:ext cx="1092200" cy="1184617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769631F4-BC89-47FA-AAAA-B005E288E963}"/>
              </a:ext>
            </a:extLst>
          </p:cNvPr>
          <p:cNvSpPr txBox="1"/>
          <p:nvPr/>
        </p:nvSpPr>
        <p:spPr>
          <a:xfrm>
            <a:off x="652778" y="5627057"/>
            <a:ext cx="48961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Figure 1: Methodology.</a:t>
            </a:r>
            <a:endParaRPr lang="en-US" sz="2400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FDCACC5-C353-4061-99A7-60C59E19A0D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998625" y="6446837"/>
            <a:ext cx="2584850" cy="365125"/>
          </a:xfrm>
        </p:spPr>
        <p:txBody>
          <a:bodyPr/>
          <a:lstStyle/>
          <a:p>
            <a:fld id="{13E1D369-CCC5-49A5-B8BE-6DF4BED1114D}" type="datetime2">
              <a:rPr lang="en-US" b="1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Saturday, July 11, 2020</a:t>
            </a:fld>
            <a:endParaRPr lang="en-US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311FAF9-6353-477E-90D4-B74C0FCFCC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06187" y="6388834"/>
            <a:ext cx="6759161" cy="365125"/>
          </a:xfrm>
        </p:spPr>
        <p:txBody>
          <a:bodyPr/>
          <a:lstStyle/>
          <a:p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Handwritten and printed Bengali script character segmentation using morphological analysis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FE11EE-30EC-4947-BB31-F7B1814A9C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b="1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8</a:t>
            </a:fld>
            <a:endParaRPr lang="en-US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63312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CE09A200-4838-4284-BD1E-19701CABB5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Preprocessing </a:t>
            </a:r>
            <a:endParaRPr lang="en-IN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F55DFD7E-1293-4491-9929-0DBCDBB4E59D}"/>
              </a:ext>
            </a:extLst>
          </p:cNvPr>
          <p:cNvSpPr/>
          <p:nvPr/>
        </p:nvSpPr>
        <p:spPr>
          <a:xfrm>
            <a:off x="5708365" y="602713"/>
            <a:ext cx="3187408" cy="2026111"/>
          </a:xfrm>
          <a:prstGeom prst="ellipse">
            <a:avLst/>
          </a:prstGeom>
          <a:solidFill>
            <a:schemeClr val="accent2"/>
          </a:solidFill>
        </p:spPr>
        <p:style>
          <a:lnRef idx="0">
            <a:schemeClr val="lt1">
              <a:alpha val="0"/>
              <a:hueOff val="0"/>
              <a:satOff val="0"/>
              <a:lumOff val="0"/>
              <a:alphaOff val="0"/>
            </a:schemeClr>
          </a:lnRef>
          <a:fillRef idx="1">
            <a:schemeClr val="accent2">
              <a:hueOff val="0"/>
              <a:satOff val="0"/>
              <a:lumOff val="0"/>
              <a:alphaOff val="0"/>
            </a:schemeClr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/>
        </p:style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4C25EDFE-5926-489F-91E5-072C32F194B1}"/>
              </a:ext>
            </a:extLst>
          </p:cNvPr>
          <p:cNvSpPr/>
          <p:nvPr/>
        </p:nvSpPr>
        <p:spPr>
          <a:xfrm>
            <a:off x="1858285" y="3177184"/>
            <a:ext cx="2688225" cy="2026111"/>
          </a:xfrm>
          <a:prstGeom prst="ellipse">
            <a:avLst/>
          </a:prstGeom>
          <a:solidFill>
            <a:schemeClr val="accent2"/>
          </a:solidFill>
        </p:spPr>
        <p:style>
          <a:lnRef idx="0">
            <a:schemeClr val="lt1">
              <a:alpha val="0"/>
              <a:hueOff val="0"/>
              <a:satOff val="0"/>
              <a:lumOff val="0"/>
              <a:alphaOff val="0"/>
            </a:schemeClr>
          </a:lnRef>
          <a:fillRef idx="1">
            <a:schemeClr val="accent2">
              <a:hueOff val="0"/>
              <a:satOff val="0"/>
              <a:lumOff val="0"/>
              <a:alphaOff val="0"/>
            </a:schemeClr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/>
        </p:style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0EEADF3-212E-428A-BB6A-C415BA258C1D}"/>
              </a:ext>
            </a:extLst>
          </p:cNvPr>
          <p:cNvSpPr txBox="1"/>
          <p:nvPr/>
        </p:nvSpPr>
        <p:spPr>
          <a:xfrm>
            <a:off x="6126480" y="1116097"/>
            <a:ext cx="241321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Bilateral Filtering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4263ADA-4611-4D36-89C7-38F9875F7532}"/>
              </a:ext>
            </a:extLst>
          </p:cNvPr>
          <p:cNvSpPr txBox="1"/>
          <p:nvPr/>
        </p:nvSpPr>
        <p:spPr>
          <a:xfrm>
            <a:off x="1974393" y="3730712"/>
            <a:ext cx="245600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Gray Scale Filtering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A81CDD94-80B7-4E39-9191-D724AEA41C34}"/>
              </a:ext>
            </a:extLst>
          </p:cNvPr>
          <p:cNvSpPr/>
          <p:nvPr/>
        </p:nvSpPr>
        <p:spPr>
          <a:xfrm>
            <a:off x="8644474" y="3429000"/>
            <a:ext cx="2840944" cy="2327823"/>
          </a:xfrm>
          <a:prstGeom prst="ellipse">
            <a:avLst/>
          </a:prstGeom>
          <a:solidFill>
            <a:schemeClr val="accent2"/>
          </a:solidFill>
        </p:spPr>
        <p:style>
          <a:lnRef idx="0">
            <a:schemeClr val="lt1">
              <a:alpha val="0"/>
              <a:hueOff val="0"/>
              <a:satOff val="0"/>
              <a:lumOff val="0"/>
              <a:alphaOff val="0"/>
            </a:schemeClr>
          </a:lnRef>
          <a:fillRef idx="1">
            <a:schemeClr val="accent2">
              <a:hueOff val="0"/>
              <a:satOff val="0"/>
              <a:lumOff val="0"/>
              <a:alphaOff val="0"/>
            </a:schemeClr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/>
        </p:style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B563153-41E6-4634-AAFC-3CE5AD3EC19A}"/>
              </a:ext>
            </a:extLst>
          </p:cNvPr>
          <p:cNvSpPr txBox="1"/>
          <p:nvPr/>
        </p:nvSpPr>
        <p:spPr>
          <a:xfrm>
            <a:off x="8678843" y="4252714"/>
            <a:ext cx="28065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Binarization</a:t>
            </a:r>
            <a:endParaRPr lang="en-US" sz="3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4" name="Graphic 33" descr="Arrow Slight curve">
            <a:extLst>
              <a:ext uri="{FF2B5EF4-FFF2-40B4-BE49-F238E27FC236}">
                <a16:creationId xmlns:a16="http://schemas.microsoft.com/office/drawing/2014/main" id="{9BAA63D8-5C76-4415-AF81-7B8DD82763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2346721">
            <a:off x="8219758" y="2432566"/>
            <a:ext cx="1926444" cy="914400"/>
          </a:xfrm>
          <a:prstGeom prst="rect">
            <a:avLst/>
          </a:prstGeom>
        </p:spPr>
      </p:pic>
      <p:pic>
        <p:nvPicPr>
          <p:cNvPr id="18" name="Graphic 17" descr="Arrow Slight curve">
            <a:extLst>
              <a:ext uri="{FF2B5EF4-FFF2-40B4-BE49-F238E27FC236}">
                <a16:creationId xmlns:a16="http://schemas.microsoft.com/office/drawing/2014/main" id="{1F64C353-9383-4AB8-9DCE-80982E8B37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8911338">
            <a:off x="3829595" y="2373327"/>
            <a:ext cx="2416295" cy="9144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38E486E-634B-4FA5-9400-B9887BEC90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99800" y="10404"/>
            <a:ext cx="1092200" cy="118461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ED79257A-0A9E-4C14-9342-7D63B1CB8234}"/>
              </a:ext>
            </a:extLst>
          </p:cNvPr>
          <p:cNvSpPr txBox="1"/>
          <p:nvPr/>
        </p:nvSpPr>
        <p:spPr>
          <a:xfrm>
            <a:off x="1320954" y="5572157"/>
            <a:ext cx="31094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Figure 2: Preprocessing steps.</a:t>
            </a:r>
            <a:endParaRPr lang="en-US" sz="2400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B03297-3B80-4A53-8172-452ECEA276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D3C6FB-6B19-48DA-87DB-62149B546DB0}" type="datetime2">
              <a:rPr lang="en-US" b="1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Saturday, July 11, 2020</a:t>
            </a:fld>
            <a:endParaRPr lang="en-US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CF8325-3673-43CF-870D-770F4AE473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1012" y="6446838"/>
            <a:ext cx="6840069" cy="365125"/>
          </a:xfrm>
        </p:spPr>
        <p:txBody>
          <a:bodyPr/>
          <a:lstStyle/>
          <a:p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Handwritten and printed Bengali script character segmentation using morphological analysis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B7ABF1-E81A-4B98-8CC7-075BF89E5A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b="1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9</a:t>
            </a:fld>
            <a:endParaRPr lang="en-US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91613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CE09A200-4838-4284-BD1E-19701CABB5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>
            <a:normAutofit/>
          </a:bodyPr>
          <a:lstStyle/>
          <a:p>
            <a:b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Line Segmentation </a:t>
            </a:r>
            <a:endParaRPr lang="en-IN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DC91B9B4-ACB1-4193-8DAB-75541D083352}"/>
              </a:ext>
            </a:extLst>
          </p:cNvPr>
          <p:cNvSpPr/>
          <p:nvPr/>
        </p:nvSpPr>
        <p:spPr>
          <a:xfrm>
            <a:off x="1729862" y="1728588"/>
            <a:ext cx="2412943" cy="2168291"/>
          </a:xfrm>
          <a:prstGeom prst="ellipse">
            <a:avLst/>
          </a:prstGeom>
          <a:solidFill>
            <a:schemeClr val="accent2"/>
          </a:solidFill>
        </p:spPr>
        <p:style>
          <a:lnRef idx="0">
            <a:schemeClr val="lt1">
              <a:alpha val="0"/>
              <a:hueOff val="0"/>
              <a:satOff val="0"/>
              <a:lumOff val="0"/>
              <a:alphaOff val="0"/>
            </a:schemeClr>
          </a:lnRef>
          <a:fillRef idx="1">
            <a:schemeClr val="accent2">
              <a:hueOff val="0"/>
              <a:satOff val="0"/>
              <a:lumOff val="0"/>
              <a:alphaOff val="0"/>
            </a:schemeClr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/>
        </p:style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6D2EADE-B09C-4A09-A47A-F7B043AB5838}"/>
              </a:ext>
            </a:extLst>
          </p:cNvPr>
          <p:cNvSpPr txBox="1"/>
          <p:nvPr/>
        </p:nvSpPr>
        <p:spPr>
          <a:xfrm>
            <a:off x="1986751" y="2174765"/>
            <a:ext cx="189916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Horizontal Projection</a:t>
            </a:r>
          </a:p>
          <a:p>
            <a:pPr algn="ctr"/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Profile 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EF2BB01-F790-43E3-87A1-65C1EC2B9F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3495" y="3896879"/>
            <a:ext cx="4148340" cy="1648347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752A25E1-30BF-4C43-92C6-966E2C99AE6A}"/>
              </a:ext>
            </a:extLst>
          </p:cNvPr>
          <p:cNvSpPr txBox="1"/>
          <p:nvPr/>
        </p:nvSpPr>
        <p:spPr>
          <a:xfrm>
            <a:off x="417425" y="5740400"/>
            <a:ext cx="47430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Figure 3: Line Segmentation using HPP [3].</a:t>
            </a:r>
            <a:endParaRPr lang="en-US" sz="2400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2414964-6FD8-47DE-BAAA-F0AA06FF54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94720" y="-20042"/>
            <a:ext cx="1092200" cy="1184617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404965-D056-4492-920C-A1CD6C19B0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E3693B-535B-4975-B0FD-797EBC6F8E55}" type="datetime2">
              <a:rPr lang="en-US" b="1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Saturday, July 11, 2020</a:t>
            </a:fld>
            <a:endParaRPr lang="en-US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6E1C1C-5D6B-4EB8-ADF9-834FD80715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9977" y="6446838"/>
            <a:ext cx="6813176" cy="365125"/>
          </a:xfrm>
        </p:spPr>
        <p:txBody>
          <a:bodyPr/>
          <a:lstStyle/>
          <a:p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Handwritten and printed Bengali script character segmentation using morphological analysis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C69E78-235E-48F4-AC92-403E65AFC7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b="1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10</a:t>
            </a:fld>
            <a:endParaRPr lang="en-US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55EEAC43-987C-47A2-B1F4-E9E5F04CE8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84416" y="2108201"/>
            <a:ext cx="6157960" cy="3760891"/>
          </a:xfrm>
        </p:spPr>
        <p:txBody>
          <a:bodyPr>
            <a:normAutofit/>
          </a:bodyPr>
          <a:lstStyle/>
          <a:p>
            <a: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Projection profile of an image along horizontal axis</a:t>
            </a:r>
          </a:p>
          <a:p>
            <a: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Calculated for every row</a:t>
            </a:r>
          </a:p>
          <a:p>
            <a: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Sum of all column pixel values inside the row</a:t>
            </a:r>
          </a:p>
          <a:p>
            <a:endParaRPr lang="en-US" sz="2400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80263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CE09A200-4838-4284-BD1E-19701CABB5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>
            <a:normAutofit/>
          </a:bodyPr>
          <a:lstStyle/>
          <a:p>
            <a:b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Word Segmentation </a:t>
            </a:r>
            <a:endParaRPr lang="en-IN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C9A1DCE8-7027-4634-A3DF-8B4693402E9D}"/>
              </a:ext>
            </a:extLst>
          </p:cNvPr>
          <p:cNvSpPr/>
          <p:nvPr/>
        </p:nvSpPr>
        <p:spPr>
          <a:xfrm>
            <a:off x="1040723" y="1679239"/>
            <a:ext cx="2412943" cy="2168290"/>
          </a:xfrm>
          <a:prstGeom prst="ellipse">
            <a:avLst/>
          </a:prstGeom>
          <a:solidFill>
            <a:schemeClr val="accent2"/>
          </a:solidFill>
        </p:spPr>
        <p:style>
          <a:lnRef idx="0">
            <a:schemeClr val="lt1">
              <a:alpha val="0"/>
              <a:hueOff val="0"/>
              <a:satOff val="0"/>
              <a:lumOff val="0"/>
              <a:alphaOff val="0"/>
            </a:schemeClr>
          </a:lnRef>
          <a:fillRef idx="1">
            <a:schemeClr val="accent2">
              <a:hueOff val="0"/>
              <a:satOff val="0"/>
              <a:lumOff val="0"/>
              <a:alphaOff val="0"/>
            </a:schemeClr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/>
        </p:style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7767DF6-4130-4C97-AC93-A70BEA4C5A0A}"/>
              </a:ext>
            </a:extLst>
          </p:cNvPr>
          <p:cNvSpPr txBox="1"/>
          <p:nvPr/>
        </p:nvSpPr>
        <p:spPr>
          <a:xfrm>
            <a:off x="1318884" y="2124622"/>
            <a:ext cx="1856619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Vertical</a:t>
            </a:r>
          </a:p>
          <a:p>
            <a:pPr algn="ctr"/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Projection</a:t>
            </a:r>
          </a:p>
          <a:p>
            <a:pPr algn="ctr"/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Profile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7497771-970E-4932-80CB-570D63845E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3806" y="3986526"/>
            <a:ext cx="3366723" cy="1450757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747366EB-AD90-486A-A771-D8C292A93865}"/>
              </a:ext>
            </a:extLst>
          </p:cNvPr>
          <p:cNvSpPr txBox="1"/>
          <p:nvPr/>
        </p:nvSpPr>
        <p:spPr>
          <a:xfrm>
            <a:off x="502184" y="5727363"/>
            <a:ext cx="47430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Figure 4: Word Segmentation using VPP [3].</a:t>
            </a:r>
            <a:endParaRPr lang="en-US" sz="2400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2414964-6FD8-47DE-BAAA-F0AA06FF54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94720" y="-20042"/>
            <a:ext cx="1092200" cy="1184617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404965-D056-4492-920C-A1CD6C19B0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E3693B-535B-4975-B0FD-797EBC6F8E55}" type="datetime2">
              <a:rPr lang="en-US" b="1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Saturday, July 11, 2020</a:t>
            </a:fld>
            <a:endParaRPr lang="en-US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6E1C1C-5D6B-4EB8-ADF9-834FD80715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9977" y="6446838"/>
            <a:ext cx="6813176" cy="365125"/>
          </a:xfrm>
        </p:spPr>
        <p:txBody>
          <a:bodyPr/>
          <a:lstStyle/>
          <a:p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Handwritten and printed Bengali script character segmentation using morphological analysis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C69E78-235E-48F4-AC92-403E65AFC7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b="1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11</a:t>
            </a:fld>
            <a:endParaRPr lang="en-US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4439753C-7A90-4F21-95E2-D1E6E9D940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84416" y="2108201"/>
            <a:ext cx="6157960" cy="3760891"/>
          </a:xfrm>
        </p:spPr>
        <p:txBody>
          <a:bodyPr>
            <a:normAutofit/>
          </a:bodyPr>
          <a:lstStyle/>
          <a:p>
            <a: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Projection profile of an image along vertical axis</a:t>
            </a:r>
          </a:p>
          <a:p>
            <a: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Calculated for every column </a:t>
            </a:r>
          </a:p>
          <a:p>
            <a: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Sum of all row pixel values inside the column</a:t>
            </a:r>
          </a:p>
          <a:p>
            <a:endParaRPr lang="en-US" sz="2400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21551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CE09A200-4838-4284-BD1E-19701CABB5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>
            <a:normAutofit/>
          </a:bodyPr>
          <a:lstStyle/>
          <a:p>
            <a:b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Character Segmentation </a:t>
            </a:r>
            <a:endParaRPr lang="en-IN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DC91B9B4-ACB1-4193-8DAB-75541D083352}"/>
              </a:ext>
            </a:extLst>
          </p:cNvPr>
          <p:cNvSpPr/>
          <p:nvPr/>
        </p:nvSpPr>
        <p:spPr>
          <a:xfrm>
            <a:off x="393876" y="2049270"/>
            <a:ext cx="2925622" cy="2274961"/>
          </a:xfrm>
          <a:prstGeom prst="ellipse">
            <a:avLst/>
          </a:prstGeom>
          <a:solidFill>
            <a:schemeClr val="accent2"/>
          </a:solidFill>
        </p:spPr>
        <p:style>
          <a:lnRef idx="0">
            <a:schemeClr val="lt1">
              <a:alpha val="0"/>
              <a:hueOff val="0"/>
              <a:satOff val="0"/>
              <a:lumOff val="0"/>
              <a:alphaOff val="0"/>
            </a:schemeClr>
          </a:lnRef>
          <a:fillRef idx="1">
            <a:schemeClr val="accent2">
              <a:hueOff val="0"/>
              <a:satOff val="0"/>
              <a:lumOff val="0"/>
              <a:alphaOff val="0"/>
            </a:schemeClr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/>
        </p:style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6D2EADE-B09C-4A09-A47A-F7B043AB5838}"/>
              </a:ext>
            </a:extLst>
          </p:cNvPr>
          <p:cNvSpPr txBox="1"/>
          <p:nvPr/>
        </p:nvSpPr>
        <p:spPr>
          <a:xfrm>
            <a:off x="559074" y="2562130"/>
            <a:ext cx="260964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Morphological Opening Operation </a:t>
            </a:r>
          </a:p>
        </p:txBody>
      </p:sp>
      <p:pic>
        <p:nvPicPr>
          <p:cNvPr id="32" name="Graphic 31" descr="Arrow Slight curve">
            <a:extLst>
              <a:ext uri="{FF2B5EF4-FFF2-40B4-BE49-F238E27FC236}">
                <a16:creationId xmlns:a16="http://schemas.microsoft.com/office/drawing/2014/main" id="{04FBD34F-A0E0-4E4C-9F76-E8CE49E0D43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769777">
            <a:off x="2870528" y="3800789"/>
            <a:ext cx="1379628" cy="914400"/>
          </a:xfrm>
          <a:prstGeom prst="rect">
            <a:avLst/>
          </a:prstGeom>
        </p:spPr>
      </p:pic>
      <p:pic>
        <p:nvPicPr>
          <p:cNvPr id="34" name="Graphic 33" descr="Arrow Slight curve">
            <a:extLst>
              <a:ext uri="{FF2B5EF4-FFF2-40B4-BE49-F238E27FC236}">
                <a16:creationId xmlns:a16="http://schemas.microsoft.com/office/drawing/2014/main" id="{9BAA63D8-5C76-4415-AF81-7B8DD82763B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20250980">
            <a:off x="6357866" y="3674590"/>
            <a:ext cx="1379628" cy="914400"/>
          </a:xfrm>
          <a:prstGeom prst="rect">
            <a:avLst/>
          </a:prstGeom>
        </p:spPr>
      </p:pic>
      <p:sp>
        <p:nvSpPr>
          <p:cNvPr id="18" name="Oval 17">
            <a:extLst>
              <a:ext uri="{FF2B5EF4-FFF2-40B4-BE49-F238E27FC236}">
                <a16:creationId xmlns:a16="http://schemas.microsoft.com/office/drawing/2014/main" id="{08FEE480-22EF-4810-94C0-458D3D6BD5F6}"/>
              </a:ext>
            </a:extLst>
          </p:cNvPr>
          <p:cNvSpPr/>
          <p:nvPr/>
        </p:nvSpPr>
        <p:spPr>
          <a:xfrm>
            <a:off x="4137994" y="3785558"/>
            <a:ext cx="2412943" cy="2168290"/>
          </a:xfrm>
          <a:prstGeom prst="ellipse">
            <a:avLst/>
          </a:prstGeom>
          <a:solidFill>
            <a:schemeClr val="accent2"/>
          </a:solidFill>
        </p:spPr>
        <p:style>
          <a:lnRef idx="0">
            <a:schemeClr val="lt1">
              <a:alpha val="0"/>
              <a:hueOff val="0"/>
              <a:satOff val="0"/>
              <a:lumOff val="0"/>
              <a:alphaOff val="0"/>
            </a:schemeClr>
          </a:lnRef>
          <a:fillRef idx="1">
            <a:schemeClr val="accent2">
              <a:hueOff val="0"/>
              <a:satOff val="0"/>
              <a:lumOff val="0"/>
              <a:alphaOff val="0"/>
            </a:schemeClr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/>
        </p:style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A81CBEA-E3A6-42E5-80B2-83E2C0420AD0}"/>
              </a:ext>
            </a:extLst>
          </p:cNvPr>
          <p:cNvSpPr txBox="1"/>
          <p:nvPr/>
        </p:nvSpPr>
        <p:spPr>
          <a:xfrm>
            <a:off x="4378837" y="4170278"/>
            <a:ext cx="1856619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Vertical</a:t>
            </a:r>
          </a:p>
          <a:p>
            <a:pPr algn="ctr"/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Projection</a:t>
            </a:r>
          </a:p>
          <a:p>
            <a:pPr algn="ctr"/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Profile 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314FB54C-CD98-40C4-93DF-523067C338D0}"/>
              </a:ext>
            </a:extLst>
          </p:cNvPr>
          <p:cNvSpPr/>
          <p:nvPr/>
        </p:nvSpPr>
        <p:spPr>
          <a:xfrm>
            <a:off x="7553658" y="2274976"/>
            <a:ext cx="2925622" cy="2274961"/>
          </a:xfrm>
          <a:prstGeom prst="ellipse">
            <a:avLst/>
          </a:prstGeom>
          <a:solidFill>
            <a:schemeClr val="accent2"/>
          </a:solidFill>
        </p:spPr>
        <p:style>
          <a:lnRef idx="0">
            <a:schemeClr val="lt1">
              <a:alpha val="0"/>
              <a:hueOff val="0"/>
              <a:satOff val="0"/>
              <a:lumOff val="0"/>
              <a:alphaOff val="0"/>
            </a:schemeClr>
          </a:lnRef>
          <a:fillRef idx="1">
            <a:schemeClr val="accent2">
              <a:hueOff val="0"/>
              <a:satOff val="0"/>
              <a:lumOff val="0"/>
              <a:alphaOff val="0"/>
            </a:schemeClr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/>
        </p:style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5416AD7-A254-4ED6-8B71-89B919FEFEB3}"/>
              </a:ext>
            </a:extLst>
          </p:cNvPr>
          <p:cNvSpPr txBox="1"/>
          <p:nvPr/>
        </p:nvSpPr>
        <p:spPr>
          <a:xfrm>
            <a:off x="7711649" y="2763353"/>
            <a:ext cx="260964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Morphological Closing Operation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12AE7FA-0E30-423C-BD12-F39883E8F147}"/>
              </a:ext>
            </a:extLst>
          </p:cNvPr>
          <p:cNvSpPr txBox="1"/>
          <p:nvPr/>
        </p:nvSpPr>
        <p:spPr>
          <a:xfrm>
            <a:off x="3678423" y="6048263"/>
            <a:ext cx="48961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Figure 5: Character segmentation steps.</a:t>
            </a:r>
            <a:endParaRPr lang="en-US" sz="2400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3966309-C23C-44C2-88CA-65786099AE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94720" y="0"/>
            <a:ext cx="1092200" cy="1184617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0988CAE-15CF-41EE-9DE3-B54129D9FC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0D1777-4500-409F-875C-1842C36DCAEE}" type="datetime2">
              <a:rPr lang="en-US" b="1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Saturday, July 11, 2020</a:t>
            </a:fld>
            <a:endParaRPr lang="en-US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C8F1FCA-5843-4307-B3F0-5B185A8FD6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3765" y="6446838"/>
            <a:ext cx="6920753" cy="365125"/>
          </a:xfrm>
        </p:spPr>
        <p:txBody>
          <a:bodyPr/>
          <a:lstStyle/>
          <a:p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Handwritten and printed Bengali script character segmentation using morphological analysis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99C40B-B169-4F75-BC88-DE16B0CA5D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b="1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12</a:t>
            </a:fld>
            <a:endParaRPr lang="en-US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68261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CE09A200-4838-4284-BD1E-19701CABB5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>
            <a:normAutofit/>
          </a:bodyPr>
          <a:lstStyle/>
          <a:p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Morphological Image 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Processing </a:t>
            </a:r>
            <a:endParaRPr lang="en-IN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A81CBEA-E3A6-42E5-80B2-83E2C0420AD0}"/>
              </a:ext>
            </a:extLst>
          </p:cNvPr>
          <p:cNvSpPr txBox="1"/>
          <p:nvPr/>
        </p:nvSpPr>
        <p:spPr>
          <a:xfrm>
            <a:off x="4378837" y="4170278"/>
            <a:ext cx="1856619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Vertical</a:t>
            </a:r>
          </a:p>
          <a:p>
            <a:pPr algn="ctr"/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Projection</a:t>
            </a:r>
          </a:p>
          <a:p>
            <a:pPr algn="ctr"/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Profile 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3966309-C23C-44C2-88CA-65786099AE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4720" y="0"/>
            <a:ext cx="1092200" cy="1184617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0988CAE-15CF-41EE-9DE3-B54129D9FC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0D1777-4500-409F-875C-1842C36DCAEE}" type="datetime2">
              <a:rPr lang="en-US" b="1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Saturday, July 11, 2020</a:t>
            </a:fld>
            <a:endParaRPr lang="en-US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C8F1FCA-5843-4307-B3F0-5B185A8FD6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3765" y="6446838"/>
            <a:ext cx="6920753" cy="365125"/>
          </a:xfrm>
        </p:spPr>
        <p:txBody>
          <a:bodyPr/>
          <a:lstStyle/>
          <a:p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Handwritten and printed Bengali script character segmentation using morphological analysis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99C40B-B169-4F75-BC88-DE16B0CA5D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b="1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13</a:t>
            </a:fld>
            <a:endParaRPr lang="en-US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A464EC19-62B9-4354-A42C-8D74A062E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3428" y="2289832"/>
            <a:ext cx="9012242" cy="3760891"/>
          </a:xfrm>
        </p:spPr>
        <p:txBody>
          <a:bodyPr>
            <a:normAutofit/>
          </a:bodyPr>
          <a:lstStyle/>
          <a:p>
            <a: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Binary images may contain numerous imperfections</a:t>
            </a:r>
          </a:p>
          <a:p>
            <a: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Removes these imperfections</a:t>
            </a:r>
          </a:p>
          <a:p>
            <a: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Collection of non-linear operations </a:t>
            </a:r>
          </a:p>
          <a:p>
            <a:pPr lvl="3"/>
            <a:r>
              <a:rPr lang="en-US" sz="1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Erosion, Dilation, Opening, Closing</a:t>
            </a:r>
          </a:p>
          <a:p>
            <a: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Related to the shape [4]</a:t>
            </a:r>
          </a:p>
        </p:txBody>
      </p:sp>
    </p:spTree>
    <p:extLst>
      <p:ext uri="{BB962C8B-B14F-4D97-AF65-F5344CB8AC3E}">
        <p14:creationId xmlns:p14="http://schemas.microsoft.com/office/powerpoint/2010/main" val="15841719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CE09A200-4838-4284-BD1E-19701CABB5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>
            <a:normAutofit/>
          </a:bodyPr>
          <a:lstStyle/>
          <a:p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Morphological Image 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Processing </a:t>
            </a:r>
            <a:endParaRPr lang="en-IN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3966309-C23C-44C2-88CA-65786099AE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4720" y="0"/>
            <a:ext cx="1092200" cy="1184617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0988CAE-15CF-41EE-9DE3-B54129D9FC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0D1777-4500-409F-875C-1842C36DCAEE}" type="datetime2">
              <a:rPr lang="en-US" b="1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Saturday, July 11, 2020</a:t>
            </a:fld>
            <a:endParaRPr lang="en-US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C8F1FCA-5843-4307-B3F0-5B185A8FD6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3765" y="6446838"/>
            <a:ext cx="6920753" cy="365125"/>
          </a:xfrm>
        </p:spPr>
        <p:txBody>
          <a:bodyPr/>
          <a:lstStyle/>
          <a:p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Handwritten and printed Bengali script character segmentation using morphological analysis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99C40B-B169-4F75-BC88-DE16B0CA5D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b="1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14</a:t>
            </a:fld>
            <a:endParaRPr lang="en-US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E9B80CA-C801-41DA-A94E-E1DBBF9FE071}"/>
              </a:ext>
            </a:extLst>
          </p:cNvPr>
          <p:cNvSpPr txBox="1"/>
          <p:nvPr/>
        </p:nvSpPr>
        <p:spPr>
          <a:xfrm>
            <a:off x="1097281" y="2023963"/>
            <a:ext cx="46222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Opening Operation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94E8C2B-6F6D-4470-AFFB-AA5A091D4BD9}"/>
              </a:ext>
            </a:extLst>
          </p:cNvPr>
          <p:cNvSpPr txBox="1"/>
          <p:nvPr/>
        </p:nvSpPr>
        <p:spPr>
          <a:xfrm>
            <a:off x="6403694" y="2023963"/>
            <a:ext cx="48961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Closing Operation</a:t>
            </a:r>
            <a:endParaRPr lang="en-US" sz="3200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8228C41-388E-46A3-9AFC-9BE018081FD1}"/>
              </a:ext>
            </a:extLst>
          </p:cNvPr>
          <p:cNvSpPr txBox="1"/>
          <p:nvPr/>
        </p:nvSpPr>
        <p:spPr>
          <a:xfrm>
            <a:off x="1230367" y="2772231"/>
            <a:ext cx="48961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Removes pixels from the edge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02DCB87-1F3C-45F9-8485-093A5BAA5A93}"/>
              </a:ext>
            </a:extLst>
          </p:cNvPr>
          <p:cNvSpPr txBox="1"/>
          <p:nvPr/>
        </p:nvSpPr>
        <p:spPr>
          <a:xfrm>
            <a:off x="6744707" y="2772231"/>
            <a:ext cx="48961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Adds pixels from the edge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CAA54F10-C62F-40B4-B93A-E3DBB25B1D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1870" y="3684500"/>
            <a:ext cx="1066892" cy="1426588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C72CFD88-8605-4492-8E17-6707430A87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13739" y="3684500"/>
            <a:ext cx="1066892" cy="1426588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BA3BEF6A-CD11-4003-A451-408133687FFA}"/>
              </a:ext>
            </a:extLst>
          </p:cNvPr>
          <p:cNvSpPr/>
          <p:nvPr/>
        </p:nvSpPr>
        <p:spPr>
          <a:xfrm>
            <a:off x="1049848" y="5341822"/>
            <a:ext cx="231093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(a) Input Image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D363BA9-80AC-4176-805C-0DBC61F65216}"/>
              </a:ext>
            </a:extLst>
          </p:cNvPr>
          <p:cNvSpPr/>
          <p:nvPr/>
        </p:nvSpPr>
        <p:spPr>
          <a:xfrm>
            <a:off x="4791717" y="5341822"/>
            <a:ext cx="231093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(b) After opening[5]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B3E087D-A65A-4E49-BC38-4B51DB74AAC2}"/>
              </a:ext>
            </a:extLst>
          </p:cNvPr>
          <p:cNvSpPr/>
          <p:nvPr/>
        </p:nvSpPr>
        <p:spPr>
          <a:xfrm>
            <a:off x="8533586" y="5341822"/>
            <a:ext cx="231093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(c) After closing[6]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CA481A8-080D-4197-BB6E-6314945F2066}"/>
              </a:ext>
            </a:extLst>
          </p:cNvPr>
          <p:cNvSpPr txBox="1"/>
          <p:nvPr/>
        </p:nvSpPr>
        <p:spPr>
          <a:xfrm>
            <a:off x="3699938" y="5894330"/>
            <a:ext cx="51518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Figure 6: Morphological Image Processing. </a:t>
            </a:r>
            <a:endParaRPr lang="en-US" sz="2400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30D7CEA1-BE1E-48F2-8EAF-BD5445B4BA8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00513" y="3684500"/>
            <a:ext cx="1066892" cy="1426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16764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CE09A200-4838-4284-BD1E-19701CABB5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Dataset</a:t>
            </a:r>
            <a:endParaRPr lang="en-IN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A81CBEA-E3A6-42E5-80B2-83E2C0420AD0}"/>
              </a:ext>
            </a:extLst>
          </p:cNvPr>
          <p:cNvSpPr txBox="1"/>
          <p:nvPr/>
        </p:nvSpPr>
        <p:spPr>
          <a:xfrm>
            <a:off x="4378837" y="4170278"/>
            <a:ext cx="1856619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Vertical</a:t>
            </a:r>
          </a:p>
          <a:p>
            <a:pPr algn="ctr"/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Projection</a:t>
            </a:r>
          </a:p>
          <a:p>
            <a:pPr algn="ctr"/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Profile 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3966309-C23C-44C2-88CA-65786099AE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4720" y="0"/>
            <a:ext cx="1092200" cy="1184617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0988CAE-15CF-41EE-9DE3-B54129D9FC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0D1777-4500-409F-875C-1842C36DCAEE}" type="datetime2">
              <a:rPr lang="en-US" b="1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Saturday, July 11, 2020</a:t>
            </a:fld>
            <a:endParaRPr lang="en-US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C8F1FCA-5843-4307-B3F0-5B185A8FD6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3765" y="6446838"/>
            <a:ext cx="6920753" cy="365125"/>
          </a:xfrm>
        </p:spPr>
        <p:txBody>
          <a:bodyPr/>
          <a:lstStyle/>
          <a:p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Handwritten and printed Bengali script character segmentation using morphological analysis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99C40B-B169-4F75-BC88-DE16B0CA5D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b="1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15</a:t>
            </a:fld>
            <a:endParaRPr lang="en-US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A464EC19-62B9-4354-A42C-8D74A062E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3428" y="2023964"/>
            <a:ext cx="9012242" cy="4026760"/>
          </a:xfrm>
        </p:spPr>
        <p:txBody>
          <a:bodyPr>
            <a:normAutofit/>
          </a:bodyPr>
          <a:lstStyle/>
          <a:p>
            <a: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Book</a:t>
            </a:r>
          </a:p>
          <a:p>
            <a:pPr lvl="2"/>
            <a:r>
              <a:rPr lang="as-IN" sz="1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আবারো টুনটুনি ও আবারো ছোটাচ্চু</a:t>
            </a:r>
            <a:r>
              <a:rPr lang="en-US" sz="1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 Muhammed Zafar Iqbal</a:t>
            </a:r>
          </a:p>
          <a:p>
            <a: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Scanner </a:t>
            </a:r>
          </a:p>
          <a:p>
            <a:pPr lvl="2"/>
            <a:r>
              <a:rPr lang="en-US" sz="1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HP Desk Jet Ink Advantage 4675 All-in-One Printer</a:t>
            </a:r>
          </a:p>
          <a:p>
            <a: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Scanned in 300 dpi</a:t>
            </a:r>
          </a:p>
          <a:p>
            <a: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Wrote lines from the same book in A4 pages </a:t>
            </a:r>
          </a:p>
          <a:p>
            <a:endParaRPr lang="en-US" sz="2400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62261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CE09A200-4838-4284-BD1E-19701CABB5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>
            <a:normAutofit/>
          </a:bodyPr>
          <a:lstStyle/>
          <a:p>
            <a:r>
              <a:rPr lang="en-US" sz="5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 Analysis</a:t>
            </a:r>
            <a:br>
              <a:rPr lang="en-US" sz="4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Preprocessing (Printed Script) </a:t>
            </a:r>
            <a:endParaRPr lang="en-IN" sz="44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C44B879-7A13-4367-8708-C64E57FE3A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4720" y="0"/>
            <a:ext cx="1092200" cy="1184617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CFB1B2CE-5D15-45A3-AAD9-5920132EFD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383597"/>
            <a:ext cx="2916103" cy="273704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C1A1F8A-DF81-4FA8-8B4F-E2C1B716A9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16102" y="2383596"/>
            <a:ext cx="2778527" cy="273704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BC7EF1B-E861-4B32-A726-395515647B1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23452" y="2383596"/>
            <a:ext cx="2778528" cy="273704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9D878FE-1944-463B-8DD2-3000BF517A7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75898" y="2383596"/>
            <a:ext cx="2783887" cy="273704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32A9361-E5EC-41B2-9DB1-399EE671BBB3}"/>
              </a:ext>
            </a:extLst>
          </p:cNvPr>
          <p:cNvSpPr txBox="1"/>
          <p:nvPr/>
        </p:nvSpPr>
        <p:spPr>
          <a:xfrm>
            <a:off x="3678423" y="6036721"/>
            <a:ext cx="51518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Figure 7: Preprocessing for Bengali printed script.</a:t>
            </a:r>
            <a:endParaRPr lang="en-US" sz="2400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1BFC615-6EB7-4E56-BF6B-B7393ECBC340}"/>
              </a:ext>
            </a:extLst>
          </p:cNvPr>
          <p:cNvSpPr/>
          <p:nvPr/>
        </p:nvSpPr>
        <p:spPr>
          <a:xfrm>
            <a:off x="302582" y="5486348"/>
            <a:ext cx="231093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(a) Input Image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821CE92-305D-4DE9-84FE-36087979B226}"/>
              </a:ext>
            </a:extLst>
          </p:cNvPr>
          <p:cNvSpPr/>
          <p:nvPr/>
        </p:nvSpPr>
        <p:spPr>
          <a:xfrm>
            <a:off x="2613520" y="5486348"/>
            <a:ext cx="308111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(b) Applying Grayscale filter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7E7D359-6BFF-4415-8FC2-5BFC6FCB61C9}"/>
              </a:ext>
            </a:extLst>
          </p:cNvPr>
          <p:cNvSpPr/>
          <p:nvPr/>
        </p:nvSpPr>
        <p:spPr>
          <a:xfrm>
            <a:off x="6096000" y="5489970"/>
            <a:ext cx="293145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(c) Applying Bilateral filter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4EFAE29-47FD-4571-A395-27A61F3F318C}"/>
              </a:ext>
            </a:extLst>
          </p:cNvPr>
          <p:cNvSpPr/>
          <p:nvPr/>
        </p:nvSpPr>
        <p:spPr>
          <a:xfrm>
            <a:off x="9112321" y="5486348"/>
            <a:ext cx="307968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(d) Image </a:t>
            </a:r>
            <a:r>
              <a:rPr lang="en-US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Binarization</a:t>
            </a: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D32AB6B-F478-45CC-A209-6AF86AF690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F48D42-85B0-4CA3-A207-C65A841680B8}" type="datetime2">
              <a:rPr lang="en-US" b="1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Saturday, July 11, 2020</a:t>
            </a:fld>
            <a:endParaRPr lang="en-US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33AAA758-E1E0-4572-B97B-B909622C74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0307" y="6446838"/>
            <a:ext cx="6893858" cy="365125"/>
          </a:xfrm>
        </p:spPr>
        <p:txBody>
          <a:bodyPr/>
          <a:lstStyle/>
          <a:p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Handwritten and printed Bengali script character segmentation using morphological analysis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9507B282-4B3C-4B9B-A135-2A4CDD89C6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b="1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16</a:t>
            </a:fld>
            <a:endParaRPr lang="en-US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4266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CE09A200-4838-4284-BD1E-19701CABB5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>
            <a:normAutofit/>
          </a:bodyPr>
          <a:lstStyle/>
          <a:p>
            <a:r>
              <a:rPr lang="en-US" sz="5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 Analysis</a:t>
            </a:r>
            <a:br>
              <a:rPr lang="en-US" sz="4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Preprocessing (Handwritten Script) </a:t>
            </a:r>
            <a:endParaRPr lang="en-IN" sz="44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C44B879-7A13-4367-8708-C64E57FE3A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4720" y="0"/>
            <a:ext cx="1092200" cy="118461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32A9361-E5EC-41B2-9DB1-399EE671BBB3}"/>
              </a:ext>
            </a:extLst>
          </p:cNvPr>
          <p:cNvSpPr txBox="1"/>
          <p:nvPr/>
        </p:nvSpPr>
        <p:spPr>
          <a:xfrm>
            <a:off x="2758554" y="6080508"/>
            <a:ext cx="62087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Figure 8: Preprocessing for Bengali handwritten script.</a:t>
            </a:r>
            <a:endParaRPr lang="en-US" sz="2400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1BFC615-6EB7-4E56-BF6B-B7393ECBC340}"/>
              </a:ext>
            </a:extLst>
          </p:cNvPr>
          <p:cNvSpPr/>
          <p:nvPr/>
        </p:nvSpPr>
        <p:spPr>
          <a:xfrm>
            <a:off x="302582" y="5486348"/>
            <a:ext cx="231093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(a) Input Image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821CE92-305D-4DE9-84FE-36087979B226}"/>
              </a:ext>
            </a:extLst>
          </p:cNvPr>
          <p:cNvSpPr/>
          <p:nvPr/>
        </p:nvSpPr>
        <p:spPr>
          <a:xfrm>
            <a:off x="2713736" y="5486348"/>
            <a:ext cx="30121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(b) Applying Grayscale filter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7E7D359-6BFF-4415-8FC2-5BFC6FCB61C9}"/>
              </a:ext>
            </a:extLst>
          </p:cNvPr>
          <p:cNvSpPr/>
          <p:nvPr/>
        </p:nvSpPr>
        <p:spPr>
          <a:xfrm>
            <a:off x="6096000" y="5489970"/>
            <a:ext cx="287128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(c) Applying Bilateral filter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4EFAE29-47FD-4571-A395-27A61F3F318C}"/>
              </a:ext>
            </a:extLst>
          </p:cNvPr>
          <p:cNvSpPr/>
          <p:nvPr/>
        </p:nvSpPr>
        <p:spPr>
          <a:xfrm>
            <a:off x="9112321" y="5486348"/>
            <a:ext cx="307968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(d) Image </a:t>
            </a:r>
            <a:r>
              <a:rPr lang="en-US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Binarization</a:t>
            </a: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72F27F8-9EA7-4091-A167-60952E1973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7" y="2793508"/>
            <a:ext cx="2612202" cy="207897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F6C672EB-7F5F-4A65-8542-501B8B50BF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17692" y="2793508"/>
            <a:ext cx="3012147" cy="207897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E370FF62-880B-41D6-B57C-CF1541164B5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67634" y="2793508"/>
            <a:ext cx="3006894" cy="2081979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840AA920-BEA8-4460-BA20-916844D2654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74308" y="2790160"/>
            <a:ext cx="2448694" cy="2078631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7F87D7C-49B4-4C7E-A464-94C5F08C11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FDE1CB-2C19-4CC2-8782-27D16269A9EB}" type="datetime2">
              <a:rPr lang="en-US" b="1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Saturday, July 11, 2020</a:t>
            </a:fld>
            <a:endParaRPr lang="en-US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F56A0-E35B-4164-90E5-1AA5232526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0613" y="6446838"/>
            <a:ext cx="6786282" cy="365125"/>
          </a:xfrm>
        </p:spPr>
        <p:txBody>
          <a:bodyPr/>
          <a:lstStyle/>
          <a:p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Handwritten and printed Bengali script character segmentation using morphological analysis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4FB5AF-EA44-41B3-95EA-5A2B0FE196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b="1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17</a:t>
            </a:fld>
            <a:endParaRPr lang="en-US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10125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CE09A200-4838-4284-BD1E-19701CABB5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>
            <a:normAutofit/>
          </a:bodyPr>
          <a:lstStyle/>
          <a:p>
            <a:r>
              <a:rPr lang="en-US" sz="5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 Analysis</a:t>
            </a:r>
            <a:br>
              <a:rPr lang="en-US" sz="4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Line Segmentation</a:t>
            </a:r>
            <a:endParaRPr lang="en-IN" sz="44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C44B879-7A13-4367-8708-C64E57FE3A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4720" y="0"/>
            <a:ext cx="1092200" cy="118461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32A9361-E5EC-41B2-9DB1-399EE671BBB3}"/>
              </a:ext>
            </a:extLst>
          </p:cNvPr>
          <p:cNvSpPr txBox="1"/>
          <p:nvPr/>
        </p:nvSpPr>
        <p:spPr>
          <a:xfrm>
            <a:off x="3443334" y="6114756"/>
            <a:ext cx="59756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Figure 9: Line segmentation of Bengali script using HPP.</a:t>
            </a:r>
            <a:endParaRPr lang="en-US" sz="2400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1BFC615-6EB7-4E56-BF6B-B7393ECBC340}"/>
              </a:ext>
            </a:extLst>
          </p:cNvPr>
          <p:cNvSpPr/>
          <p:nvPr/>
        </p:nvSpPr>
        <p:spPr>
          <a:xfrm>
            <a:off x="2493520" y="5495349"/>
            <a:ext cx="256257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(a) Handwritten Script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4EFAE29-47FD-4571-A395-27A61F3F318C}"/>
              </a:ext>
            </a:extLst>
          </p:cNvPr>
          <p:cNvSpPr/>
          <p:nvPr/>
        </p:nvSpPr>
        <p:spPr>
          <a:xfrm>
            <a:off x="6409852" y="5495349"/>
            <a:ext cx="474582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(b) Printed Script 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E6E1489-2FF1-4147-9FCB-7C5D0D6CB3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1245" y="1936019"/>
            <a:ext cx="4312467" cy="298596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40A5AD3-A754-4B93-A091-B6E3BF6897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1936018"/>
            <a:ext cx="5189173" cy="2985961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9E1760E-2091-4485-AD89-F051173605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4097B-CFF0-4D04-A0E7-9D3A51A19B7B}" type="datetime2">
              <a:rPr lang="en-US" b="1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Saturday, July 11, 2020</a:t>
            </a:fld>
            <a:endParaRPr lang="en-US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4984C59A-43FF-4FEB-BB41-A4B5A6ECCE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69941" y="6456070"/>
            <a:ext cx="6779729" cy="365125"/>
          </a:xfrm>
        </p:spPr>
        <p:txBody>
          <a:bodyPr/>
          <a:lstStyle/>
          <a:p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Handwritten and printed Bengali script character segmentation using morphological analysis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2B774B59-BB89-4B79-98B5-82ABA1B258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b="1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18</a:t>
            </a:fld>
            <a:endParaRPr lang="en-US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587538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CE09A200-4838-4284-BD1E-19701CABB5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>
            <a:normAutofit/>
          </a:bodyPr>
          <a:lstStyle/>
          <a:p>
            <a:r>
              <a:rPr lang="en-US" sz="5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 Analysis</a:t>
            </a:r>
            <a:br>
              <a:rPr lang="en-US" sz="4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Word Segmentation</a:t>
            </a:r>
            <a:endParaRPr lang="en-IN" sz="44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C44B879-7A13-4367-8708-C64E57FE3A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4720" y="0"/>
            <a:ext cx="1092200" cy="118461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32A9361-E5EC-41B2-9DB1-399EE671BBB3}"/>
              </a:ext>
            </a:extLst>
          </p:cNvPr>
          <p:cNvSpPr txBox="1"/>
          <p:nvPr/>
        </p:nvSpPr>
        <p:spPr>
          <a:xfrm>
            <a:off x="3039036" y="6015816"/>
            <a:ext cx="62394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Figure 10: Word segmentation of Bengali script using VPP.</a:t>
            </a:r>
            <a:endParaRPr lang="en-US" sz="2400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1BFC615-6EB7-4E56-BF6B-B7393ECBC340}"/>
              </a:ext>
            </a:extLst>
          </p:cNvPr>
          <p:cNvSpPr/>
          <p:nvPr/>
        </p:nvSpPr>
        <p:spPr>
          <a:xfrm>
            <a:off x="1773348" y="5479211"/>
            <a:ext cx="277175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(a) Handwritten Script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4EFAE29-47FD-4571-A395-27A61F3F318C}"/>
              </a:ext>
            </a:extLst>
          </p:cNvPr>
          <p:cNvSpPr/>
          <p:nvPr/>
        </p:nvSpPr>
        <p:spPr>
          <a:xfrm>
            <a:off x="6605106" y="5479211"/>
            <a:ext cx="474582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(b) Printed Script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5D3CC3F-9056-4905-8000-91144EDF7C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025545"/>
            <a:ext cx="5764040" cy="291706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C01A8E1-47C4-474D-B070-D250B6B6D8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768" y="2023963"/>
            <a:ext cx="4934098" cy="2917061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5569E15-19B1-4581-B3C9-11BFF8F025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78B5AD-1853-4118-8E6C-BAF28C1D63C7}" type="datetime2">
              <a:rPr lang="en-US" b="1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Saturday, July 11, 2020</a:t>
            </a:fld>
            <a:endParaRPr lang="en-US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57C55C-8C49-4E5B-9C85-FE4DA19D7C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44071" y="6446838"/>
            <a:ext cx="6804211" cy="365125"/>
          </a:xfrm>
        </p:spPr>
        <p:txBody>
          <a:bodyPr/>
          <a:lstStyle/>
          <a:p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Handwritten and printed Bengali script character segmentation using morphological analysis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D599974-B1B4-4062-8552-363DEAB25D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b="1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19</a:t>
            </a:fld>
            <a:endParaRPr lang="en-US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637528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CE09A200-4838-4284-BD1E-19701CABB5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>
            <a:normAutofit/>
          </a:bodyPr>
          <a:lstStyle/>
          <a:p>
            <a:r>
              <a:rPr lang="en-US" sz="6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 Analysis</a:t>
            </a:r>
            <a:br>
              <a:rPr lang="en-US" sz="4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Character Segmentation</a:t>
            </a:r>
            <a:endParaRPr lang="en-IN" sz="44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C44B879-7A13-4367-8708-C64E57FE3A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4720" y="0"/>
            <a:ext cx="1092200" cy="118461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32A9361-E5EC-41B2-9DB1-399EE671BBB3}"/>
              </a:ext>
            </a:extLst>
          </p:cNvPr>
          <p:cNvSpPr txBox="1"/>
          <p:nvPr/>
        </p:nvSpPr>
        <p:spPr>
          <a:xfrm>
            <a:off x="3286408" y="6015221"/>
            <a:ext cx="65389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Figure 11: Character segmentation of Bengali script using VPP.</a:t>
            </a:r>
            <a:endParaRPr lang="en-US" sz="2400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1BFC615-6EB7-4E56-BF6B-B7393ECBC340}"/>
              </a:ext>
            </a:extLst>
          </p:cNvPr>
          <p:cNvSpPr/>
          <p:nvPr/>
        </p:nvSpPr>
        <p:spPr>
          <a:xfrm>
            <a:off x="1773348" y="5479211"/>
            <a:ext cx="246695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(a) Handwritten Script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4EFAE29-47FD-4571-A395-27A61F3F318C}"/>
              </a:ext>
            </a:extLst>
          </p:cNvPr>
          <p:cNvSpPr/>
          <p:nvPr/>
        </p:nvSpPr>
        <p:spPr>
          <a:xfrm>
            <a:off x="6605106" y="5479211"/>
            <a:ext cx="474582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(b) Printed Script 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116A2B1-2F70-4296-A88B-4EB8464BAD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9572" y="1904038"/>
            <a:ext cx="4976827" cy="340849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30435B2-6F69-49E8-BCB7-F58142CC3F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80" y="2023963"/>
            <a:ext cx="5790134" cy="3288570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5DBD5D-1624-4637-96FD-D4C29716CE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3BBCF8-995C-4310-9E04-61272E970FBA}" type="datetime2">
              <a:rPr lang="en-US" b="1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Saturday, July 11, 2020</a:t>
            </a:fld>
            <a:endParaRPr lang="en-US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F8204854-2732-41D7-A075-F8F6F64D55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77326" y="6492875"/>
            <a:ext cx="6764768" cy="365125"/>
          </a:xfrm>
        </p:spPr>
        <p:txBody>
          <a:bodyPr/>
          <a:lstStyle/>
          <a:p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Handwritten and printed Bengali script character segmentation using morphological analysis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277D1E3-59A8-4016-8F10-5471DC69FA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20</a:t>
            </a:fld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984412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10A5C30F-185D-413F-9005-B41DD0FA09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Tesseract OCR Engine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9F9CDFE-0A7C-4E3A-8170-1B1132715A94}"/>
              </a:ext>
            </a:extLst>
          </p:cNvPr>
          <p:cNvSpPr txBox="1"/>
          <p:nvPr/>
        </p:nvSpPr>
        <p:spPr>
          <a:xfrm>
            <a:off x="4668754" y="1885125"/>
            <a:ext cx="6853289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00100" lvl="1" indent="-342900">
              <a:lnSpc>
                <a:spcPct val="200000"/>
              </a:lnSpc>
              <a:buClr>
                <a:schemeClr val="accent2"/>
              </a:buClr>
              <a:buFont typeface="Wingdings" panose="05000000000000000000" pitchFamily="2" charset="2"/>
              <a:buChar char="v"/>
            </a:pPr>
            <a: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Works in various environments</a:t>
            </a:r>
          </a:p>
          <a:p>
            <a:pPr marL="800100" lvl="1" indent="-342900">
              <a:lnSpc>
                <a:spcPct val="200000"/>
              </a:lnSpc>
              <a:buClr>
                <a:schemeClr val="accent2"/>
              </a:buClr>
              <a:buFont typeface="Wingdings" panose="05000000000000000000" pitchFamily="2" charset="2"/>
              <a:buChar char="v"/>
            </a:pPr>
            <a: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Developed by the HP</a:t>
            </a:r>
          </a:p>
          <a:p>
            <a:pPr marL="800100" lvl="1" indent="-342900">
              <a:lnSpc>
                <a:spcPct val="200000"/>
              </a:lnSpc>
              <a:buClr>
                <a:schemeClr val="accent2"/>
              </a:buClr>
              <a:buFont typeface="Wingdings" panose="05000000000000000000" pitchFamily="2" charset="2"/>
              <a:buChar char="v"/>
            </a:pPr>
            <a: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Supported in 100+ languages </a:t>
            </a:r>
          </a:p>
          <a:p>
            <a:pPr marL="800100" lvl="1" indent="-342900">
              <a:lnSpc>
                <a:spcPct val="200000"/>
              </a:lnSpc>
              <a:buClr>
                <a:schemeClr val="accent2"/>
              </a:buClr>
              <a:buFont typeface="Wingdings" panose="05000000000000000000" pitchFamily="2" charset="2"/>
              <a:buChar char="v"/>
            </a:pPr>
            <a: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Widely used in most complicated OCR tasks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44210B4-CA00-4E57-B2AB-F2721F6DFE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4720" y="0"/>
            <a:ext cx="1092200" cy="1184617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9B4FA97-DBB3-424D-A342-B0FFC53339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FE038B-EA8B-4F38-BA5C-614278DF1D93}" type="datetime2">
              <a:rPr lang="en-US" b="1" noProof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Saturday, July 11, 2020</a:t>
            </a:fld>
            <a:endParaRPr lang="en-US" b="1" noProof="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EE85F91-7464-4F13-8314-83A5A0D8F1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4995" y="6446838"/>
            <a:ext cx="6853288" cy="365125"/>
          </a:xfrm>
        </p:spPr>
        <p:txBody>
          <a:bodyPr/>
          <a:lstStyle/>
          <a:p>
            <a:r>
              <a:rPr lang="en-US" b="1" noProof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Handwritten and printed Bengali script character segmentation using morphological analysis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67ECC2-3803-4988-9745-A49E8755AA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b="1" noProof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21</a:t>
            </a:fld>
            <a:endParaRPr lang="en-US" b="1" noProof="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106723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CE09A200-4838-4284-BD1E-19701CABB5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>
            <a:normAutofit/>
          </a:bodyPr>
          <a:lstStyle/>
          <a:p>
            <a:r>
              <a:rPr lang="en-US" sz="4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 Analysis </a:t>
            </a:r>
            <a:br>
              <a:rPr lang="en-US" sz="4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Comparison with Tesseract OCR Engine</a:t>
            </a:r>
            <a:endParaRPr lang="en-IN" sz="44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C44B879-7A13-4367-8708-C64E57FE3A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4720" y="0"/>
            <a:ext cx="1092200" cy="118461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32A9361-E5EC-41B2-9DB1-399EE671BBB3}"/>
              </a:ext>
            </a:extLst>
          </p:cNvPr>
          <p:cNvSpPr txBox="1"/>
          <p:nvPr/>
        </p:nvSpPr>
        <p:spPr>
          <a:xfrm>
            <a:off x="2210856" y="6077506"/>
            <a:ext cx="78312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Figure 12: Comparing of character segmentation with Tesseract OCR engine.</a:t>
            </a:r>
            <a:endParaRPr lang="en-US" sz="2400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1BFC615-6EB7-4E56-BF6B-B7393ECBC340}"/>
              </a:ext>
            </a:extLst>
          </p:cNvPr>
          <p:cNvSpPr/>
          <p:nvPr/>
        </p:nvSpPr>
        <p:spPr>
          <a:xfrm>
            <a:off x="1796166" y="5479211"/>
            <a:ext cx="316131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(a) Output from our system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4EFAE29-47FD-4571-A395-27A61F3F318C}"/>
              </a:ext>
            </a:extLst>
          </p:cNvPr>
          <p:cNvSpPr/>
          <p:nvPr/>
        </p:nvSpPr>
        <p:spPr>
          <a:xfrm>
            <a:off x="6605106" y="5479211"/>
            <a:ext cx="474582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(b) Output from the Tesseract OCR engine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D971766-BB25-44A1-88CA-BA62F03AB5D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45639"/>
          <a:stretch/>
        </p:blipFill>
        <p:spPr>
          <a:xfrm>
            <a:off x="595919" y="1883484"/>
            <a:ext cx="5305330" cy="345844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884F3B7-BD0A-4CCB-AC0C-A53E760728E2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46139"/>
          <a:stretch/>
        </p:blipFill>
        <p:spPr>
          <a:xfrm>
            <a:off x="6126480" y="1722805"/>
            <a:ext cx="5716139" cy="3619122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9815D2E-EF42-413C-8376-D81E4E4B5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30DDF3-69F5-4539-8231-8CD7962088C1}" type="datetime2">
              <a:rPr lang="en-US" b="1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Saturday, July 11, 2020</a:t>
            </a:fld>
            <a:endParaRPr lang="en-US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29B96C-50DF-4881-B3F2-049BD79590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2401" y="6446838"/>
            <a:ext cx="6840070" cy="365125"/>
          </a:xfrm>
        </p:spPr>
        <p:txBody>
          <a:bodyPr/>
          <a:lstStyle/>
          <a:p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Handwritten and printed Bengali script character segmentation using morphological analysis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21F4E9D-F614-4DCE-B9E7-25FDC813AA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b="1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22</a:t>
            </a:fld>
            <a:endParaRPr lang="en-US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205539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Accuracy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8BE8302-4C4D-4C05-8AC1-D85DE9FBC8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4720" y="0"/>
            <a:ext cx="1092200" cy="1184617"/>
          </a:xfrm>
          <a:prstGeom prst="rect">
            <a:avLst/>
          </a:prstGeom>
        </p:spPr>
      </p:pic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0A2F0D1A-2450-44A0-87BA-F73A057721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16073E-4497-4542-884F-6850C38342DB}" type="datetime2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Saturday, July 11, 2020</a:t>
            </a:fld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8D2EAB1B-FD5D-4A64-83EE-0E2A18F4D3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Handwritten and printed Bengali script character segmentation using morphological analysis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D42B2E9-A572-4F3E-BD94-4850440848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23</a:t>
            </a:fld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89C3E1E-10F6-4A41-8709-9224C77C7EDB}"/>
              </a:ext>
            </a:extLst>
          </p:cNvPr>
          <p:cNvSpPr txBox="1"/>
          <p:nvPr/>
        </p:nvSpPr>
        <p:spPr>
          <a:xfrm>
            <a:off x="1867304" y="2057511"/>
            <a:ext cx="82725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 1: Overall best accuracy and average accuracy of our system on printed script.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AFDE34D-06B0-4864-94E0-53956DCF289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6521"/>
          <a:stretch/>
        </p:blipFill>
        <p:spPr>
          <a:xfrm>
            <a:off x="1073218" y="2842788"/>
            <a:ext cx="10408010" cy="2670772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Accuracy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8BE8302-4C4D-4C05-8AC1-D85DE9FBC8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4720" y="0"/>
            <a:ext cx="1092200" cy="1184617"/>
          </a:xfrm>
          <a:prstGeom prst="rect">
            <a:avLst/>
          </a:prstGeom>
        </p:spPr>
      </p:pic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0A2F0D1A-2450-44A0-87BA-F73A057721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16073E-4497-4542-884F-6850C38342DB}" type="datetime2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Saturday, July 11, 2020</a:t>
            </a:fld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8D2EAB1B-FD5D-4A64-83EE-0E2A18F4D3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Handwritten and printed Bengali script character segmentation using morphological analysis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D42B2E9-A572-4F3E-BD94-4850440848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24</a:t>
            </a:fld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89C3E1E-10F6-4A41-8709-9224C77C7EDB}"/>
              </a:ext>
            </a:extLst>
          </p:cNvPr>
          <p:cNvSpPr txBox="1"/>
          <p:nvPr/>
        </p:nvSpPr>
        <p:spPr>
          <a:xfrm>
            <a:off x="1984519" y="2087661"/>
            <a:ext cx="82839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 2: Overall accuracy and average accuracy of our system of handwritten script.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Picture 10" descr="htht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6102" y="2821577"/>
            <a:ext cx="9588137" cy="2677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138141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Accuracy Graph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6EDAF98-BA18-422B-B858-6A3E455DF1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4720" y="0"/>
            <a:ext cx="1092200" cy="1184617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6B049A7-94C4-4D6E-8E6A-CE10D9973F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7F70DC-817D-44CD-A54C-AF3C30502533}" type="datetime2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Saturday, July 11, 2020</a:t>
            </a:fld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1811881-C655-4425-AA38-2137AC7EF7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Handwritten and printed Bengali script character segmentation using morphological analysis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049ACDF1-AAE1-44C5-9936-EC137AB4B8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25</a:t>
            </a:fld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07515A3-A3CB-4A4E-BB31-F5CC993070DA}"/>
              </a:ext>
            </a:extLst>
          </p:cNvPr>
          <p:cNvSpPr txBox="1"/>
          <p:nvPr/>
        </p:nvSpPr>
        <p:spPr>
          <a:xfrm>
            <a:off x="634698" y="5709429"/>
            <a:ext cx="115522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 12: Line segmentation, Word segmentation and Character segmentation of printed script.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 descr="lw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24743" y="1909550"/>
            <a:ext cx="8190411" cy="3420096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Accuracy Graph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6EDAF98-BA18-422B-B858-6A3E455DF1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4720" y="0"/>
            <a:ext cx="1092200" cy="1184617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6B049A7-94C4-4D6E-8E6A-CE10D9973F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7F70DC-817D-44CD-A54C-AF3C30502533}" type="datetime2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Saturday, July 11, 2020</a:t>
            </a:fld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1811881-C655-4425-AA38-2137AC7EF7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Handwritten and printed Bengali script character segmentation using morphological analysis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049ACDF1-AAE1-44C5-9936-EC137AB4B8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26</a:t>
            </a:fld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07515A3-A3CB-4A4E-BB31-F5CC993070DA}"/>
              </a:ext>
            </a:extLst>
          </p:cNvPr>
          <p:cNvSpPr txBox="1"/>
          <p:nvPr/>
        </p:nvSpPr>
        <p:spPr>
          <a:xfrm>
            <a:off x="634698" y="5709429"/>
            <a:ext cx="115522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 12: Line segmentation, Word segmentation and Character segmentation of handwritten script.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 descr="lwc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1" y="1961945"/>
            <a:ext cx="8242662" cy="35636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763055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Mainly focused on the segmentation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Line, Word and Character Segmentation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good accuracy of our system</a:t>
            </a:r>
          </a:p>
          <a:p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FD5E3DB-C3FB-40AA-902A-5791C2A127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4720" y="0"/>
            <a:ext cx="1092200" cy="1184617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D8E16B-7BFD-43A3-8A01-F20FA39B19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90A6E-B3DA-423D-99FF-81A019BD3FF3}" type="datetime2">
              <a:rPr lang="en-US" noProof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Saturday, July 11, 2020</a:t>
            </a:fld>
            <a:endParaRPr lang="en-US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4F2D12-E13D-47D5-97EE-9F72E07956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Handwritten and printed Bengali script character segmentation using morphological analysis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C08680-D19F-455B-A625-FEFA3FEF4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noProof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27</a:t>
            </a:fld>
            <a:endParaRPr lang="en-US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b="1" dirty="0"/>
              <a:t>More than 30 degree skewed lines</a:t>
            </a:r>
          </a:p>
          <a:p>
            <a:r>
              <a:rPr lang="en-US" sz="2400" b="1" dirty="0"/>
              <a:t>Inter-word gap equal to the inter-character gap</a:t>
            </a:r>
          </a:p>
          <a:p>
            <a:r>
              <a:rPr lang="en-US" sz="2400" b="1" dirty="0"/>
              <a:t>Overlapped characters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7D056-A642-43A3-B203-9C21AEAD9466}" type="datetime2">
              <a:rPr lang="en-US" noProof="0" smtClean="0"/>
              <a:pPr/>
              <a:t>Saturday, July 11, 2020</a:t>
            </a:fld>
            <a:endParaRPr lang="en-US" noProof="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Handwritten and printed Bengali script character segmentation using morphological analysis</a:t>
            </a:r>
            <a:endParaRPr lang="en-US" noProof="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noProof="0" smtClean="0"/>
              <a:pPr/>
              <a:t>28</a:t>
            </a:fld>
            <a:endParaRPr lang="en-US" noProof="0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Limitations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have a plan to use HMM (Hidden Markov </a:t>
            </a: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model)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19DE3B6-0279-40B4-B496-B8086E9DD4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4720" y="0"/>
            <a:ext cx="1092200" cy="1184617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2F7DE6-C497-4A27-B814-C446F0E2C7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236A9B-AAEF-4473-B088-3AFBF160982C}" type="datetime2">
              <a:rPr lang="en-US" noProof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Saturday, July 11, 2020</a:t>
            </a:fld>
            <a:endParaRPr lang="en-US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2E5F2C-7700-4212-B9A9-193660C621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Handwritten and printed Bengali script character segmentation using morphological analysis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006DDF-BB66-4EF4-AA98-5A5285E7B6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noProof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29</a:t>
            </a:fld>
            <a:endParaRPr lang="en-US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CE09A200-4838-4284-BD1E-19701CABB5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>
            <a:normAutofit/>
          </a:bodyPr>
          <a:lstStyle/>
          <a:p>
            <a:r>
              <a:rPr lang="en-US" sz="4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IN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C44B879-7A13-4367-8708-C64E57FE3A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4720" y="0"/>
            <a:ext cx="1092200" cy="118461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32A9361-E5EC-41B2-9DB1-399EE671BBB3}"/>
              </a:ext>
            </a:extLst>
          </p:cNvPr>
          <p:cNvSpPr txBox="1"/>
          <p:nvPr/>
        </p:nvSpPr>
        <p:spPr>
          <a:xfrm>
            <a:off x="1097280" y="2023963"/>
            <a:ext cx="10482102" cy="4191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A. </a:t>
            </a:r>
            <a:r>
              <a:rPr lang="en-US" sz="20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Bishnu</a:t>
            </a: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B.B. Chaudhuri (1999) “</a:t>
            </a:r>
            <a:r>
              <a:rPr lang="en-US" sz="2000" b="1" i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Segmentation of Bangla handwritten text into characters by recursive contour following</a:t>
            </a: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”, Proceedings of the Fifth International Conference on Document Analysis and Recognition. ICDAR '99: IEEE.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Md. </a:t>
            </a:r>
            <a:r>
              <a:rPr lang="en-US" sz="20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Abdus</a:t>
            </a: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Sattar, Khaled Mahmud, Humayun Arafat and A. F. </a:t>
            </a:r>
            <a:r>
              <a:rPr lang="en-US" sz="20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M.Noor</a:t>
            </a: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Uz</a:t>
            </a: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Zaman, “</a:t>
            </a:r>
            <a:r>
              <a:rPr lang="en-US" sz="2000" b="1" i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Segmenting Bangla Text for Optical Recognition</a:t>
            </a: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”ICCIT, 2007. ISBN: 978-1-4244-1550-2, pp. 1-6.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T. Zahan, M.R. Selim, M.S. Rahman, M.Z. Iqbal, (2018). “</a:t>
            </a:r>
            <a:r>
              <a:rPr lang="en-US" sz="2000" b="1" i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Connected Component Analysis Based Two Zone Approach for Bangla Character Segmentation</a:t>
            </a: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.” 1-4.10.1109/ICBSLP.2018.8554684.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A2A94D9-582F-424F-9E18-FB7A483E1F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ADA86-30F1-49D4-A0E4-FF628971F937}" type="datetime2">
              <a:rPr lang="en-US" b="1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Saturday, July 11, 2020</a:t>
            </a:fld>
            <a:endParaRPr lang="en-US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79FD3C7-226D-485C-834A-4EDB4490E6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44071" y="6446838"/>
            <a:ext cx="6795247" cy="365125"/>
          </a:xfrm>
        </p:spPr>
        <p:txBody>
          <a:bodyPr/>
          <a:lstStyle/>
          <a:p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Handwritten and printed Bengali script character segmentation using morphological analysis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D6A84F-4D3A-426F-B7D2-C7A996BF72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b="1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30</a:t>
            </a:fld>
            <a:endParaRPr lang="en-US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573478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CE09A200-4838-4284-BD1E-19701CABB5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>
            <a:normAutofit/>
          </a:bodyPr>
          <a:lstStyle/>
          <a:p>
            <a:r>
              <a:rPr lang="en-US" sz="4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IN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C44B879-7A13-4367-8708-C64E57FE3A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4720" y="0"/>
            <a:ext cx="1092200" cy="118461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32A9361-E5EC-41B2-9DB1-399EE671BBB3}"/>
              </a:ext>
            </a:extLst>
          </p:cNvPr>
          <p:cNvSpPr txBox="1"/>
          <p:nvPr/>
        </p:nvSpPr>
        <p:spPr>
          <a:xfrm>
            <a:off x="1097280" y="2023963"/>
            <a:ext cx="10482102" cy="2345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lnSpc>
                <a:spcPct val="150000"/>
              </a:lnSpc>
              <a:buFont typeface="+mj-lt"/>
              <a:buAutoNum type="arabicPeriod" startAt="4"/>
            </a:pP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J. H. Bosworth, S. T. Acton, “</a:t>
            </a:r>
            <a:r>
              <a:rPr lang="en-US" sz="2000" b="1" i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Morphological scale-space in image processing</a:t>
            </a: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”, Digital Signal Processing, Volume 13, Issue 2, 2003, Pages 338-367, ISSN 1051-2004, https://doi.org/10.1016/S1051-2004(02)00033-7.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rabicPeriod" startAt="4"/>
            </a:pP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https://homepages.inf.ed.ac.uk/rbf/HIPR2/open.html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rabicPeriod" startAt="4"/>
            </a:pP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https://homepages.inf.ed.ac.uk/rbf/HIPR2/close.html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A2A94D9-582F-424F-9E18-FB7A483E1F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ADA86-30F1-49D4-A0E4-FF628971F937}" type="datetime2">
              <a:rPr lang="en-US" b="1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Saturday, July 11, 2020</a:t>
            </a:fld>
            <a:endParaRPr lang="en-US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79FD3C7-226D-485C-834A-4EDB4490E6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773733" cy="365125"/>
          </a:xfrm>
        </p:spPr>
        <p:txBody>
          <a:bodyPr/>
          <a:lstStyle/>
          <a:p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Handwritten and printed Bengali script character segmentation using morphological analysis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D6A84F-4D3A-426F-B7D2-C7A996BF72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b="1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31</a:t>
            </a:fld>
            <a:endParaRPr lang="en-US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371139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39E3965E-AC41-4711-9D10-E25ABB132D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F5DC8C3-BA5F-4EED-BB9A-A14272BD82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FBDCECDC-EEE3-4128-AA5E-82A8C08796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5365BF64-4B30-4125-9A30-A1B08C80ED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89216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96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260EDE0-989C-4E16-AF94-F652294D82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07" y="4953000"/>
            <a:ext cx="12188952" cy="1905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305886-8ACA-4ED6-AA5B-215F6D741C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0051" y="5225240"/>
            <a:ext cx="10058400" cy="1143000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algn="ctr">
              <a:buNone/>
            </a:pPr>
            <a:r>
              <a:rPr lang="en-US" sz="2400" b="1" cap="all" spc="2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Any Questions?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7CFEE9C-9E9D-49F3-B6B8-78869818B3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8891" y="338000"/>
            <a:ext cx="2429684" cy="2635273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7D01ED8-AB5A-4EE2-BD60-7A0377CA55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256CBC-5AEB-4B81-BA1A-CBC332C575A4}" type="datetime2">
              <a:rPr lang="en-US" b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Saturday, July 11, 2020</a:t>
            </a:fld>
            <a:endParaRPr lang="en-US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6D50DB1-1A0C-4AAC-B08D-EF95F888D4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Handwritten and printed Bengali script character segmentation using morphological analysis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54E126-A77E-44FA-8874-12E9943A7C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b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32</a:t>
            </a:fld>
            <a:endParaRPr lang="en-US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7971368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VTI">
  <a:themeElements>
    <a:clrScheme name="Retrospect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etrospect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lassic Company All Hands_Win32_MS v3" id="{1F352A5D-0EBE-49A2-9FF7-DEF81AB6F3C6}" vid="{D35781EA-2188-4D84-8966-791644CE134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fa6e671f1cd7e4d96ff9652be322dd5e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4e2496f70b101db0b8013f30a071bbf7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4E879E6-8FFE-4154-8F2A-F7518B89B376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7E0A2CB4-6869-426F-8BC4-A32C90CBE26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941CA7C-A0BF-44EF-B2E5-7539C3B9B0B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Classic company all hands presentation</Template>
  <TotalTime>0</TotalTime>
  <Words>1375</Words>
  <Application>Microsoft Office PowerPoint</Application>
  <PresentationFormat>Widescreen</PresentationFormat>
  <Paragraphs>263</Paragraphs>
  <Slides>32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8" baseType="lpstr">
      <vt:lpstr>Arial</vt:lpstr>
      <vt:lpstr>Calibri</vt:lpstr>
      <vt:lpstr>Century Gothic</vt:lpstr>
      <vt:lpstr>Times New Roman</vt:lpstr>
      <vt:lpstr>Wingdings</vt:lpstr>
      <vt:lpstr>RetrospectVTI</vt:lpstr>
      <vt:lpstr>PowerPoint Presentation</vt:lpstr>
      <vt:lpstr>Outline</vt:lpstr>
      <vt:lpstr>Introduction</vt:lpstr>
      <vt:lpstr>Challenges</vt:lpstr>
      <vt:lpstr>Motivation </vt:lpstr>
      <vt:lpstr>Objective </vt:lpstr>
      <vt:lpstr>Literature Review</vt:lpstr>
      <vt:lpstr>Methodology </vt:lpstr>
      <vt:lpstr>Preprocessing </vt:lpstr>
      <vt:lpstr> Line Segmentation </vt:lpstr>
      <vt:lpstr> Word Segmentation </vt:lpstr>
      <vt:lpstr> Character Segmentation </vt:lpstr>
      <vt:lpstr>Morphological Image Processing </vt:lpstr>
      <vt:lpstr>Morphological Image Processing </vt:lpstr>
      <vt:lpstr>Dataset</vt:lpstr>
      <vt:lpstr>Result Analysis Preprocessing (Printed Script) </vt:lpstr>
      <vt:lpstr>Result Analysis Preprocessing (Handwritten Script) </vt:lpstr>
      <vt:lpstr>Result Analysis Line Segmentation</vt:lpstr>
      <vt:lpstr>Result Analysis Word Segmentation</vt:lpstr>
      <vt:lpstr>Result Analysis Character Segmentation</vt:lpstr>
      <vt:lpstr>Tesseract OCR Engine </vt:lpstr>
      <vt:lpstr>Result Analysis  Comparison with Tesseract OCR Engine</vt:lpstr>
      <vt:lpstr>Accuracy</vt:lpstr>
      <vt:lpstr>Accuracy</vt:lpstr>
      <vt:lpstr>Accuracy Graph</vt:lpstr>
      <vt:lpstr>Accuracy Graph</vt:lpstr>
      <vt:lpstr>Conclusion</vt:lpstr>
      <vt:lpstr>Limitations</vt:lpstr>
      <vt:lpstr>Future Scope</vt:lpstr>
      <vt:lpstr>References </vt:lpstr>
      <vt:lpstr>References 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cp:lastModifiedBy/>
  <cp:revision>1</cp:revision>
  <dcterms:created xsi:type="dcterms:W3CDTF">2020-07-05T17:08:13Z</dcterms:created>
  <dcterms:modified xsi:type="dcterms:W3CDTF">2020-07-10T18:38:43Z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
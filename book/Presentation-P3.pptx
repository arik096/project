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7" r:id="rId4"/>
  </p:sldMasterIdLst>
  <p:notesMasterIdLst>
    <p:notesMasterId r:id="rId36"/>
  </p:notesMasterIdLst>
  <p:handoutMasterIdLst>
    <p:handoutMasterId r:id="rId37"/>
  </p:handoutMasterIdLst>
  <p:sldIdLst>
    <p:sldId id="293" r:id="rId5"/>
    <p:sldId id="284" r:id="rId6"/>
    <p:sldId id="272" r:id="rId7"/>
    <p:sldId id="309" r:id="rId8"/>
    <p:sldId id="294" r:id="rId9"/>
    <p:sldId id="296" r:id="rId10"/>
    <p:sldId id="320" r:id="rId11"/>
    <p:sldId id="286" r:id="rId12"/>
    <p:sldId id="298" r:id="rId13"/>
    <p:sldId id="299" r:id="rId14"/>
    <p:sldId id="316" r:id="rId15"/>
    <p:sldId id="300" r:id="rId16"/>
    <p:sldId id="317" r:id="rId17"/>
    <p:sldId id="318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10" r:id="rId26"/>
    <p:sldId id="314" r:id="rId27"/>
    <p:sldId id="311" r:id="rId28"/>
    <p:sldId id="315" r:id="rId29"/>
    <p:sldId id="312" r:id="rId30"/>
    <p:sldId id="297" r:id="rId31"/>
    <p:sldId id="313" r:id="rId32"/>
    <p:sldId id="308" r:id="rId33"/>
    <p:sldId id="319" r:id="rId34"/>
    <p:sldId id="29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94639" autoAdjust="0"/>
  </p:normalViewPr>
  <p:slideViewPr>
    <p:cSldViewPr snapToGrid="0">
      <p:cViewPr varScale="1">
        <p:scale>
          <a:sx n="107" d="100"/>
          <a:sy n="107" d="100"/>
        </p:scale>
        <p:origin x="74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3AA0E9-8CD0-4A6E-A65E-A06028B83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2408B-C9AB-4665-AC99-B057BD0A4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08-Jul-20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1B215-531B-4869-BD98-BD3B1390B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53F21-4D67-455D-8074-E9E6EC26F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443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08-Jul-20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0661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4ECAD9-32EE-4091-BDA5-6BD15ACC5E5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258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D1D313A2-A4D4-40DF-A0C2-C29F64168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44BB-901F-4101-AAD9-F3F9660A6803}" type="datetime2">
              <a:rPr lang="en-US" noProof="0" smtClean="0"/>
              <a:t>Wednesday, July 8, 2020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élogramme 14">
            <a:extLst>
              <a:ext uri="{FF2B5EF4-FFF2-40B4-BE49-F238E27FC236}">
                <a16:creationId xmlns:a16="http://schemas.microsoft.com/office/drawing/2014/main" id="{F5AA8A10-E19C-430B-9D5D-8D12F92BFEC5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93D4F-3003-4D58-9AFB-356A0F800F42}"/>
              </a:ext>
            </a:extLst>
          </p:cNvPr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57BC-BF01-4133-9A7B-333F3E4796E1}" type="datetime2">
              <a:rPr lang="en-US" noProof="0" smtClean="0"/>
              <a:t>Wednesday, July 8, 2020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6028FDE-6655-4B55-B3B4-5B366034E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E1BBA-670B-4CAE-B839-50ADB23DDBC6}"/>
              </a:ext>
            </a:extLst>
          </p:cNvPr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39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6E837-5E5C-4ABC-B2B6-47473AC749E7}" type="datetime2">
              <a:rPr lang="en-US" smtClean="0"/>
              <a:t>Wednesday, July 8, 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7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élogramme 14">
            <a:extLst>
              <a:ext uri="{FF2B5EF4-FFF2-40B4-BE49-F238E27FC236}">
                <a16:creationId xmlns:a16="http://schemas.microsoft.com/office/drawing/2014/main" id="{98B82A56-7790-48EC-983D-AB8F703699B2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E1740BF-A968-409A-BEFD-8D81A8EA189C}" type="datetime2">
              <a:rPr lang="en-US" noProof="0" smtClean="0"/>
              <a:t>Wednesday, July 8, 2020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E2D5AB1-A71C-4946-A337-64380CF8CC9C}" type="datetime2">
              <a:rPr lang="en-US" noProof="0" smtClean="0"/>
              <a:t>Wednesday, July 8, 2020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48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E87B-542F-419C-88D5-9A3CC43211E6}" type="datetime2">
              <a:rPr lang="en-US" smtClean="0"/>
              <a:t>Wednesday, July 8, 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D4E80-31CA-4027-8BB1-5262B9EE189A}" type="datetime2">
              <a:rPr lang="en-US" smtClean="0"/>
              <a:t>Wednesday, July 8, 2020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4B30-F80E-444D-8B0E-80AB9BCEF812}" type="datetime2">
              <a:rPr lang="en-US" smtClean="0"/>
              <a:t>Wednesday, July 8, 2020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élogramme 14">
            <a:extLst>
              <a:ext uri="{FF2B5EF4-FFF2-40B4-BE49-F238E27FC236}">
                <a16:creationId xmlns:a16="http://schemas.microsoft.com/office/drawing/2014/main" id="{AF082EE3-41AA-4817-A1CC-C33DDB8F675F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B854B5-8C9F-4641-9122-5745D9CED2A4}" type="datetime2">
              <a:rPr lang="en-US" noProof="0" smtClean="0"/>
              <a:t>Wednesday, July 8, 2020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050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D52EFED-3821-4252-B066-81DF622ABB93}" type="datetime2">
              <a:rPr lang="en-US" noProof="0" smtClean="0"/>
              <a:t>Wednesday, July 8,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5" name="Connecteur droit 19">
            <a:extLst>
              <a:ext uri="{FF2B5EF4-FFF2-40B4-BE49-F238E27FC236}">
                <a16:creationId xmlns:a16="http://schemas.microsoft.com/office/drawing/2014/main" id="{D84C14C5-D99C-45CD-8001-AC745F4FB49B}"/>
              </a:ext>
            </a:extLst>
          </p:cNvPr>
          <p:cNvCxnSpPr>
            <a:cxnSpLocks/>
          </p:cNvCxnSpPr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9">
            <a:extLst>
              <a:ext uri="{FF2B5EF4-FFF2-40B4-BE49-F238E27FC236}">
                <a16:creationId xmlns:a16="http://schemas.microsoft.com/office/drawing/2014/main" id="{019842DD-D0AB-4E35-9AB2-7DBB6E266120}"/>
              </a:ext>
            </a:extLst>
          </p:cNvPr>
          <p:cNvCxnSpPr>
            <a:cxnSpLocks/>
          </p:cNvCxnSpPr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9">
            <a:extLst>
              <a:ext uri="{FF2B5EF4-FFF2-40B4-BE49-F238E27FC236}">
                <a16:creationId xmlns:a16="http://schemas.microsoft.com/office/drawing/2014/main" id="{832851A7-B301-4616-9843-9A0D06646DF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20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5F4B2-95AB-4443-9F28-03AD8938EA06}" type="datetime2">
              <a:rPr lang="en-US" smtClean="0"/>
              <a:t>Wednesday, July 8, 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2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7D056-A642-43A3-B203-9C21AEAD9466}" type="datetime2">
              <a:rPr lang="en-US" noProof="0" smtClean="0"/>
              <a:t>Wednesday, July 8,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C7DA98-7B92-4F45-80F8-1AEF72A601CF}"/>
              </a:ext>
            </a:extLst>
          </p:cNvPr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96815B-4256-4CE0-9FCF-3A2967CF5792}"/>
              </a:ext>
            </a:extLst>
          </p:cNvPr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1282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95F6834-5987-445D-80C1-222E1FC2D277}" type="datetime2">
              <a:rPr lang="en-US" noProof="0" smtClean="0"/>
              <a:t>Wednesday, July 8,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4305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05D4D86-BCF3-49B6-95C6-F23DD933B6B9}" type="datetime2">
              <a:rPr lang="en-US" noProof="0" smtClean="0"/>
              <a:t>Wednesday, July 8,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1046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7A86F2A-3DA7-4B63-9709-3605A14B6A55}" type="datetime2">
              <a:rPr lang="en-US" noProof="0" smtClean="0"/>
              <a:t>Wednesday, July 8,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46475-024F-4C71-99D3-501468ACAD11}"/>
              </a:ext>
            </a:extLst>
          </p:cNvPr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7602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3FE53B-DAB0-4423-9FCB-C9083E9C2645}" type="datetime2">
              <a:rPr lang="en-US" noProof="0" smtClean="0"/>
              <a:t>Wednesday, July 8,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73BF96-A07C-4AAA-A37F-65151BD22A70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277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4CCD7F3-096C-4E5B-A197-7308942D4001}" type="datetime2">
              <a:rPr lang="en-US" noProof="0" smtClean="0"/>
              <a:t>Wednesday, July 8,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27F28F-6C7B-471B-9839-EF88426C1976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861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3B9231-83C0-4D2F-9AB1-C6ADB0CA623F}" type="datetime2">
              <a:rPr lang="en-US" noProof="0" smtClean="0"/>
              <a:t>Wednesday, July 8, 2020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A4DE4A-F8EF-47D5-8C37-A9021C2BB6A3}"/>
              </a:ext>
            </a:extLst>
          </p:cNvPr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8695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3A87B-D27B-4669-B2FF-81DA53395577}" type="datetime2">
              <a:rPr lang="en-US" smtClean="0"/>
              <a:t>Wednesday, July 8, 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40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6E2B4-71DF-401A-A5AD-E3E9B678914B}" type="datetime2">
              <a:rPr lang="en-US" noProof="0" smtClean="0"/>
              <a:t>Wednesday, July 8, 2020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443CC6-CDCA-4595-ADAE-DCB961FF1A8E}"/>
              </a:ext>
            </a:extLst>
          </p:cNvPr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068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élogramme 14">
            <a:extLst>
              <a:ext uri="{FF2B5EF4-FFF2-40B4-BE49-F238E27FC236}">
                <a16:creationId xmlns:a16="http://schemas.microsoft.com/office/drawing/2014/main" id="{D20796F3-5674-4AF5-9623-575731F82E52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6548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763756A-7B39-4EF2-9803-2EACB5D7FB84}" type="datetime2">
              <a:rPr lang="en-US" noProof="0" smtClean="0"/>
              <a:t>Wednesday, July 8, 2020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25E55C-1C16-46C6-B789-A4B2BCEF8F86}"/>
              </a:ext>
            </a:extLst>
          </p:cNvPr>
          <p:cNvSpPr/>
          <p:nvPr userDrawn="1"/>
        </p:nvSpPr>
        <p:spPr>
          <a:xfrm>
            <a:off x="0" y="1011981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028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8" r:id="rId2"/>
    <p:sldLayoutId id="2147483707" r:id="rId3"/>
    <p:sldLayoutId id="2147483708" r:id="rId4"/>
    <p:sldLayoutId id="2147483719" r:id="rId5"/>
    <p:sldLayoutId id="2147483709" r:id="rId6"/>
    <p:sldLayoutId id="2147483716" r:id="rId7"/>
    <p:sldLayoutId id="2147483710" r:id="rId8"/>
    <p:sldLayoutId id="2147483711" r:id="rId9"/>
    <p:sldLayoutId id="2147483712" r:id="rId10"/>
    <p:sldLayoutId id="2147483727" r:id="rId11"/>
    <p:sldLayoutId id="2147483720" r:id="rId12"/>
    <p:sldLayoutId id="2147483721" r:id="rId13"/>
    <p:sldLayoutId id="2147483725" r:id="rId14"/>
    <p:sldLayoutId id="2147483726" r:id="rId15"/>
    <p:sldLayoutId id="2147483722" r:id="rId16"/>
    <p:sldLayoutId id="2147483723" r:id="rId17"/>
    <p:sldLayoutId id="2147483715" r:id="rId18"/>
    <p:sldLayoutId id="2147483713" r:id="rId19"/>
    <p:sldLayoutId id="2147483714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 userDrawn="1">
          <p15:clr>
            <a:srgbClr val="F26B43"/>
          </p15:clr>
        </p15:guide>
        <p15:guide id="2" pos="688" userDrawn="1">
          <p15:clr>
            <a:srgbClr val="F26B43"/>
          </p15:clr>
        </p15:guide>
        <p15:guide id="3" pos="7038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DFF363-B304-47B2-98CD-690A566BF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3" y="63967"/>
            <a:ext cx="874956" cy="94899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90B93-2162-47EC-9A2E-203EB537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D39E6-45BA-477B-A8BB-ECC8D72D4F34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July 9,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4D47-AA3C-47CB-843C-E961400C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3208" y="6446838"/>
            <a:ext cx="6755803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015D2-AE02-4C7E-B382-CBA7B78B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1A60A53-6019-454D-A61F-BE5B03D4CE92}"/>
              </a:ext>
            </a:extLst>
          </p:cNvPr>
          <p:cNvSpPr txBox="1">
            <a:spLocks/>
          </p:cNvSpPr>
          <p:nvPr/>
        </p:nvSpPr>
        <p:spPr bwMode="white">
          <a:xfrm>
            <a:off x="1097279" y="63967"/>
            <a:ext cx="11019418" cy="924941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0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8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International University Of Science And Technology</a:t>
            </a:r>
          </a:p>
        </p:txBody>
      </p:sp>
      <p:sp>
        <p:nvSpPr>
          <p:cNvPr id="13" name="Title 10">
            <a:extLst>
              <a:ext uri="{FF2B5EF4-FFF2-40B4-BE49-F238E27FC236}">
                <a16:creationId xmlns:a16="http://schemas.microsoft.com/office/drawing/2014/main" id="{43BF5B6C-477E-410F-8724-37CDAA8B3853}"/>
              </a:ext>
            </a:extLst>
          </p:cNvPr>
          <p:cNvSpPr txBox="1">
            <a:spLocks/>
          </p:cNvSpPr>
          <p:nvPr/>
        </p:nvSpPr>
        <p:spPr bwMode="white">
          <a:xfrm>
            <a:off x="1097279" y="988908"/>
            <a:ext cx="10177669" cy="761059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0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Thesis Presentation</a:t>
            </a:r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4B8183E8-94E2-4373-953B-913E05A8B5CA}"/>
              </a:ext>
            </a:extLst>
          </p:cNvPr>
          <p:cNvSpPr/>
          <p:nvPr/>
        </p:nvSpPr>
        <p:spPr>
          <a:xfrm>
            <a:off x="378542" y="1899486"/>
            <a:ext cx="11434916" cy="1869257"/>
          </a:xfrm>
          <a:prstGeom prst="round2Diag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18" name="Title 13">
            <a:extLst>
              <a:ext uri="{FF2B5EF4-FFF2-40B4-BE49-F238E27FC236}">
                <a16:creationId xmlns:a16="http://schemas.microsoft.com/office/drawing/2014/main" id="{1FA98F1C-AC9B-43EE-A79A-E8D61F7C89E5}"/>
              </a:ext>
            </a:extLst>
          </p:cNvPr>
          <p:cNvSpPr txBox="1">
            <a:spLocks/>
          </p:cNvSpPr>
          <p:nvPr/>
        </p:nvSpPr>
        <p:spPr bwMode="white">
          <a:xfrm>
            <a:off x="824753" y="3918262"/>
            <a:ext cx="4338917" cy="2597865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30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  <a:b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Arifa Islam Champa</a:t>
            </a:r>
            <a:b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  <a:b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CSE,BAIUST</a:t>
            </a:r>
            <a:br>
              <a:rPr lang="en-US" cap="none" dirty="0">
                <a:solidFill>
                  <a:prstClr val="black"/>
                </a:solidFill>
                <a:latin typeface="Century Gothic" panose="020B0502020202020204"/>
              </a:rPr>
            </a:br>
            <a:endParaRPr lang="en-US" cap="none"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20" name="Title 13">
            <a:extLst>
              <a:ext uri="{FF2B5EF4-FFF2-40B4-BE49-F238E27FC236}">
                <a16:creationId xmlns:a16="http://schemas.microsoft.com/office/drawing/2014/main" id="{C67600ED-980B-41DD-9AAF-6155BD8DDDD3}"/>
              </a:ext>
            </a:extLst>
          </p:cNvPr>
          <p:cNvSpPr txBox="1">
            <a:spLocks/>
          </p:cNvSpPr>
          <p:nvPr/>
        </p:nvSpPr>
        <p:spPr bwMode="white">
          <a:xfrm>
            <a:off x="5441577" y="3824117"/>
            <a:ext cx="6447368" cy="2597864"/>
          </a:xfrm>
          <a:prstGeom prst="rect">
            <a:avLst/>
          </a:prstGeom>
          <a:effectLst/>
        </p:spPr>
        <p:txBody>
          <a:bodyPr vert="horz" lIns="91440" tIns="45720" rIns="91440" bIns="45720" numCol="1" rtlCol="0" anchor="ctr" anchorCtr="0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30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Pritilata Biswas                 ID: 1103017</a:t>
            </a:r>
          </a:p>
          <a:p>
            <a:pPr algn="ctr">
              <a:lnSpc>
                <a:spcPct val="150000"/>
              </a:lnSpc>
            </a:pPr>
            <a:r>
              <a:rPr lang="en-US" sz="2000" b="1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Sumaia</a:t>
            </a: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Afrin Prity            ID: 1103057</a:t>
            </a:r>
          </a:p>
          <a:p>
            <a:pPr algn="ctr">
              <a:lnSpc>
                <a:spcPct val="150000"/>
              </a:lnSpc>
            </a:pP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Parvez Abedin Siddique  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ID: 1103094 </a:t>
            </a:r>
          </a:p>
          <a:p>
            <a:pPr algn="ctr">
              <a:lnSpc>
                <a:spcPct val="150000"/>
              </a:lnSpc>
            </a:pP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rPr>
              <a:t>Department of CSE,BAIUST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E5C437-AD27-4F68-B6B7-642AE8EF2161}"/>
              </a:ext>
            </a:extLst>
          </p:cNvPr>
          <p:cNvSpPr txBox="1"/>
          <p:nvPr/>
        </p:nvSpPr>
        <p:spPr>
          <a:xfrm>
            <a:off x="7151661" y="760757"/>
            <a:ext cx="3224009" cy="511531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1F7BE-F12A-45AE-B216-B948749D2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AF44D2-ECF8-4B1B-8773-EB240A748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9EC6-9929-4A15-8F79-84FC27C7A84C}" type="datetime2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D8CA67-0AAA-4DE0-BA41-2FEBAF9AD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3059" y="6446838"/>
            <a:ext cx="6866965" cy="365125"/>
          </a:xfrm>
        </p:spPr>
        <p:txBody>
          <a:bodyPr/>
          <a:lstStyle/>
          <a:p>
            <a:r>
              <a:rPr lang="en-US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6FF83-7235-47B0-BA78-F1FE80DAF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318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90374C-1A59-4A71-8148-5C0E026A3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15" y="1885125"/>
            <a:ext cx="3599719" cy="2093975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A8359F-00D6-408F-ACF5-D8A1A931C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2858" y="943430"/>
            <a:ext cx="5875699" cy="397736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is a major research area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is the most challenging part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 robust technique for segmentation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12D0B-F78A-4AEA-8280-6C4EFD272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D8DFC2-9793-4EB6-8E30-2E619EE0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7096-C5D7-4618-858A-E7E5B670BB78}" type="datetime2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5776B8-3084-4628-9C53-74E919A5F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AB559-2D51-42F5-B4E2-2E6FB23FD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388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2859" y="943430"/>
            <a:ext cx="6038662" cy="397736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Bengali script, there is no good OCR solution until now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a million pages of paper documents into electronic form, OCR is the key tool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an OCR the foremost step in the recognition process is the script segmentation of the document image which is the most challenging task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94BEC8-B77A-403C-91E3-2BD4B85E0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85FB1-1C85-41E3-AD28-56522CA1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6C60-EF15-436F-A51F-4CEC2F471F29}" type="datetime2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013EE-A350-4FE1-8AE6-9ADAA0D98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30048-BC27-4EA0-9750-8F26918C3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20BE9-6EB4-44F0-8F7F-C57981E50973}"/>
              </a:ext>
            </a:extLst>
          </p:cNvPr>
          <p:cNvSpPr txBox="1"/>
          <p:nvPr/>
        </p:nvSpPr>
        <p:spPr>
          <a:xfrm>
            <a:off x="4943193" y="2081699"/>
            <a:ext cx="698022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Printed text OCR have a huge success but handwritten still need to improved</a:t>
            </a: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problem – removing connectedness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741A29-8E3D-417F-A904-D20AC17C5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769F9-01A6-4771-9A33-E4ADF0270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7D9E-9F9C-49C6-A42D-16EEBEB0A008}" type="datetime2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1A843-C979-4423-9E9C-FB55C3068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765" y="6446838"/>
            <a:ext cx="6980222" cy="365125"/>
          </a:xfrm>
        </p:spPr>
        <p:txBody>
          <a:bodyPr/>
          <a:lstStyle/>
          <a:p>
            <a:r>
              <a:rPr lang="en-US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3FB02-C996-4C16-852D-C7DC062A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642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60CDC7-8DBD-4205-838D-ADCA6DB7584B}"/>
              </a:ext>
            </a:extLst>
          </p:cNvPr>
          <p:cNvSpPr txBox="1"/>
          <p:nvPr/>
        </p:nvSpPr>
        <p:spPr>
          <a:xfrm>
            <a:off x="4668754" y="1885125"/>
            <a:ext cx="68532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 strategy for segmenting Bengali scripts</a:t>
            </a: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the segmentation error and time</a:t>
            </a:r>
          </a:p>
          <a:p>
            <a:pPr lvl="1"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D6E838-AE77-4EA2-9155-5B75B8762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909413-5FE1-4276-9571-301A5A54A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2FC2-4CE9-4F02-BCB4-2BDE48E178BF}" type="datetime2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83339D-4754-4CCF-BABC-048E49857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118" y="6446838"/>
            <a:ext cx="6853289" cy="365125"/>
          </a:xfrm>
        </p:spPr>
        <p:txBody>
          <a:bodyPr/>
          <a:lstStyle/>
          <a:p>
            <a:r>
              <a:rPr lang="en-US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EB922-14DB-4109-8A8B-B82D8D285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587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 fairly good results if the sequent characters are not touching in the zone of contour following [1]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Examined the width of a single character sufficiently [2]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DFF363-B304-47B2-98CD-690A566BF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90B93-2162-47EC-9A2E-203EB537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D39E6-45BA-477B-A8BB-ECC8D72D4F34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Thursday, July 9,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4D47-AA3C-47CB-843C-E961400C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015D2-AE02-4C7E-B382-CBA7B78B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98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5DFD7E-1293-4491-9929-0DBCDBB4E59D}"/>
              </a:ext>
            </a:extLst>
          </p:cNvPr>
          <p:cNvSpPr/>
          <p:nvPr/>
        </p:nvSpPr>
        <p:spPr>
          <a:xfrm>
            <a:off x="5458651" y="187875"/>
            <a:ext cx="3187408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C25EDFE-5926-489F-91E5-072C32F194B1}"/>
              </a:ext>
            </a:extLst>
          </p:cNvPr>
          <p:cNvSpPr/>
          <p:nvPr/>
        </p:nvSpPr>
        <p:spPr>
          <a:xfrm>
            <a:off x="5310400" y="2501845"/>
            <a:ext cx="2688225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C91B9B4-ACB1-4193-8DAB-75541D083352}"/>
              </a:ext>
            </a:extLst>
          </p:cNvPr>
          <p:cNvSpPr/>
          <p:nvPr/>
        </p:nvSpPr>
        <p:spPr>
          <a:xfrm>
            <a:off x="1640744" y="2557484"/>
            <a:ext cx="2597630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pic>
        <p:nvPicPr>
          <p:cNvPr id="22" name="Graphic 21" descr="Arrow Slight curve">
            <a:extLst>
              <a:ext uri="{FF2B5EF4-FFF2-40B4-BE49-F238E27FC236}">
                <a16:creationId xmlns:a16="http://schemas.microsoft.com/office/drawing/2014/main" id="{9A22ED98-A80C-41EC-9BC7-66FAA1955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782583">
            <a:off x="3418439" y="1697990"/>
            <a:ext cx="2471415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0EEADF3-212E-428A-BB6A-C415BA258C1D}"/>
              </a:ext>
            </a:extLst>
          </p:cNvPr>
          <p:cNvSpPr txBox="1"/>
          <p:nvPr/>
        </p:nvSpPr>
        <p:spPr>
          <a:xfrm>
            <a:off x="5742131" y="574462"/>
            <a:ext cx="24132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Bengali Script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D2EADE-B09C-4A09-A47A-F7B043AB5838}"/>
              </a:ext>
            </a:extLst>
          </p:cNvPr>
          <p:cNvSpPr txBox="1"/>
          <p:nvPr/>
        </p:nvSpPr>
        <p:spPr>
          <a:xfrm>
            <a:off x="1678195" y="3222512"/>
            <a:ext cx="2501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263ADA-4611-4D36-89C7-38F9875F7532}"/>
              </a:ext>
            </a:extLst>
          </p:cNvPr>
          <p:cNvSpPr txBox="1"/>
          <p:nvPr/>
        </p:nvSpPr>
        <p:spPr>
          <a:xfrm>
            <a:off x="5452219" y="2933471"/>
            <a:ext cx="2456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Segmentation  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8A9900E-BA68-4DA6-84A9-A0E2AA641A6C}"/>
              </a:ext>
            </a:extLst>
          </p:cNvPr>
          <p:cNvSpPr/>
          <p:nvPr/>
        </p:nvSpPr>
        <p:spPr>
          <a:xfrm>
            <a:off x="8929992" y="1467285"/>
            <a:ext cx="2688225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81CDD94-80B7-4E39-9191-D724AEA41C34}"/>
              </a:ext>
            </a:extLst>
          </p:cNvPr>
          <p:cNvSpPr/>
          <p:nvPr/>
        </p:nvSpPr>
        <p:spPr>
          <a:xfrm>
            <a:off x="6965349" y="4550075"/>
            <a:ext cx="2688225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563153-41E6-4634-AAFC-3CE5AD3EC19A}"/>
              </a:ext>
            </a:extLst>
          </p:cNvPr>
          <p:cNvSpPr txBox="1"/>
          <p:nvPr/>
        </p:nvSpPr>
        <p:spPr>
          <a:xfrm>
            <a:off x="9046100" y="1961154"/>
            <a:ext cx="2456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Segmentation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5CB935-E5A7-4E68-B7C4-EA12E609E0B6}"/>
              </a:ext>
            </a:extLst>
          </p:cNvPr>
          <p:cNvSpPr txBox="1"/>
          <p:nvPr/>
        </p:nvSpPr>
        <p:spPr>
          <a:xfrm>
            <a:off x="7095732" y="4976864"/>
            <a:ext cx="2456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Segmentation  </a:t>
            </a:r>
          </a:p>
        </p:txBody>
      </p:sp>
      <p:pic>
        <p:nvPicPr>
          <p:cNvPr id="32" name="Graphic 31" descr="Arrow Slight curve">
            <a:extLst>
              <a:ext uri="{FF2B5EF4-FFF2-40B4-BE49-F238E27FC236}">
                <a16:creationId xmlns:a16="http://schemas.microsoft.com/office/drawing/2014/main" id="{04FBD34F-A0E0-4E4C-9F76-E8CE49E0D4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2398" y="3514899"/>
            <a:ext cx="1379628" cy="914400"/>
          </a:xfrm>
          <a:prstGeom prst="rect">
            <a:avLst/>
          </a:prstGeom>
        </p:spPr>
      </p:pic>
      <p:pic>
        <p:nvPicPr>
          <p:cNvPr id="34" name="Graphic 33" descr="Arrow Slight curve">
            <a:extLst>
              <a:ext uri="{FF2B5EF4-FFF2-40B4-BE49-F238E27FC236}">
                <a16:creationId xmlns:a16="http://schemas.microsoft.com/office/drawing/2014/main" id="{9BAA63D8-5C76-4415-AF81-7B8DD82763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458427">
            <a:off x="7795924" y="2533578"/>
            <a:ext cx="1379628" cy="914400"/>
          </a:xfrm>
          <a:prstGeom prst="rect">
            <a:avLst/>
          </a:prstGeom>
        </p:spPr>
      </p:pic>
      <p:pic>
        <p:nvPicPr>
          <p:cNvPr id="35" name="Graphic 34" descr="Arrow Slight curve">
            <a:extLst>
              <a:ext uri="{FF2B5EF4-FFF2-40B4-BE49-F238E27FC236}">
                <a16:creationId xmlns:a16="http://schemas.microsoft.com/office/drawing/2014/main" id="{C8B06512-5ADE-4437-B25B-D42161C22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782583">
            <a:off x="8550657" y="3514899"/>
            <a:ext cx="2566557" cy="914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4470AAA-63C2-4D8A-B65A-75C68148C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9800" y="16313"/>
            <a:ext cx="1092200" cy="118461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69631F4-BC89-47FA-AAAA-B005E288E963}"/>
              </a:ext>
            </a:extLst>
          </p:cNvPr>
          <p:cNvSpPr txBox="1"/>
          <p:nvPr/>
        </p:nvSpPr>
        <p:spPr>
          <a:xfrm>
            <a:off x="652778" y="5627057"/>
            <a:ext cx="4896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1: Methodology.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CACC5-C353-4061-99A7-60C59E19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98625" y="6446837"/>
            <a:ext cx="2584850" cy="365125"/>
          </a:xfrm>
        </p:spPr>
        <p:txBody>
          <a:bodyPr/>
          <a:lstStyle/>
          <a:p>
            <a:fld id="{13E1D369-CCC5-49A5-B8BE-6DF4BED1114D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11FAF9-6353-477E-90D4-B74C0FCFC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6187" y="6388834"/>
            <a:ext cx="6759161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E11EE-30EC-4947-BB31-F7B1814A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331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5DFD7E-1293-4491-9929-0DBCDBB4E59D}"/>
              </a:ext>
            </a:extLst>
          </p:cNvPr>
          <p:cNvSpPr/>
          <p:nvPr/>
        </p:nvSpPr>
        <p:spPr>
          <a:xfrm>
            <a:off x="5708365" y="602713"/>
            <a:ext cx="3187408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C25EDFE-5926-489F-91E5-072C32F194B1}"/>
              </a:ext>
            </a:extLst>
          </p:cNvPr>
          <p:cNvSpPr/>
          <p:nvPr/>
        </p:nvSpPr>
        <p:spPr>
          <a:xfrm>
            <a:off x="1858285" y="3177184"/>
            <a:ext cx="2688225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EEADF3-212E-428A-BB6A-C415BA258C1D}"/>
              </a:ext>
            </a:extLst>
          </p:cNvPr>
          <p:cNvSpPr txBox="1"/>
          <p:nvPr/>
        </p:nvSpPr>
        <p:spPr>
          <a:xfrm>
            <a:off x="6126480" y="1116097"/>
            <a:ext cx="24132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Bilateral Filtering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263ADA-4611-4D36-89C7-38F9875F7532}"/>
              </a:ext>
            </a:extLst>
          </p:cNvPr>
          <p:cNvSpPr txBox="1"/>
          <p:nvPr/>
        </p:nvSpPr>
        <p:spPr>
          <a:xfrm>
            <a:off x="1974393" y="3730712"/>
            <a:ext cx="2456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 Scale Filtering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81CDD94-80B7-4E39-9191-D724AEA41C34}"/>
              </a:ext>
            </a:extLst>
          </p:cNvPr>
          <p:cNvSpPr/>
          <p:nvPr/>
        </p:nvSpPr>
        <p:spPr>
          <a:xfrm>
            <a:off x="8644474" y="3429000"/>
            <a:ext cx="3378482" cy="3083304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563153-41E6-4634-AAFC-3CE5AD3EC19A}"/>
              </a:ext>
            </a:extLst>
          </p:cNvPr>
          <p:cNvSpPr txBox="1"/>
          <p:nvPr/>
        </p:nvSpPr>
        <p:spPr>
          <a:xfrm>
            <a:off x="8930427" y="4019728"/>
            <a:ext cx="280657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Binarization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Skew Angle Correction</a:t>
            </a:r>
          </a:p>
        </p:txBody>
      </p:sp>
      <p:pic>
        <p:nvPicPr>
          <p:cNvPr id="34" name="Graphic 33" descr="Arrow Slight curve">
            <a:extLst>
              <a:ext uri="{FF2B5EF4-FFF2-40B4-BE49-F238E27FC236}">
                <a16:creationId xmlns:a16="http://schemas.microsoft.com/office/drawing/2014/main" id="{9BAA63D8-5C76-4415-AF81-7B8DD8276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346721">
            <a:off x="8219758" y="2432566"/>
            <a:ext cx="1926444" cy="914400"/>
          </a:xfrm>
          <a:prstGeom prst="rect">
            <a:avLst/>
          </a:prstGeom>
        </p:spPr>
      </p:pic>
      <p:pic>
        <p:nvPicPr>
          <p:cNvPr id="18" name="Graphic 17" descr="Arrow Slight curve">
            <a:extLst>
              <a:ext uri="{FF2B5EF4-FFF2-40B4-BE49-F238E27FC236}">
                <a16:creationId xmlns:a16="http://schemas.microsoft.com/office/drawing/2014/main" id="{1F64C353-9383-4AB8-9DCE-80982E8B3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911338">
            <a:off x="3829595" y="2373327"/>
            <a:ext cx="2416295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8E486E-634B-4FA5-9400-B9887BEC9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9800" y="10404"/>
            <a:ext cx="1092200" cy="11846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79257A-0A9E-4C14-9342-7D63B1CB8234}"/>
              </a:ext>
            </a:extLst>
          </p:cNvPr>
          <p:cNvSpPr txBox="1"/>
          <p:nvPr/>
        </p:nvSpPr>
        <p:spPr>
          <a:xfrm>
            <a:off x="1320954" y="5572157"/>
            <a:ext cx="3109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2: Preprocessing steps.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B03297-3B80-4A53-8172-452ECEA27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3C6FB-6B19-48DA-87DB-62149B546DB0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8325-3673-43CF-870D-770F4AE47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012" y="6446838"/>
            <a:ext cx="6840069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7ABF1-E81A-4B98-8CC7-075BF89E5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161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Segmentation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C91B9B4-ACB1-4193-8DAB-75541D083352}"/>
              </a:ext>
            </a:extLst>
          </p:cNvPr>
          <p:cNvSpPr/>
          <p:nvPr/>
        </p:nvSpPr>
        <p:spPr>
          <a:xfrm>
            <a:off x="1729862" y="1728588"/>
            <a:ext cx="2412943" cy="216829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D2EADE-B09C-4A09-A47A-F7B043AB5838}"/>
              </a:ext>
            </a:extLst>
          </p:cNvPr>
          <p:cNvSpPr txBox="1"/>
          <p:nvPr/>
        </p:nvSpPr>
        <p:spPr>
          <a:xfrm>
            <a:off x="1986751" y="2174765"/>
            <a:ext cx="18991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Horizontal Projection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F2BB01-F790-43E3-87A1-65C1EC2B9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95" y="3896879"/>
            <a:ext cx="4148340" cy="164834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52A25E1-30BF-4C43-92C6-966E2C99AE6A}"/>
              </a:ext>
            </a:extLst>
          </p:cNvPr>
          <p:cNvSpPr txBox="1"/>
          <p:nvPr/>
        </p:nvSpPr>
        <p:spPr>
          <a:xfrm>
            <a:off x="417425" y="5740400"/>
            <a:ext cx="4743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3: Line Segmentation using HPP [3].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414964-6FD8-47DE-BAAA-F0AA06FF5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-20042"/>
            <a:ext cx="1092200" cy="118461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04965-D056-4492-920C-A1CD6C19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693B-535B-4975-B0FD-797EBC6F8E55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July 9,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E1C1C-5D6B-4EB8-ADF9-834FD807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977" y="6446838"/>
            <a:ext cx="6813176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69E78-235E-48F4-AC92-403E65AFC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5EEAC43-987C-47A2-B1F4-E9E5F04CE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4416" y="2108201"/>
            <a:ext cx="6157960" cy="376089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 profile of a image along horizontal axis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Calculated for every row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of all column pixel values inside the row</a:t>
            </a:r>
          </a:p>
          <a:p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026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Segmentation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9A1DCE8-7027-4634-A3DF-8B4693402E9D}"/>
              </a:ext>
            </a:extLst>
          </p:cNvPr>
          <p:cNvSpPr/>
          <p:nvPr/>
        </p:nvSpPr>
        <p:spPr>
          <a:xfrm>
            <a:off x="1040723" y="1679239"/>
            <a:ext cx="2412943" cy="2168290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767DF6-4130-4C97-AC93-A70BEA4C5A0A}"/>
              </a:ext>
            </a:extLst>
          </p:cNvPr>
          <p:cNvSpPr txBox="1"/>
          <p:nvPr/>
        </p:nvSpPr>
        <p:spPr>
          <a:xfrm>
            <a:off x="1318884" y="2124622"/>
            <a:ext cx="18566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Projection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497771-970E-4932-80CB-570D63845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06" y="3986526"/>
            <a:ext cx="3366723" cy="145075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47366EB-AD90-486A-A771-D8C292A93865}"/>
              </a:ext>
            </a:extLst>
          </p:cNvPr>
          <p:cNvSpPr txBox="1"/>
          <p:nvPr/>
        </p:nvSpPr>
        <p:spPr>
          <a:xfrm>
            <a:off x="502184" y="5727363"/>
            <a:ext cx="4743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4: Word Segmentation using VPP [3].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414964-6FD8-47DE-BAAA-F0AA06FF5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-20042"/>
            <a:ext cx="1092200" cy="118461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04965-D056-4492-920C-A1CD6C19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693B-535B-4975-B0FD-797EBC6F8E55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July 9,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E1C1C-5D6B-4EB8-ADF9-834FD807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977" y="6446838"/>
            <a:ext cx="6813176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69E78-235E-48F4-AC92-403E65AFC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439753C-7A90-4F21-95E2-D1E6E9D94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4416" y="2108201"/>
            <a:ext cx="6157960" cy="376089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 profile of a image along vertical axis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Calculated for every column 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of all row pixel values inside the column</a:t>
            </a:r>
          </a:p>
          <a:p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155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Segmentation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C91B9B4-ACB1-4193-8DAB-75541D083352}"/>
              </a:ext>
            </a:extLst>
          </p:cNvPr>
          <p:cNvSpPr/>
          <p:nvPr/>
        </p:nvSpPr>
        <p:spPr>
          <a:xfrm>
            <a:off x="393876" y="2049270"/>
            <a:ext cx="2925622" cy="227496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D2EADE-B09C-4A09-A47A-F7B043AB5838}"/>
              </a:ext>
            </a:extLst>
          </p:cNvPr>
          <p:cNvSpPr txBox="1"/>
          <p:nvPr/>
        </p:nvSpPr>
        <p:spPr>
          <a:xfrm>
            <a:off x="559074" y="2562130"/>
            <a:ext cx="26096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Opening Operation </a:t>
            </a:r>
          </a:p>
        </p:txBody>
      </p:sp>
      <p:pic>
        <p:nvPicPr>
          <p:cNvPr id="32" name="Graphic 31" descr="Arrow Slight curve">
            <a:extLst>
              <a:ext uri="{FF2B5EF4-FFF2-40B4-BE49-F238E27FC236}">
                <a16:creationId xmlns:a16="http://schemas.microsoft.com/office/drawing/2014/main" id="{04FBD34F-A0E0-4E4C-9F76-E8CE49E0D4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769777">
            <a:off x="2870528" y="3800789"/>
            <a:ext cx="1379628" cy="914400"/>
          </a:xfrm>
          <a:prstGeom prst="rect">
            <a:avLst/>
          </a:prstGeom>
        </p:spPr>
      </p:pic>
      <p:pic>
        <p:nvPicPr>
          <p:cNvPr id="34" name="Graphic 33" descr="Arrow Slight curve">
            <a:extLst>
              <a:ext uri="{FF2B5EF4-FFF2-40B4-BE49-F238E27FC236}">
                <a16:creationId xmlns:a16="http://schemas.microsoft.com/office/drawing/2014/main" id="{9BAA63D8-5C76-4415-AF81-7B8DD82763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250980">
            <a:off x="6357866" y="3674590"/>
            <a:ext cx="1379628" cy="914400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08FEE480-22EF-4810-94C0-458D3D6BD5F6}"/>
              </a:ext>
            </a:extLst>
          </p:cNvPr>
          <p:cNvSpPr/>
          <p:nvPr/>
        </p:nvSpPr>
        <p:spPr>
          <a:xfrm>
            <a:off x="4137994" y="3785558"/>
            <a:ext cx="2412943" cy="2168290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81CBEA-E3A6-42E5-80B2-83E2C0420AD0}"/>
              </a:ext>
            </a:extLst>
          </p:cNvPr>
          <p:cNvSpPr txBox="1"/>
          <p:nvPr/>
        </p:nvSpPr>
        <p:spPr>
          <a:xfrm>
            <a:off x="4378837" y="4170278"/>
            <a:ext cx="18566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14FB54C-CD98-40C4-93DF-523067C338D0}"/>
              </a:ext>
            </a:extLst>
          </p:cNvPr>
          <p:cNvSpPr/>
          <p:nvPr/>
        </p:nvSpPr>
        <p:spPr>
          <a:xfrm>
            <a:off x="7553658" y="2274976"/>
            <a:ext cx="2925622" cy="227496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416AD7-A254-4ED6-8B71-89B919FEFEB3}"/>
              </a:ext>
            </a:extLst>
          </p:cNvPr>
          <p:cNvSpPr txBox="1"/>
          <p:nvPr/>
        </p:nvSpPr>
        <p:spPr>
          <a:xfrm>
            <a:off x="7711649" y="2763353"/>
            <a:ext cx="26096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Closing Operation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AE7FA-0E30-423C-BD12-F39883E8F147}"/>
              </a:ext>
            </a:extLst>
          </p:cNvPr>
          <p:cNvSpPr txBox="1"/>
          <p:nvPr/>
        </p:nvSpPr>
        <p:spPr>
          <a:xfrm>
            <a:off x="3678423" y="6048263"/>
            <a:ext cx="4896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5: Character segmentation steps.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966309-C23C-44C2-88CA-65786099A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88CAE-15CF-41EE-9DE3-B54129D9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D1777-4500-409F-875C-1842C36DCAEE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F1FCA-5843-4307-B3F0-5B185A8FD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765" y="6446838"/>
            <a:ext cx="6920753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9C40B-B169-4F75-BC88-DE16B0CA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826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Image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81CBEA-E3A6-42E5-80B2-83E2C0420AD0}"/>
              </a:ext>
            </a:extLst>
          </p:cNvPr>
          <p:cNvSpPr txBox="1"/>
          <p:nvPr/>
        </p:nvSpPr>
        <p:spPr>
          <a:xfrm>
            <a:off x="4378837" y="4170278"/>
            <a:ext cx="18566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966309-C23C-44C2-88CA-65786099A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88CAE-15CF-41EE-9DE3-B54129D9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D1777-4500-409F-875C-1842C36DCAEE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July 9,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F1FCA-5843-4307-B3F0-5B185A8FD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765" y="6446838"/>
            <a:ext cx="6920753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9C40B-B169-4F75-BC88-DE16B0CA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64EC19-62B9-4354-A42C-8D74A062E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3428" y="2289832"/>
            <a:ext cx="9012242" cy="376089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images may contain numerous imperfections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Removes these imperfections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non-linear operations </a:t>
            </a:r>
          </a:p>
          <a:p>
            <a:pPr lvl="3"/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Erosion, Dilation, Opening, Closing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 to the shape [4]</a:t>
            </a:r>
          </a:p>
        </p:txBody>
      </p:sp>
    </p:spTree>
    <p:extLst>
      <p:ext uri="{BB962C8B-B14F-4D97-AF65-F5344CB8AC3E}">
        <p14:creationId xmlns:p14="http://schemas.microsoft.com/office/powerpoint/2010/main" val="1584171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Image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966309-C23C-44C2-88CA-65786099A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88CAE-15CF-41EE-9DE3-B54129D9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D1777-4500-409F-875C-1842C36DCAEE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July 9,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F1FCA-5843-4307-B3F0-5B185A8FD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765" y="6446838"/>
            <a:ext cx="6920753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9C40B-B169-4F75-BC88-DE16B0CA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9B80CA-C801-41DA-A94E-E1DBBF9FE071}"/>
              </a:ext>
            </a:extLst>
          </p:cNvPr>
          <p:cNvSpPr txBox="1"/>
          <p:nvPr/>
        </p:nvSpPr>
        <p:spPr>
          <a:xfrm>
            <a:off x="1097281" y="2023963"/>
            <a:ext cx="4622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Opening Operation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4E8C2B-6F6D-4470-AFFB-AA5A091D4BD9}"/>
              </a:ext>
            </a:extLst>
          </p:cNvPr>
          <p:cNvSpPr txBox="1"/>
          <p:nvPr/>
        </p:nvSpPr>
        <p:spPr>
          <a:xfrm>
            <a:off x="6403694" y="2023963"/>
            <a:ext cx="4896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Closing Operation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28C41-388E-46A3-9AFC-9BE018081FD1}"/>
              </a:ext>
            </a:extLst>
          </p:cNvPr>
          <p:cNvSpPr txBox="1"/>
          <p:nvPr/>
        </p:nvSpPr>
        <p:spPr>
          <a:xfrm>
            <a:off x="1230367" y="2772231"/>
            <a:ext cx="4896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Removes pixels from the edge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2DCB87-1F3C-45F9-8485-093A5BAA5A93}"/>
              </a:ext>
            </a:extLst>
          </p:cNvPr>
          <p:cNvSpPr txBox="1"/>
          <p:nvPr/>
        </p:nvSpPr>
        <p:spPr>
          <a:xfrm>
            <a:off x="6744707" y="2772231"/>
            <a:ext cx="4896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Adds pixels from the edge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AA54F10-C62F-40B4-B93A-E3DBB25B1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870" y="3684500"/>
            <a:ext cx="1066892" cy="14265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0D7CEA1-BE1E-48F2-8EAF-BD5445B4B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739" y="3684500"/>
            <a:ext cx="1066892" cy="14265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72CFD88-8605-4492-8E17-6707430A87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7929" y="3684500"/>
            <a:ext cx="1066892" cy="142658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A3BEF6A-CD11-4003-A451-408133687FFA}"/>
              </a:ext>
            </a:extLst>
          </p:cNvPr>
          <p:cNvSpPr/>
          <p:nvPr/>
        </p:nvSpPr>
        <p:spPr>
          <a:xfrm>
            <a:off x="1049848" y="5341822"/>
            <a:ext cx="2310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Input Image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363BA9-80AC-4176-805C-0DBC61F65216}"/>
              </a:ext>
            </a:extLst>
          </p:cNvPr>
          <p:cNvSpPr/>
          <p:nvPr/>
        </p:nvSpPr>
        <p:spPr>
          <a:xfrm>
            <a:off x="4791717" y="5341822"/>
            <a:ext cx="2310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After opening[5]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3E087D-A65A-4E49-BC38-4B51DB74AAC2}"/>
              </a:ext>
            </a:extLst>
          </p:cNvPr>
          <p:cNvSpPr/>
          <p:nvPr/>
        </p:nvSpPr>
        <p:spPr>
          <a:xfrm>
            <a:off x="8533586" y="5341822"/>
            <a:ext cx="2310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After closing[6]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A481A8-080D-4197-BB6E-6314945F2066}"/>
              </a:ext>
            </a:extLst>
          </p:cNvPr>
          <p:cNvSpPr txBox="1"/>
          <p:nvPr/>
        </p:nvSpPr>
        <p:spPr>
          <a:xfrm>
            <a:off x="3699938" y="5894330"/>
            <a:ext cx="515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6: Morphological Image Processing. 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676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b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(Printed Script) </a:t>
            </a: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FB1B2CE-5D15-45A3-AAD9-5920132EF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83597"/>
            <a:ext cx="2916103" cy="27370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1A1F8A-DF81-4FA8-8B4F-E2C1B716A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102" y="2383596"/>
            <a:ext cx="2778527" cy="2737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C7EF1B-E861-4B32-A726-395515647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3452" y="2383596"/>
            <a:ext cx="2778528" cy="27370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D878FE-1944-463B-8DD2-3000BF517A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5898" y="2383596"/>
            <a:ext cx="2783887" cy="27370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3678423" y="6036721"/>
            <a:ext cx="515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7: Preprocessing for Bengali printed script.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302582" y="5486348"/>
            <a:ext cx="2310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Input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21CE92-305D-4DE9-84FE-36087979B226}"/>
              </a:ext>
            </a:extLst>
          </p:cNvPr>
          <p:cNvSpPr/>
          <p:nvPr/>
        </p:nvSpPr>
        <p:spPr>
          <a:xfrm>
            <a:off x="2613520" y="5486348"/>
            <a:ext cx="3081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Applying Grayscale filter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E7D359-6BFF-4415-8FC2-5BFC6FCB61C9}"/>
              </a:ext>
            </a:extLst>
          </p:cNvPr>
          <p:cNvSpPr/>
          <p:nvPr/>
        </p:nvSpPr>
        <p:spPr>
          <a:xfrm>
            <a:off x="6096000" y="5489970"/>
            <a:ext cx="29314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Applying Bilateral filter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9112321" y="5486348"/>
            <a:ext cx="30796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Image Binarization &amp; Skew Angle Correction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32AB6B-F478-45CC-A209-6AF86AF69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48D42-85B0-4CA3-A207-C65A841680B8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3AAA758-E1E0-4572-B97B-B909622C7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307" y="6446838"/>
            <a:ext cx="6893858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507B282-4B3C-4B9B-A135-2A4CDD89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26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b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(Handwritten Script) </a:t>
            </a: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2758554" y="6080508"/>
            <a:ext cx="620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8: Preprocessing for Bengali handwritten script.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302582" y="5486348"/>
            <a:ext cx="2310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Input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21CE92-305D-4DE9-84FE-36087979B226}"/>
              </a:ext>
            </a:extLst>
          </p:cNvPr>
          <p:cNvSpPr/>
          <p:nvPr/>
        </p:nvSpPr>
        <p:spPr>
          <a:xfrm>
            <a:off x="2713736" y="5486348"/>
            <a:ext cx="30121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Applying Grayscale filter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E7D359-6BFF-4415-8FC2-5BFC6FCB61C9}"/>
              </a:ext>
            </a:extLst>
          </p:cNvPr>
          <p:cNvSpPr/>
          <p:nvPr/>
        </p:nvSpPr>
        <p:spPr>
          <a:xfrm>
            <a:off x="6096000" y="5489970"/>
            <a:ext cx="28712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Applying Bilateral filter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9112321" y="5486348"/>
            <a:ext cx="30796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Image Binarization &amp; Skew Angle Correction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2F27F8-9EA7-4091-A167-60952E197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" y="2793508"/>
            <a:ext cx="2612202" cy="20789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C672EB-7F5F-4A65-8542-501B8B50B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7692" y="2793508"/>
            <a:ext cx="3012147" cy="20789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370FF62-880B-41D6-B57C-CF1541164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634" y="2793508"/>
            <a:ext cx="3006894" cy="20819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40AA920-BEA8-4460-BA20-916844D265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4308" y="2790160"/>
            <a:ext cx="2448694" cy="207863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F87D7C-49B4-4C7E-A464-94C5F08C1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DE1CB-2C19-4CC2-8782-27D16269A9EB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F56A0-E35B-4164-90E5-1AA523252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13" y="6446838"/>
            <a:ext cx="6786282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FB5AF-EA44-41B3-95EA-5A2B0FE19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012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b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Segmentation</a:t>
            </a: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3443334" y="6114756"/>
            <a:ext cx="5975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9: Line segmentation of Bengali script using HPP.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2493520" y="5495349"/>
            <a:ext cx="25625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Handwritten Script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6409852" y="5495349"/>
            <a:ext cx="47458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Printed Script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6E1489-2FF1-4147-9FCB-7C5D0D6CB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245" y="1936019"/>
            <a:ext cx="4312467" cy="29859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0A5AD3-A754-4B93-A091-B6E3BF689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36018"/>
            <a:ext cx="5189173" cy="298596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E1760E-2091-4485-AD89-F05117360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097B-CFF0-4D04-A0E7-9D3A51A19B7B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84C59A-43FF-4FEB-BB41-A4B5A6ECC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941" y="6456070"/>
            <a:ext cx="6779729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B774B59-BB89-4B79-98B5-82ABA1B25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875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b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Segmentation</a:t>
            </a: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3039036" y="6015816"/>
            <a:ext cx="6239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10: Word segmentation of Bengali script using VPP.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1773348" y="5479211"/>
            <a:ext cx="27717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Handwritten Script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6605106" y="5479211"/>
            <a:ext cx="47458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Printed Script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D3CC3F-9056-4905-8000-91144EDF7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25545"/>
            <a:ext cx="5764040" cy="29170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01A8E1-47C4-474D-B070-D250B6B6D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68" y="2023963"/>
            <a:ext cx="4934098" cy="29170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569E15-19B1-4581-B3C9-11BFF8F02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8B5AD-1853-4118-8E6C-BAF28C1D63C7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7C55C-8C49-4E5B-9C85-FE4DA19D7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4071" y="6446838"/>
            <a:ext cx="6804211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D599974-B1B4-4062-8552-363DEAB2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375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b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Segmentation</a:t>
            </a: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3286408" y="6015221"/>
            <a:ext cx="6538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11: Character segmentation of Bengali script using VPP.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1773348" y="5479211"/>
            <a:ext cx="2466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Handwritten Script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6605106" y="5479211"/>
            <a:ext cx="47458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Printed Script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16A2B1-2F70-4296-A88B-4EB8464BA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72" y="1904038"/>
            <a:ext cx="4976827" cy="34084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0435B2-6F69-49E8-BCB7-F58142CC3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023963"/>
            <a:ext cx="5790134" cy="328857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DBD5D-1624-4637-96FD-D4C29716C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BBCF8-995C-4310-9E04-61272E970FBA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204854-2732-41D7-A075-F8F6F64D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326" y="6492875"/>
            <a:ext cx="6764768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277D1E3-59A8-4016-8F10-5471DC69F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844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Tesseract OCR Engine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F9CDFE-0A7C-4E3A-8170-1B1132715A94}"/>
              </a:ext>
            </a:extLst>
          </p:cNvPr>
          <p:cNvSpPr txBox="1"/>
          <p:nvPr/>
        </p:nvSpPr>
        <p:spPr>
          <a:xfrm>
            <a:off x="4668754" y="1885125"/>
            <a:ext cx="68532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in various environments</a:t>
            </a:r>
          </a:p>
          <a:p>
            <a:pPr marL="800100" lvl="1" indent="-3429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the HP</a:t>
            </a:r>
          </a:p>
          <a:p>
            <a:pPr marL="800100" lvl="1" indent="-3429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Supported in 100+ languages </a:t>
            </a:r>
          </a:p>
          <a:p>
            <a:pPr marL="800100" lvl="1" indent="-3429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most complicated OCR 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210B4-CA00-4E57-B2AB-F2721F6DF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B4FA97-DBB3-424D-A342-B0FFC5333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E038B-EA8B-4F38-BA5C-614278DF1D93}" type="datetime2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85F91-7464-4F13-8314-83A5A0D8F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4995" y="6446838"/>
            <a:ext cx="6853288" cy="365125"/>
          </a:xfrm>
        </p:spPr>
        <p:txBody>
          <a:bodyPr/>
          <a:lstStyle/>
          <a:p>
            <a:r>
              <a:rPr lang="en-US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7ECC2-3803-4988-9745-A49E8755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067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</a:t>
            </a:r>
            <a:b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Tesseract OCR Engine</a:t>
            </a: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2210856" y="6077506"/>
            <a:ext cx="7831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12: Comparing of character segmentation with Tesseract OCR engine.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1796166" y="5479211"/>
            <a:ext cx="31613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Output from our system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6605106" y="5479211"/>
            <a:ext cx="47458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Output from the Tesseract OCR engine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971766-BB25-44A1-88CA-BA62F03AB5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639"/>
          <a:stretch/>
        </p:blipFill>
        <p:spPr>
          <a:xfrm>
            <a:off x="595919" y="1883484"/>
            <a:ext cx="5305330" cy="3458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84F3B7-BD0A-4CCB-AC0C-A53E760728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6139"/>
          <a:stretch/>
        </p:blipFill>
        <p:spPr>
          <a:xfrm>
            <a:off x="6126480" y="1722805"/>
            <a:ext cx="5716139" cy="361912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815D2E-EF42-413C-8376-D81E4E4B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0DDF3-69F5-4539-8231-8CD7962088C1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9B96C-50DF-4881-B3F2-049BD7959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46838"/>
            <a:ext cx="6840070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21F4E9D-F614-4DCE-B9E7-25FDC813A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055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BE8302-4C4D-4C05-8AC1-D85DE9FBC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A2F0D1A-2450-44A0-87BA-F73A05772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073E-4497-4542-884F-6850C38342DB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2EAB1B-FD5D-4A64-83EE-0E2A18F4D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42B2E9-A572-4F3E-BD94-485044084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9C3E1E-10F6-4A41-8709-9224C77C7EDB}"/>
              </a:ext>
            </a:extLst>
          </p:cNvPr>
          <p:cNvSpPr txBox="1"/>
          <p:nvPr/>
        </p:nvSpPr>
        <p:spPr>
          <a:xfrm>
            <a:off x="1867304" y="2057511"/>
            <a:ext cx="8272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Overall best accuracy and average accuracy of our system on printed script.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FDE34D-06B0-4864-94E0-53956DCF28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521"/>
          <a:stretch/>
        </p:blipFill>
        <p:spPr>
          <a:xfrm>
            <a:off x="1073218" y="2842788"/>
            <a:ext cx="10408010" cy="267077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BE8302-4C4D-4C05-8AC1-D85DE9FBC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A2F0D1A-2450-44A0-87BA-F73A05772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073E-4497-4542-884F-6850C38342DB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2EAB1B-FD5D-4A64-83EE-0E2A18F4D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42B2E9-A572-4F3E-BD94-485044084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9C3E1E-10F6-4A41-8709-9224C77C7EDB}"/>
              </a:ext>
            </a:extLst>
          </p:cNvPr>
          <p:cNvSpPr txBox="1"/>
          <p:nvPr/>
        </p:nvSpPr>
        <p:spPr>
          <a:xfrm>
            <a:off x="1984519" y="2087661"/>
            <a:ext cx="8283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2: Overall accuracy and average accuracy of our system of handwritten script.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796475-A627-4661-B026-B4390F1AD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19" y="2856800"/>
            <a:ext cx="10576361" cy="282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381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Graph</a:t>
            </a:r>
          </a:p>
        </p:txBody>
      </p:sp>
      <p:pic>
        <p:nvPicPr>
          <p:cNvPr id="6" name="Picture 5" descr="g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230" y="1798471"/>
            <a:ext cx="6058746" cy="35437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EDAF98-BA18-422B-B858-6A3E455DF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B049A7-94C4-4D6E-8E6A-CE10D9973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F70DC-817D-44CD-A54C-AF3C30502533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11881-C655-4425-AA38-2137AC7E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49ACDF1-AAE1-44C5-9936-EC137AB4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7515A3-A3CB-4A4E-BB31-F5CC993070DA}"/>
              </a:ext>
            </a:extLst>
          </p:cNvPr>
          <p:cNvSpPr txBox="1"/>
          <p:nvPr/>
        </p:nvSpPr>
        <p:spPr>
          <a:xfrm>
            <a:off x="634698" y="5709429"/>
            <a:ext cx="11552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12: Series1 shows line segmentation, series2 shows word segmentation and series3 shows character segmentation of printed script.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Graph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EDAF98-BA18-422B-B858-6A3E455DF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B049A7-94C4-4D6E-8E6A-CE10D9973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F70DC-817D-44CD-A54C-AF3C30502533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11881-C655-4425-AA38-2137AC7E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49ACDF1-AAE1-44C5-9936-EC137AB4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7515A3-A3CB-4A4E-BB31-F5CC993070DA}"/>
              </a:ext>
            </a:extLst>
          </p:cNvPr>
          <p:cNvSpPr txBox="1"/>
          <p:nvPr/>
        </p:nvSpPr>
        <p:spPr>
          <a:xfrm>
            <a:off x="634698" y="5709429"/>
            <a:ext cx="11552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12: Series1 shows line segmentation, series2 shows word segmentation and series3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character segmentation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script.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458085-83B0-4A23-B6AE-AAA05FCB5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233" y="1750306"/>
            <a:ext cx="4394734" cy="386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6305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Bengali character recognition has become a vital issue in the last few years.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huge challenge.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mainly focused on the segmentation process.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some basic operations.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tried to segment the Bengali script that solves the problem of making a good Optical Character Recognition system.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D5E3DB-C3FB-40AA-902A-5791C2A12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8E16B-7BFD-43A3-8A01-F20FA39B1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90A6E-B3DA-423D-99FF-81A019BD3FF3}" type="datetime2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F2D12-E13D-47D5-97EE-9F72E0795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08680-D19F-455B-A625-FEFA3FEF4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26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a plan to use HMM (Hidden Markov model).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also have plans to use our system for other recognition based research.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9DE3B6-0279-40B4-B496-B8086E9DD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F7DE6-C497-4A27-B814-C446F0E2C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6A9B-AAEF-4473-B088-3AFBF160982C}" type="datetime2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E5F2C-7700-4212-B9A9-193660C62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06DDF-BB66-4EF4-AA98-5A5285E7B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27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some methodologies for segmenting Bengali characters.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the morphological image processing operations.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we got a good accuracy of our system and we are hoping to work with our system to get better accuracy.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562820-CE57-4C6D-8A0D-6F75C593D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FDBA8-8965-42C3-8432-F5D4A00F8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276DC-CB4E-4496-BF2A-8A5E66193373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D1262-8C79-46F9-8688-4CC3AFBA1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691B5-BEFA-42FF-A7D1-C646C017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1097280" y="2023963"/>
            <a:ext cx="10482102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Bishnu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B.B. Chaudhuri (1999) “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of Bangla handwritten text into characters by recursive contour following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 Proceedings of the Fifth International Conference on Document Analysis and Recognition. ICDAR '99: IEEE.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Abdus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Sattar, Khaled Mahmud, Humayun Arafat and A. F.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M.Noor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Uz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Zaman, “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Segmenting Bangla Text for Optical Recognition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”ICCIT, 2007. ISBN: 978-1-4244-1550-2, pp. 1-6.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 Zahan, M.R. Selim, M.S. Rahman, M.Z. Iqbal, (2018). “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Connected Component Analysis Based Two Zone Approach for Bangla Character Segmentation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 1-4.10.1109/ICBSLP.2018.8554684.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2A94D9-582F-424F-9E18-FB7A483E1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DA86-30F1-49D4-A0E4-FF628971F937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9FD3C7-226D-485C-834A-4EDB4490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4071" y="6446838"/>
            <a:ext cx="6795247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6A84F-4D3A-426F-B7D2-C7A996BF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7347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1097280" y="2023963"/>
            <a:ext cx="10482102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 H. Bosworth, S. T. Acton, “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scale-space in image processing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 Digital Signal Processing, Volume 13, Issue 2, 2003, Pages 338-367, ISSN 1051-2004, https://doi.org/10.1016/S1051-2004(02)00033-7.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https://homepages.inf.ed.ac.uk/rbf/HIPR2/open.html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https://homepages.inf.ed.ac.uk/rbf/HIPR2/close.html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2A94D9-582F-424F-9E18-FB7A483E1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DA86-30F1-49D4-A0E4-FF628971F937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July 9,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9FD3C7-226D-485C-834A-4EDB4490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773733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6A84F-4D3A-426F-B7D2-C7A996BF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7113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65BF64-4B30-4125-9A30-A1B08C80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9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305886-8ACA-4ED6-AA5B-215F6D741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51" y="5225240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b="1" cap="all" spc="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CFEE9C-9E9D-49F3-B6B8-78869818B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891" y="338000"/>
            <a:ext cx="2429684" cy="263527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D01ED8-AB5A-4EE2-BD60-7A0377CA5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6CBC-5AEB-4B81-BA1A-CBC332C575A4}" type="datetime2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July 8, 2020</a:t>
            </a:fld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50DB1-1A0C-4AAC-B08D-EF95F888D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4E126-A77E-44FA-8874-12E9943A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fld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97136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 Company All Hands_Win32_MS v3" id="{1F352A5D-0EBE-49A2-9FF7-DEF81AB6F3C6}" vid="{D35781EA-2188-4D84-8966-791644CE13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41CA7C-A0BF-44EF-B2E5-7539C3B9B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E879E6-8FFE-4154-8F2A-F7518B89B37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E0A2CB4-6869-426F-8BC4-A32C90CBE2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company all hands presentation</Template>
  <TotalTime>0</TotalTime>
  <Words>1445</Words>
  <Application>Microsoft Office PowerPoint</Application>
  <PresentationFormat>Widescreen</PresentationFormat>
  <Paragraphs>251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Century Gothic</vt:lpstr>
      <vt:lpstr>Times New Roman</vt:lpstr>
      <vt:lpstr>Wingdings</vt:lpstr>
      <vt:lpstr>RetrospectVTI</vt:lpstr>
      <vt:lpstr>PowerPoint Presentation</vt:lpstr>
      <vt:lpstr>Outline</vt:lpstr>
      <vt:lpstr>Introduction</vt:lpstr>
      <vt:lpstr>Challenges</vt:lpstr>
      <vt:lpstr>Motivation </vt:lpstr>
      <vt:lpstr>Objective </vt:lpstr>
      <vt:lpstr>Literature Review</vt:lpstr>
      <vt:lpstr>Methodology </vt:lpstr>
      <vt:lpstr>Implementation Preprocessing </vt:lpstr>
      <vt:lpstr>Implementation  Line Segmentation </vt:lpstr>
      <vt:lpstr>Implementation  Word Segmentation </vt:lpstr>
      <vt:lpstr>Implementation  Character Segmentation </vt:lpstr>
      <vt:lpstr>Morphological Image Processing </vt:lpstr>
      <vt:lpstr>Morphological Image Processing </vt:lpstr>
      <vt:lpstr>Result Analysis Preprocessing (Printed Script) </vt:lpstr>
      <vt:lpstr>Result Analysis Preprocessing (Handwritten Script) </vt:lpstr>
      <vt:lpstr>Result Analysis Line Segmentation</vt:lpstr>
      <vt:lpstr>Result Analysis Word Segmentation</vt:lpstr>
      <vt:lpstr>Result Analysis Character Segmentation</vt:lpstr>
      <vt:lpstr>Tesseract OCR Engine </vt:lpstr>
      <vt:lpstr>Result Analysis  Comparison with Tesseract OCR Engine</vt:lpstr>
      <vt:lpstr>Accuracy</vt:lpstr>
      <vt:lpstr>Accuracy</vt:lpstr>
      <vt:lpstr>Accuracy Graph</vt:lpstr>
      <vt:lpstr>Accuracy Graph</vt:lpstr>
      <vt:lpstr>Discussion</vt:lpstr>
      <vt:lpstr>Future Scope</vt:lpstr>
      <vt:lpstr>Conclusion</vt:lpstr>
      <vt:lpstr>References </vt:lpstr>
      <vt:lpstr>References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2020-07-05T17:08:13Z</dcterms:created>
  <dcterms:modified xsi:type="dcterms:W3CDTF">2020-07-08T18:52:37Z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
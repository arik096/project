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7" r:id="rId4"/>
  </p:sldMasterIdLst>
  <p:notesMasterIdLst>
    <p:notesMasterId r:id="rId37"/>
  </p:notesMasterIdLst>
  <p:handoutMasterIdLst>
    <p:handoutMasterId r:id="rId38"/>
  </p:handoutMasterIdLst>
  <p:sldIdLst>
    <p:sldId id="293" r:id="rId5"/>
    <p:sldId id="284" r:id="rId6"/>
    <p:sldId id="272" r:id="rId7"/>
    <p:sldId id="309" r:id="rId8"/>
    <p:sldId id="294" r:id="rId9"/>
    <p:sldId id="296" r:id="rId10"/>
    <p:sldId id="320" r:id="rId11"/>
    <p:sldId id="286" r:id="rId12"/>
    <p:sldId id="298" r:id="rId13"/>
    <p:sldId id="299" r:id="rId14"/>
    <p:sldId id="316" r:id="rId15"/>
    <p:sldId id="300" r:id="rId16"/>
    <p:sldId id="317" r:id="rId17"/>
    <p:sldId id="318" r:id="rId18"/>
    <p:sldId id="323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10" r:id="rId27"/>
    <p:sldId id="314" r:id="rId28"/>
    <p:sldId id="311" r:id="rId29"/>
    <p:sldId id="315" r:id="rId30"/>
    <p:sldId id="312" r:id="rId31"/>
    <p:sldId id="322" r:id="rId32"/>
    <p:sldId id="297" r:id="rId33"/>
    <p:sldId id="308" r:id="rId34"/>
    <p:sldId id="31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639" autoAdjust="0"/>
  </p:normalViewPr>
  <p:slideViewPr>
    <p:cSldViewPr snapToGrid="0">
      <p:cViewPr varScale="1">
        <p:scale>
          <a:sx n="74" d="100"/>
          <a:sy n="74" d="100"/>
        </p:scale>
        <p:origin x="-57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3036"/>
    </p:cViewPr>
  </p:sorter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pPr/>
              <a:t>7/13/2020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pPr/>
              <a:t>7/13/2020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4ECAD9-32EE-4091-BDA5-6BD15ACC5E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258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=""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44BB-901F-4101-AAD9-F3F9660A6803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=""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57BC-BF01-4133-9A7B-333F3E4796E1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6E837-5E5C-4ABC-B2B6-47473AC749E7}" type="datetime2">
              <a:rPr lang="en-US" smtClean="0"/>
              <a:pPr/>
              <a:t>Monday, July 13,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=""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E1740BF-A968-409A-BEFD-8D81A8EA189C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=""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E2D5AB1-A71C-4946-A337-64380CF8CC9C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=""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E87B-542F-419C-88D5-9A3CC43211E6}" type="datetime2">
              <a:rPr lang="en-US" smtClean="0"/>
              <a:pPr/>
              <a:t>Monday, July 13, 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D4E80-31CA-4027-8BB1-5262B9EE189A}" type="datetime2">
              <a:rPr lang="en-US" smtClean="0"/>
              <a:pPr/>
              <a:t>Monday, July 13, 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=""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=""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=""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4B30-F80E-444D-8B0E-80AB9BCEF812}" type="datetime2">
              <a:rPr lang="en-US" smtClean="0"/>
              <a:pPr/>
              <a:t>Monday, July 13, 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=""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B854B5-8C9F-4641-9122-5745D9CED2A4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D52EFED-3821-4252-B066-81DF622ABB93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=""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=""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=""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F4B2-95AB-4443-9F28-03AD8938EA06}" type="datetime2">
              <a:rPr lang="en-US" smtClean="0"/>
              <a:pPr/>
              <a:t>Monday, July 13,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7D056-A642-43A3-B203-9C21AEAD9466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=""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95F6834-5987-445D-80C1-222E1FC2D277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5D4D86-BCF3-49B6-95C6-F23DD933B6B9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=""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=""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7A86F2A-3DA7-4B63-9709-3605A14B6A55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3FE53B-DAB0-4423-9FCB-C9083E9C2645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=""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=""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4CCD7F3-096C-4E5B-A197-7308942D4001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=""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=""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3B9231-83C0-4D2F-9AB1-C6ADB0CA623F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3A87B-D27B-4669-B2FF-81DA53395577}" type="datetime2">
              <a:rPr lang="en-US" smtClean="0"/>
              <a:pPr/>
              <a:t>Monday, July 13,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E2B4-71DF-401A-A5AD-E3E9B678914B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=""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763756A-7B39-4EF2-9803-2EACB5D7FB84}" type="datetime2">
              <a:rPr lang="en-US" noProof="0" smtClean="0"/>
              <a:pPr/>
              <a:t>Monday, July 13, 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EDFF363-B304-47B2-98CD-690A566BF2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303" y="63967"/>
            <a:ext cx="874956" cy="94899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7990B93-2162-47EC-9A2E-203EB537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39E6-45BA-477B-A8BB-ECC8D72D4F34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2804D47-AA3C-47CB-843C-E961400C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3208" y="6446838"/>
            <a:ext cx="675580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81015D2-AE02-4C7E-B382-CBA7B78B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="" xmlns:a16="http://schemas.microsoft.com/office/drawing/2014/main" id="{E1A60A53-6019-454D-A61F-BE5B03D4CE92}"/>
              </a:ext>
            </a:extLst>
          </p:cNvPr>
          <p:cNvSpPr txBox="1">
            <a:spLocks/>
          </p:cNvSpPr>
          <p:nvPr/>
        </p:nvSpPr>
        <p:spPr bwMode="white">
          <a:xfrm>
            <a:off x="1097279" y="63967"/>
            <a:ext cx="11019418" cy="924941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8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International University Of Science And Technology</a:t>
            </a:r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="" xmlns:a16="http://schemas.microsoft.com/office/drawing/2014/main" id="{4B8183E8-94E2-4373-953B-913E05A8B5CA}"/>
              </a:ext>
            </a:extLst>
          </p:cNvPr>
          <p:cNvSpPr/>
          <p:nvPr/>
        </p:nvSpPr>
        <p:spPr>
          <a:xfrm>
            <a:off x="378543" y="1742731"/>
            <a:ext cx="11434916" cy="1869257"/>
          </a:xfrm>
          <a:prstGeom prst="round2Diag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18" name="Title 13">
            <a:extLst>
              <a:ext uri="{FF2B5EF4-FFF2-40B4-BE49-F238E27FC236}">
                <a16:creationId xmlns="" xmlns:a16="http://schemas.microsoft.com/office/drawing/2014/main" id="{1FA98F1C-AC9B-43EE-A79A-E8D61F7C89E5}"/>
              </a:ext>
            </a:extLst>
          </p:cNvPr>
          <p:cNvSpPr txBox="1">
            <a:spLocks/>
          </p:cNvSpPr>
          <p:nvPr/>
        </p:nvSpPr>
        <p:spPr bwMode="white">
          <a:xfrm>
            <a:off x="824753" y="3918262"/>
            <a:ext cx="4338917" cy="2597865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Arifa Islam Champa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CSE,BAIUST</a:t>
            </a:r>
            <a:r>
              <a:rPr lang="en-US" cap="none" dirty="0">
                <a:solidFill>
                  <a:prstClr val="black"/>
                </a:solidFill>
                <a:latin typeface="Century Gothic" panose="020B0502020202020204"/>
              </a:rPr>
              <a:t/>
            </a:r>
            <a:br>
              <a:rPr lang="en-US" cap="none" dirty="0">
                <a:solidFill>
                  <a:prstClr val="black"/>
                </a:solidFill>
                <a:latin typeface="Century Gothic" panose="020B0502020202020204"/>
              </a:rPr>
            </a:br>
            <a:endParaRPr lang="en-US" cap="none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20" name="Title 13">
            <a:extLst>
              <a:ext uri="{FF2B5EF4-FFF2-40B4-BE49-F238E27FC236}">
                <a16:creationId xmlns="" xmlns:a16="http://schemas.microsoft.com/office/drawing/2014/main" id="{C67600ED-980B-41DD-9AAF-6155BD8DDDD3}"/>
              </a:ext>
            </a:extLst>
          </p:cNvPr>
          <p:cNvSpPr txBox="1">
            <a:spLocks/>
          </p:cNvSpPr>
          <p:nvPr/>
        </p:nvSpPr>
        <p:spPr bwMode="white">
          <a:xfrm>
            <a:off x="5441577" y="3824117"/>
            <a:ext cx="6447368" cy="2597864"/>
          </a:xfrm>
          <a:prstGeom prst="rect">
            <a:avLst/>
          </a:prstGeom>
          <a:effectLst/>
        </p:spPr>
        <p:txBody>
          <a:bodyPr vert="horz" lIns="91440" tIns="45720" rIns="91440" bIns="45720" numCol="1" rtlCol="0" anchor="ctr" anchorCtr="0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Pritilata Biswas                 ID: 1103017</a:t>
            </a:r>
          </a:p>
          <a:p>
            <a:pPr algn="ctr">
              <a:lnSpc>
                <a:spcPct val="150000"/>
              </a:lnSpc>
            </a:pPr>
            <a:r>
              <a:rPr lang="en-US" sz="2000" b="1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Sumaia</a:t>
            </a: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Afrin Prity            ID: 1103057</a:t>
            </a:r>
          </a:p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Parvez Abedin Siddique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1103094 </a:t>
            </a:r>
          </a:p>
          <a:p>
            <a:pPr algn="ctr">
              <a:lnSpc>
                <a:spcPct val="150000"/>
              </a:lnSpc>
            </a:pPr>
            <a:r>
              <a:rPr lang="en-US" sz="2000" b="1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rPr>
              <a:t>Department of CSE,BAIUST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2E5C437-AD27-4F68-B6B7-642AE8EF2161}"/>
              </a:ext>
            </a:extLst>
          </p:cNvPr>
          <p:cNvSpPr txBox="1"/>
          <p:nvPr/>
        </p:nvSpPr>
        <p:spPr>
          <a:xfrm>
            <a:off x="7151661" y="760757"/>
            <a:ext cx="3224009" cy="563231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4A1F7BE-F12A-45AE-B216-B948749D2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6AF44D2-ECF8-4B1B-8773-EB240A74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9EC6-9929-4A15-8F79-84FC27C7A84C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BD8CA67-0AAA-4DE0-BA41-2FEBAF9A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3059" y="6446838"/>
            <a:ext cx="6866965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886FF83-7235-47B0-BA78-F1FE80DA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5690374C-1A59-4A71-8148-5C0E026A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15" y="1885125"/>
            <a:ext cx="3599719" cy="209397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21A8359F-00D6-408F-ACF5-D8A1A931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858" y="943430"/>
            <a:ext cx="5875699" cy="397736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is a major research area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is the most challenging part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robust technique for segmentation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2F12D0B-F78A-4AEA-8280-6C4EFD27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2D8DFC2-9793-4EB6-8E30-2E619EE0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7096-C5D7-4618-858A-E7E5B670BB78}" type="datetime2">
              <a:rPr lang="en-US" b="1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05776B8-3084-4628-9C53-74E919A5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7132321" cy="365125"/>
          </a:xfrm>
        </p:spPr>
        <p:txBody>
          <a:bodyPr/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71AB559-2D51-42F5-B4E2-2E6FB23F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38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2859" y="943430"/>
            <a:ext cx="6038662" cy="3977366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Bengali script, no good OCR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is the key tool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 segmentation is the most challenging task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894BEC8-B77A-403C-91E3-2BD4B85E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CA85FB1-1C85-41E3-AD28-56522CA1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6C60-EF15-436F-A51F-4CEC2F471F29}" type="datetime2">
              <a:rPr lang="en-US" b="1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54013EE-A350-4FE1-8AE6-9ADAA0D98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7183836" cy="365125"/>
          </a:xfrm>
        </p:spPr>
        <p:txBody>
          <a:bodyPr/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1130048-BC27-4EA0-9750-8F26918C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F620BE9-6EB4-44F0-8F7F-C57981E50973}"/>
              </a:ext>
            </a:extLst>
          </p:cNvPr>
          <p:cNvSpPr txBox="1"/>
          <p:nvPr/>
        </p:nvSpPr>
        <p:spPr>
          <a:xfrm>
            <a:off x="4943193" y="2081699"/>
            <a:ext cx="69802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accent2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Printed text OCR have a huge success but handwritten still need to improved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problem – removing connectedness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1741A29-8E3D-417F-A904-D20AC17C5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8A769F9-01A6-4771-9A33-E4ADF027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7D9E-9F9C-49C6-A42D-16EEBEB0A008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8B1A843-C979-4423-9E9C-FB55C306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80222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933FB02-C996-4C16-852D-C7DC06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4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E460CDC7-8DBD-4205-838D-ADCA6DB7584B}"/>
              </a:ext>
            </a:extLst>
          </p:cNvPr>
          <p:cNvSpPr txBox="1"/>
          <p:nvPr/>
        </p:nvSpPr>
        <p:spPr>
          <a:xfrm>
            <a:off x="4668754" y="1885125"/>
            <a:ext cx="68532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strategy for segmenting Bengali scripts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the segmentation error and time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4D6E838-AE77-4EA2-9155-5B75B8762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A909413-5FE1-4276-9571-301A5A54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FC2-4CE9-4F02-BCB4-2BDE48E178BF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D83339D-4754-4CCF-BABC-048E4985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118" y="6446838"/>
            <a:ext cx="6853289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8FEB922-14DB-4109-8A8B-B82D8D28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58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Segmentation of Bengali handwritten text into characters by recursive contour following by </a:t>
            </a:r>
            <a:r>
              <a:rPr lang="en-US" sz="2400" b="1" dirty="0" err="1"/>
              <a:t>Bishnu</a:t>
            </a:r>
            <a:r>
              <a:rPr lang="en-US" sz="2400" b="1" dirty="0"/>
              <a:t> and Choudhury[1]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cs typeface="Times New Roman" panose="02020603050405020304" pitchFamily="18" charset="0"/>
              </a:rPr>
              <a:t>Got fairly good results if the sequent characters are not touching in the zone of contour following </a:t>
            </a:r>
          </a:p>
          <a:p>
            <a:r>
              <a:rPr lang="en-US" sz="2400" b="1" dirty="0"/>
              <a:t>Segmenting Bangla Text for Optical Recognition by Sattar[2]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cs typeface="Times New Roman" panose="02020603050405020304" pitchFamily="18" charset="0"/>
              </a:rPr>
              <a:t>Examined the width of a single character sufficiently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EDFF363-B304-47B2-98CD-690A566BF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7990B93-2162-47EC-9A2E-203EB537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39E6-45BA-477B-A8BB-ECC8D72D4F34}" type="datetime2"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2804D47-AA3C-47CB-843C-E961400C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7067927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81015D2-AE02-4C7E-B382-CBA7B78B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9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F55DFD7E-1293-4491-9929-0DBCDBB4E59D}"/>
              </a:ext>
            </a:extLst>
          </p:cNvPr>
          <p:cNvSpPr/>
          <p:nvPr/>
        </p:nvSpPr>
        <p:spPr>
          <a:xfrm>
            <a:off x="5458651" y="187875"/>
            <a:ext cx="3187408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4C25EDFE-5926-489F-91E5-072C32F194B1}"/>
              </a:ext>
            </a:extLst>
          </p:cNvPr>
          <p:cNvSpPr/>
          <p:nvPr/>
        </p:nvSpPr>
        <p:spPr>
          <a:xfrm>
            <a:off x="5310400" y="2501845"/>
            <a:ext cx="3175338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978794" y="2557484"/>
            <a:ext cx="3296991" cy="1871815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pic>
        <p:nvPicPr>
          <p:cNvPr id="22" name="Graphic 21" descr="Arrow Slight curve">
            <a:extLst>
              <a:ext uri="{FF2B5EF4-FFF2-40B4-BE49-F238E27FC236}">
                <a16:creationId xmlns="" xmlns:a16="http://schemas.microsoft.com/office/drawing/2014/main" id="{9A22ED98-A80C-41EC-9BC7-66FAA1955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782583">
            <a:off x="3418439" y="1697990"/>
            <a:ext cx="2471415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A0EEADF3-212E-428A-BB6A-C415BA258C1D}"/>
              </a:ext>
            </a:extLst>
          </p:cNvPr>
          <p:cNvSpPr txBox="1"/>
          <p:nvPr/>
        </p:nvSpPr>
        <p:spPr>
          <a:xfrm>
            <a:off x="5742131" y="574462"/>
            <a:ext cx="2413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Bengali Script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1081826" y="3222512"/>
            <a:ext cx="3193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74263ADA-4611-4D36-89C7-38F9875F7532}"/>
              </a:ext>
            </a:extLst>
          </p:cNvPr>
          <p:cNvSpPr txBox="1"/>
          <p:nvPr/>
        </p:nvSpPr>
        <p:spPr>
          <a:xfrm>
            <a:off x="5310400" y="2933471"/>
            <a:ext cx="31753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  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38A9900E-BA68-4DA6-84A9-A0E2AA641A6C}"/>
              </a:ext>
            </a:extLst>
          </p:cNvPr>
          <p:cNvSpPr/>
          <p:nvPr/>
        </p:nvSpPr>
        <p:spPr>
          <a:xfrm>
            <a:off x="8929992" y="1467285"/>
            <a:ext cx="3124633" cy="2004795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A81CDD94-80B7-4E39-9191-D724AEA41C34}"/>
              </a:ext>
            </a:extLst>
          </p:cNvPr>
          <p:cNvSpPr/>
          <p:nvPr/>
        </p:nvSpPr>
        <p:spPr>
          <a:xfrm>
            <a:off x="6965349" y="4550076"/>
            <a:ext cx="3299113" cy="1773452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B563153-41E6-4634-AAFC-3CE5AD3EC19A}"/>
              </a:ext>
            </a:extLst>
          </p:cNvPr>
          <p:cNvSpPr txBox="1"/>
          <p:nvPr/>
        </p:nvSpPr>
        <p:spPr>
          <a:xfrm>
            <a:off x="8929992" y="1961154"/>
            <a:ext cx="31246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1E5CB935-E5A7-4E68-B7C4-EA12E609E0B6}"/>
              </a:ext>
            </a:extLst>
          </p:cNvPr>
          <p:cNvSpPr txBox="1"/>
          <p:nvPr/>
        </p:nvSpPr>
        <p:spPr>
          <a:xfrm>
            <a:off x="6948740" y="4976864"/>
            <a:ext cx="34187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 </a:t>
            </a:r>
          </a:p>
        </p:txBody>
      </p:sp>
      <p:pic>
        <p:nvPicPr>
          <p:cNvPr id="32" name="Graphic 31" descr="Arrow Slight curve">
            <a:extLst>
              <a:ext uri="{FF2B5EF4-FFF2-40B4-BE49-F238E27FC236}">
                <a16:creationId xmlns="" xmlns:a16="http://schemas.microsoft.com/office/drawing/2014/main" id="{04FBD34F-A0E0-4E4C-9F76-E8CE49E0D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398" y="3514899"/>
            <a:ext cx="1379628" cy="914400"/>
          </a:xfrm>
          <a:prstGeom prst="rect">
            <a:avLst/>
          </a:prstGeom>
        </p:spPr>
      </p:pic>
      <p:pic>
        <p:nvPicPr>
          <p:cNvPr id="34" name="Graphic 33" descr="Arrow Slight curve">
            <a:extLst>
              <a:ext uri="{FF2B5EF4-FFF2-40B4-BE49-F238E27FC236}">
                <a16:creationId xmlns=""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458427">
            <a:off x="8219354" y="3197378"/>
            <a:ext cx="1379628" cy="914400"/>
          </a:xfrm>
          <a:prstGeom prst="rect">
            <a:avLst/>
          </a:prstGeom>
        </p:spPr>
      </p:pic>
      <p:pic>
        <p:nvPicPr>
          <p:cNvPr id="35" name="Graphic 34" descr="Arrow Slight curve">
            <a:extLst>
              <a:ext uri="{FF2B5EF4-FFF2-40B4-BE49-F238E27FC236}">
                <a16:creationId xmlns="" xmlns:a16="http://schemas.microsoft.com/office/drawing/2014/main" id="{C8B06512-5ADE-4437-B25B-D42161C22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636500">
            <a:off x="8793334" y="3567574"/>
            <a:ext cx="2566557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04470AAA-63C2-4D8A-B65A-75C68148C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9800" y="16313"/>
            <a:ext cx="1092200" cy="11846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769631F4-BC89-47FA-AAAA-B005E288E963}"/>
              </a:ext>
            </a:extLst>
          </p:cNvPr>
          <p:cNvSpPr txBox="1"/>
          <p:nvPr/>
        </p:nvSpPr>
        <p:spPr>
          <a:xfrm>
            <a:off x="652778" y="5627057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1: Methodology.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FDCACC5-C353-4061-99A7-60C59E19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98625" y="6446837"/>
            <a:ext cx="2584850" cy="365125"/>
          </a:xfrm>
        </p:spPr>
        <p:txBody>
          <a:bodyPr/>
          <a:lstStyle/>
          <a:p>
            <a:fld id="{13E1D369-CCC5-49A5-B8BE-6DF4BED1114D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311FAF9-6353-477E-90D4-B74C0FCF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6187" y="6388834"/>
            <a:ext cx="6759161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7FE11EE-30EC-4947-BB31-F7B1814A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F55DFD7E-1293-4491-9929-0DBCDBB4E59D}"/>
              </a:ext>
            </a:extLst>
          </p:cNvPr>
          <p:cNvSpPr/>
          <p:nvPr/>
        </p:nvSpPr>
        <p:spPr>
          <a:xfrm>
            <a:off x="5708365" y="602713"/>
            <a:ext cx="3187408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4C25EDFE-5926-489F-91E5-072C32F194B1}"/>
              </a:ext>
            </a:extLst>
          </p:cNvPr>
          <p:cNvSpPr/>
          <p:nvPr/>
        </p:nvSpPr>
        <p:spPr>
          <a:xfrm>
            <a:off x="1858285" y="3177184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A0EEADF3-212E-428A-BB6A-C415BA258C1D}"/>
              </a:ext>
            </a:extLst>
          </p:cNvPr>
          <p:cNvSpPr txBox="1"/>
          <p:nvPr/>
        </p:nvSpPr>
        <p:spPr>
          <a:xfrm>
            <a:off x="6126480" y="1116097"/>
            <a:ext cx="2413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Bilateral Filtering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74263ADA-4611-4D36-89C7-38F9875F7532}"/>
              </a:ext>
            </a:extLst>
          </p:cNvPr>
          <p:cNvSpPr txBox="1"/>
          <p:nvPr/>
        </p:nvSpPr>
        <p:spPr>
          <a:xfrm>
            <a:off x="1974393" y="3730712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Scale Filtering</a:t>
            </a:r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A81CDD94-80B7-4E39-9191-D724AEA41C34}"/>
              </a:ext>
            </a:extLst>
          </p:cNvPr>
          <p:cNvSpPr/>
          <p:nvPr/>
        </p:nvSpPr>
        <p:spPr>
          <a:xfrm>
            <a:off x="8644474" y="3429000"/>
            <a:ext cx="2840944" cy="2327823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3B563153-41E6-4634-AAFC-3CE5AD3EC19A}"/>
              </a:ext>
            </a:extLst>
          </p:cNvPr>
          <p:cNvSpPr txBox="1"/>
          <p:nvPr/>
        </p:nvSpPr>
        <p:spPr>
          <a:xfrm>
            <a:off x="8678843" y="4252714"/>
            <a:ext cx="2806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Binarization</a:t>
            </a:r>
          </a:p>
        </p:txBody>
      </p:sp>
      <p:pic>
        <p:nvPicPr>
          <p:cNvPr id="34" name="Graphic 33" descr="Arrow Slight curve">
            <a:extLst>
              <a:ext uri="{FF2B5EF4-FFF2-40B4-BE49-F238E27FC236}">
                <a16:creationId xmlns=""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346721">
            <a:off x="8219758" y="2432566"/>
            <a:ext cx="1926444" cy="914400"/>
          </a:xfrm>
          <a:prstGeom prst="rect">
            <a:avLst/>
          </a:prstGeom>
        </p:spPr>
      </p:pic>
      <p:pic>
        <p:nvPicPr>
          <p:cNvPr id="18" name="Graphic 17" descr="Arrow Slight curve">
            <a:extLst>
              <a:ext uri="{FF2B5EF4-FFF2-40B4-BE49-F238E27FC236}">
                <a16:creationId xmlns="" xmlns:a16="http://schemas.microsoft.com/office/drawing/2014/main" id="{1F64C353-9383-4AB8-9DCE-80982E8B3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11338">
            <a:off x="3829595" y="2373327"/>
            <a:ext cx="2416295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38E486E-634B-4FA5-9400-B9887BEC9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800" y="10404"/>
            <a:ext cx="1092200" cy="11846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D79257A-0A9E-4C14-9342-7D63B1CB8234}"/>
              </a:ext>
            </a:extLst>
          </p:cNvPr>
          <p:cNvSpPr txBox="1"/>
          <p:nvPr/>
        </p:nvSpPr>
        <p:spPr>
          <a:xfrm>
            <a:off x="1320954" y="5572157"/>
            <a:ext cx="310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2: Preprocessing steps.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DB03297-3B80-4A53-8172-452ECEA2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3C6FB-6B19-48DA-87DB-62149B546DB0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4CF8325-3673-43CF-870D-770F4AE4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012" y="6446838"/>
            <a:ext cx="6840069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5B7ABF1-E81A-4B98-8CC7-075BF89E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16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1729862" y="1728588"/>
            <a:ext cx="2412943" cy="216829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1986751" y="2174765"/>
            <a:ext cx="18991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FEF2BB01-F790-43E3-87A1-65C1EC2B9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95" y="3896879"/>
            <a:ext cx="4148340" cy="16483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752A25E1-30BF-4C43-92C6-966E2C99AE6A}"/>
              </a:ext>
            </a:extLst>
          </p:cNvPr>
          <p:cNvSpPr txBox="1"/>
          <p:nvPr/>
        </p:nvSpPr>
        <p:spPr>
          <a:xfrm>
            <a:off x="417425" y="5740400"/>
            <a:ext cx="474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3: Line Segmentation using HPP [3].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2414964-6FD8-47DE-BAAA-F0AA06FF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-20042"/>
            <a:ext cx="1092200" cy="11846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A404965-D056-4492-920C-A1CD6C19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693B-535B-4975-B0FD-797EBC6F8E55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6E1C1C-5D6B-4EB8-ADF9-834FD807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977" y="6446838"/>
            <a:ext cx="6813176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7C69E78-235E-48F4-AC92-403E65A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55EEAC43-987C-47A2-B1F4-E9E5F04C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416" y="2108201"/>
            <a:ext cx="6157960" cy="37608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profile of an image along horizontal axis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for every row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all column pixel values inside the row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02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C9A1DCE8-7027-4634-A3DF-8B4693402E9D}"/>
              </a:ext>
            </a:extLst>
          </p:cNvPr>
          <p:cNvSpPr/>
          <p:nvPr/>
        </p:nvSpPr>
        <p:spPr>
          <a:xfrm>
            <a:off x="1040723" y="1679239"/>
            <a:ext cx="2412943" cy="2168290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57767DF6-4130-4C97-AC93-A70BEA4C5A0A}"/>
              </a:ext>
            </a:extLst>
          </p:cNvPr>
          <p:cNvSpPr txBox="1"/>
          <p:nvPr/>
        </p:nvSpPr>
        <p:spPr>
          <a:xfrm>
            <a:off x="1318884" y="2124622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7497771-970E-4932-80CB-570D63845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06" y="3986526"/>
            <a:ext cx="3366723" cy="14507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747366EB-AD90-486A-A771-D8C292A93865}"/>
              </a:ext>
            </a:extLst>
          </p:cNvPr>
          <p:cNvSpPr txBox="1"/>
          <p:nvPr/>
        </p:nvSpPr>
        <p:spPr>
          <a:xfrm>
            <a:off x="502184" y="5727363"/>
            <a:ext cx="474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4: Word Segmentation using VPP [3].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2414964-6FD8-47DE-BAAA-F0AA06FF5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-20042"/>
            <a:ext cx="1092200" cy="11846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A404965-D056-4492-920C-A1CD6C19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693B-535B-4975-B0FD-797EBC6F8E55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6E1C1C-5D6B-4EB8-ADF9-834FD807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977" y="6446838"/>
            <a:ext cx="6813176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7C69E78-235E-48F4-AC92-403E65A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4439753C-7A90-4F21-95E2-D1E6E9D94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416" y="2108201"/>
            <a:ext cx="6157960" cy="37608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profile of an image along vertical axis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for every column 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all row pixel values inside the column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15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393876" y="2049270"/>
            <a:ext cx="2925622" cy="227496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559074" y="2562130"/>
            <a:ext cx="2609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Opening Operation </a:t>
            </a:r>
          </a:p>
        </p:txBody>
      </p:sp>
      <p:pic>
        <p:nvPicPr>
          <p:cNvPr id="32" name="Graphic 31" descr="Arrow Slight curve">
            <a:extLst>
              <a:ext uri="{FF2B5EF4-FFF2-40B4-BE49-F238E27FC236}">
                <a16:creationId xmlns="" xmlns:a16="http://schemas.microsoft.com/office/drawing/2014/main" id="{04FBD34F-A0E0-4E4C-9F76-E8CE49E0D4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69777">
            <a:off x="2870528" y="3800789"/>
            <a:ext cx="1379628" cy="914400"/>
          </a:xfrm>
          <a:prstGeom prst="rect">
            <a:avLst/>
          </a:prstGeom>
        </p:spPr>
      </p:pic>
      <p:pic>
        <p:nvPicPr>
          <p:cNvPr id="34" name="Graphic 33" descr="Arrow Slight curve">
            <a:extLst>
              <a:ext uri="{FF2B5EF4-FFF2-40B4-BE49-F238E27FC236}">
                <a16:creationId xmlns=""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50980">
            <a:off x="6357866" y="3674590"/>
            <a:ext cx="1379628" cy="91440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="" xmlns:a16="http://schemas.microsoft.com/office/drawing/2014/main" id="{08FEE480-22EF-4810-94C0-458D3D6BD5F6}"/>
              </a:ext>
            </a:extLst>
          </p:cNvPr>
          <p:cNvSpPr/>
          <p:nvPr/>
        </p:nvSpPr>
        <p:spPr>
          <a:xfrm>
            <a:off x="4137994" y="3785558"/>
            <a:ext cx="2412943" cy="2168290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A81CBEA-E3A6-42E5-80B2-83E2C0420AD0}"/>
              </a:ext>
            </a:extLst>
          </p:cNvPr>
          <p:cNvSpPr txBox="1"/>
          <p:nvPr/>
        </p:nvSpPr>
        <p:spPr>
          <a:xfrm>
            <a:off x="4378837" y="4170278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314FB54C-CD98-40C4-93DF-523067C338D0}"/>
              </a:ext>
            </a:extLst>
          </p:cNvPr>
          <p:cNvSpPr/>
          <p:nvPr/>
        </p:nvSpPr>
        <p:spPr>
          <a:xfrm>
            <a:off x="7553658" y="2274976"/>
            <a:ext cx="2925622" cy="227496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F5416AD7-A254-4ED6-8B71-89B919FEFEB3}"/>
              </a:ext>
            </a:extLst>
          </p:cNvPr>
          <p:cNvSpPr txBox="1"/>
          <p:nvPr/>
        </p:nvSpPr>
        <p:spPr>
          <a:xfrm>
            <a:off x="7711649" y="2763353"/>
            <a:ext cx="2609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Closing Operation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12AE7FA-0E30-423C-BD12-F39883E8F147}"/>
              </a:ext>
            </a:extLst>
          </p:cNvPr>
          <p:cNvSpPr txBox="1"/>
          <p:nvPr/>
        </p:nvSpPr>
        <p:spPr>
          <a:xfrm>
            <a:off x="3678423" y="6048263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5: Character segmentation steps.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82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Image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A81CBEA-E3A6-42E5-80B2-83E2C0420AD0}"/>
              </a:ext>
            </a:extLst>
          </p:cNvPr>
          <p:cNvSpPr txBox="1"/>
          <p:nvPr/>
        </p:nvSpPr>
        <p:spPr>
          <a:xfrm>
            <a:off x="4378837" y="4170278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="" xmlns:a16="http://schemas.microsoft.com/office/drawing/2014/main" id="{A464EC19-62B9-4354-A42C-8D74A062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428" y="2289832"/>
            <a:ext cx="9012242" cy="376089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images may contain numerous imperfections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these imperfections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non-linear operations </a:t>
            </a:r>
          </a:p>
          <a:p>
            <a:pPr lvl="3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Erosion, Dilation, Opening, Closing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to the shape [4]</a:t>
            </a:r>
          </a:p>
        </p:txBody>
      </p:sp>
    </p:spTree>
    <p:extLst>
      <p:ext uri="{BB962C8B-B14F-4D97-AF65-F5344CB8AC3E}">
        <p14:creationId xmlns:p14="http://schemas.microsoft.com/office/powerpoint/2010/main" val="158417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Image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E9B80CA-C801-41DA-A94E-E1DBBF9FE071}"/>
              </a:ext>
            </a:extLst>
          </p:cNvPr>
          <p:cNvSpPr txBox="1"/>
          <p:nvPr/>
        </p:nvSpPr>
        <p:spPr>
          <a:xfrm>
            <a:off x="1097281" y="2023963"/>
            <a:ext cx="4622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Operation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94E8C2B-6F6D-4470-AFFB-AA5A091D4BD9}"/>
              </a:ext>
            </a:extLst>
          </p:cNvPr>
          <p:cNvSpPr txBox="1"/>
          <p:nvPr/>
        </p:nvSpPr>
        <p:spPr>
          <a:xfrm>
            <a:off x="6403694" y="2023963"/>
            <a:ext cx="4896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Closing Operation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A8228C41-388E-46A3-9AFC-9BE018081FD1}"/>
              </a:ext>
            </a:extLst>
          </p:cNvPr>
          <p:cNvSpPr txBox="1"/>
          <p:nvPr/>
        </p:nvSpPr>
        <p:spPr>
          <a:xfrm>
            <a:off x="1230367" y="2772231"/>
            <a:ext cx="4896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pixels from the edge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902DCB87-1F3C-45F9-8485-093A5BAA5A93}"/>
              </a:ext>
            </a:extLst>
          </p:cNvPr>
          <p:cNvSpPr txBox="1"/>
          <p:nvPr/>
        </p:nvSpPr>
        <p:spPr>
          <a:xfrm>
            <a:off x="6744707" y="2772231"/>
            <a:ext cx="4896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pixels from the edge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CAA54F10-C62F-40B4-B93A-E3DBB25B1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870" y="3684500"/>
            <a:ext cx="1066892" cy="14265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C72CFD88-8605-4492-8E17-6707430A8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739" y="3684500"/>
            <a:ext cx="1066892" cy="142658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BA3BEF6A-CD11-4003-A451-408133687FFA}"/>
              </a:ext>
            </a:extLst>
          </p:cNvPr>
          <p:cNvSpPr/>
          <p:nvPr/>
        </p:nvSpPr>
        <p:spPr>
          <a:xfrm>
            <a:off x="1049848" y="5341822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4D363BA9-80AC-4176-805C-0DBC61F65216}"/>
              </a:ext>
            </a:extLst>
          </p:cNvPr>
          <p:cNvSpPr/>
          <p:nvPr/>
        </p:nvSpPr>
        <p:spPr>
          <a:xfrm>
            <a:off x="4791717" y="5341822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After opening[5]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7B3E087D-A65A-4E49-BC38-4B51DB74AAC2}"/>
              </a:ext>
            </a:extLst>
          </p:cNvPr>
          <p:cNvSpPr/>
          <p:nvPr/>
        </p:nvSpPr>
        <p:spPr>
          <a:xfrm>
            <a:off x="8533586" y="5341822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After closing[6]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2CA481A8-080D-4197-BB6E-6314945F2066}"/>
              </a:ext>
            </a:extLst>
          </p:cNvPr>
          <p:cNvSpPr txBox="1"/>
          <p:nvPr/>
        </p:nvSpPr>
        <p:spPr>
          <a:xfrm>
            <a:off x="3699938" y="5894330"/>
            <a:ext cx="515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6: Morphological Image Processing. 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30D7CEA1-BE1E-48F2-8EAF-BD5445B4B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513" y="3684500"/>
            <a:ext cx="1066892" cy="142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7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2A81CBEA-E3A6-42E5-80B2-83E2C0420AD0}"/>
              </a:ext>
            </a:extLst>
          </p:cNvPr>
          <p:cNvSpPr txBox="1"/>
          <p:nvPr/>
        </p:nvSpPr>
        <p:spPr>
          <a:xfrm>
            <a:off x="4378837" y="4170278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3765" y="6446838"/>
            <a:ext cx="692075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="" xmlns:a16="http://schemas.microsoft.com/office/drawing/2014/main" id="{A464EC19-62B9-4354-A42C-8D74A062E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428" y="2023964"/>
            <a:ext cx="9012242" cy="402676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</a:p>
          <a:p>
            <a:pPr lvl="2"/>
            <a:r>
              <a:rPr lang="as-IN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আবারো টুনটুনি ও আবারো ছোটাচ্চু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Muhammed Zafar Iqbal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 </a:t>
            </a:r>
          </a:p>
          <a:p>
            <a:pPr lvl="2"/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 Desk Jet Ink Advantage 4675 All-in-One Printer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Scanned in 300 dpi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Wrote lines from the same book in A4 pages 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22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(Printed Script) 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CFB1B2CE-5D15-45A3-AAD9-5920132E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3597"/>
            <a:ext cx="2916103" cy="2737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C1A1F8A-DF81-4FA8-8B4F-E2C1B716A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102" y="2383596"/>
            <a:ext cx="2778527" cy="2737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BC7EF1B-E861-4B32-A726-395515647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452" y="2383596"/>
            <a:ext cx="2778528" cy="2737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9D878FE-1944-463B-8DD2-3000BF517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898" y="2383596"/>
            <a:ext cx="2783887" cy="2737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678423" y="6036721"/>
            <a:ext cx="5151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7: Preprocessing for Bengali printed script.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302582" y="5486348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821CE92-305D-4DE9-84FE-36087979B226}"/>
              </a:ext>
            </a:extLst>
          </p:cNvPr>
          <p:cNvSpPr/>
          <p:nvPr/>
        </p:nvSpPr>
        <p:spPr>
          <a:xfrm>
            <a:off x="2613520" y="5486348"/>
            <a:ext cx="3081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Applying Grayscale 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97E7D359-6BFF-4415-8FC2-5BFC6FCB61C9}"/>
              </a:ext>
            </a:extLst>
          </p:cNvPr>
          <p:cNvSpPr/>
          <p:nvPr/>
        </p:nvSpPr>
        <p:spPr>
          <a:xfrm>
            <a:off x="6096000" y="5489970"/>
            <a:ext cx="29314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Applying Bilateral 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9112321" y="5486348"/>
            <a:ext cx="3079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Image Binarization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D32AB6B-F478-45CC-A209-6AF86AF6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8D42-85B0-4CA3-A207-C65A841680B8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="" xmlns:a16="http://schemas.microsoft.com/office/drawing/2014/main" id="{33AAA758-E1E0-4572-B97B-B909622C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0307" y="6446838"/>
            <a:ext cx="6893858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="" xmlns:a16="http://schemas.microsoft.com/office/drawing/2014/main" id="{9507B282-4B3C-4B9B-A135-2A4CDD89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(Handwritten Script) 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2758554" y="6080508"/>
            <a:ext cx="620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8: Preprocessing for Bengali handwritten script.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302582" y="5486348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C821CE92-305D-4DE9-84FE-36087979B226}"/>
              </a:ext>
            </a:extLst>
          </p:cNvPr>
          <p:cNvSpPr/>
          <p:nvPr/>
        </p:nvSpPr>
        <p:spPr>
          <a:xfrm>
            <a:off x="2713736" y="5486348"/>
            <a:ext cx="3012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Applying Grayscale 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97E7D359-6BFF-4415-8FC2-5BFC6FCB61C9}"/>
              </a:ext>
            </a:extLst>
          </p:cNvPr>
          <p:cNvSpPr/>
          <p:nvPr/>
        </p:nvSpPr>
        <p:spPr>
          <a:xfrm>
            <a:off x="6096000" y="5489970"/>
            <a:ext cx="28712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Applying Bilateral 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9112321" y="5486348"/>
            <a:ext cx="30796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(d) Image Binarization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72F27F8-9EA7-4091-A167-60952E197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" y="2793508"/>
            <a:ext cx="2612202" cy="20789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F6C672EB-7F5F-4A65-8542-501B8B50B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692" y="2793508"/>
            <a:ext cx="3012147" cy="20789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E370FF62-880B-41D6-B57C-CF1541164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634" y="2793508"/>
            <a:ext cx="3006894" cy="20819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840AA920-BEA8-4460-BA20-916844D26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4308" y="2790160"/>
            <a:ext cx="2448694" cy="20786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7F87D7C-49B4-4C7E-A464-94C5F08C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DE1CB-2C19-4CC2-8782-27D16269A9EB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4AF56A0-E35B-4164-90E5-1AA52325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13" y="6446838"/>
            <a:ext cx="6786282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14FB5AF-EA44-41B3-95EA-5A2B0FE1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01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443334" y="6114756"/>
            <a:ext cx="597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9: Line segmentation of Bengali script using HPP.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2493520" y="5495349"/>
            <a:ext cx="25625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409852" y="5495349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7E6E1489-2FF1-4147-9FCB-7C5D0D6CB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45" y="1936019"/>
            <a:ext cx="4312467" cy="2985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40A5AD3-A754-4B93-A091-B6E3BF689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36018"/>
            <a:ext cx="5189173" cy="29859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9E1760E-2091-4485-AD89-F0511736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097B-CFF0-4D04-A0E7-9D3A51A19B7B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4984C59A-43FF-4FEB-BB41-A4B5A6EC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941" y="6456070"/>
            <a:ext cx="6779729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2B774B59-BB89-4B79-98B5-82ABA1B2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87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039036" y="6015816"/>
            <a:ext cx="6239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10: Word segmentation of Bengali script using VPP.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73348" y="5479211"/>
            <a:ext cx="27717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5D3CC3F-9056-4905-8000-91144EDF7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25545"/>
            <a:ext cx="5764040" cy="2917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C01A8E1-47C4-474D-B070-D250B6B6D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68" y="2023963"/>
            <a:ext cx="4934098" cy="29170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5569E15-19B1-4581-B3C9-11BFF8F0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B5AD-1853-4118-8E6C-BAF28C1D63C7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857C55C-8C49-4E5B-9C85-FE4DA19D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4071" y="6446838"/>
            <a:ext cx="6804211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DD599974-B1B4-4062-8552-363DEAB2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37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286408" y="6015221"/>
            <a:ext cx="653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11: Character segmentation of Bengali script using VPP.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73348" y="5479211"/>
            <a:ext cx="24669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116A2B1-2F70-4296-A88B-4EB8464BA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72" y="1904038"/>
            <a:ext cx="4976827" cy="3408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30435B2-6F69-49E8-BCB7-F58142CC3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23963"/>
            <a:ext cx="5790134" cy="328857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C5DBD5D-1624-4637-96FD-D4C29716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BCF8-995C-4310-9E04-61272E970FBA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F8204854-2732-41D7-A075-F8F6F64D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326" y="6492875"/>
            <a:ext cx="6764768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1277D1E3-59A8-4016-8F10-5471DC69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84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=""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 Engine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29F9CDFE-0A7C-4E3A-8170-1B1132715A94}"/>
              </a:ext>
            </a:extLst>
          </p:cNvPr>
          <p:cNvSpPr txBox="1"/>
          <p:nvPr/>
        </p:nvSpPr>
        <p:spPr>
          <a:xfrm>
            <a:off x="4668754" y="1885125"/>
            <a:ext cx="68532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in various environments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the HP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 in 100+ languages 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most complicated OCR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44210B4-CA00-4E57-B2AB-F2721F6DF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9B4FA97-DBB3-424D-A342-B0FFC533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038B-EA8B-4F38-BA5C-614278DF1D93}" type="datetime2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EE85F91-7464-4F13-8314-83A5A0D8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4995" y="6446838"/>
            <a:ext cx="6853288" cy="365125"/>
          </a:xfrm>
        </p:spPr>
        <p:txBody>
          <a:bodyPr/>
          <a:lstStyle/>
          <a:p>
            <a:r>
              <a:rPr lang="en-US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567ECC2-3803-4988-9745-A49E8755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21</a:t>
            </a:fld>
            <a:endParaRPr lang="en-US" b="1" noProof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6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</a:t>
            </a:r>
            <a:b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Tesseract OCR Engine</a:t>
            </a:r>
            <a:endParaRPr lang="en-IN" sz="4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2210856" y="6077506"/>
            <a:ext cx="7831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12: Comparing of character segmentation with Tesseract OCR engine.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96166" y="5479211"/>
            <a:ext cx="31613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Output from our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Output from the Tesseract OCR engine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D971766-BB25-44A1-88CA-BA62F03AB5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639"/>
          <a:stretch/>
        </p:blipFill>
        <p:spPr>
          <a:xfrm>
            <a:off x="595919" y="1883484"/>
            <a:ext cx="5305330" cy="3458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884F3B7-BD0A-4CCB-AC0C-A53E760728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139"/>
          <a:stretch/>
        </p:blipFill>
        <p:spPr>
          <a:xfrm>
            <a:off x="6126480" y="1722805"/>
            <a:ext cx="5716139" cy="361912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9815D2E-EF42-413C-8376-D81E4E4B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DDF3-69F5-4539-8231-8CD7962088C1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029B96C-50DF-4881-B3F2-049BD795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1" y="6446838"/>
            <a:ext cx="6840070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121F4E9D-F614-4DCE-B9E7-25FDC813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22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05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8BE8302-4C4D-4C05-8AC1-D85DE9FB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="" xmlns:a16="http://schemas.microsoft.com/office/drawing/2014/main" id="{0A2F0D1A-2450-44A0-87BA-F73A0577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837908" cy="365125"/>
          </a:xfrm>
        </p:spPr>
        <p:txBody>
          <a:bodyPr/>
          <a:lstStyle/>
          <a:p>
            <a:fld id="{F116073E-4497-4542-884F-6850C38342DB}" type="datetime2"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8D2EAB1B-FD5D-4A64-83EE-0E2A18F4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87622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7D42B2E9-A572-4F3E-BD94-48504408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89C3E1E-10F6-4A41-8709-9224C77C7EDB}"/>
              </a:ext>
            </a:extLst>
          </p:cNvPr>
          <p:cNvSpPr txBox="1"/>
          <p:nvPr/>
        </p:nvSpPr>
        <p:spPr>
          <a:xfrm>
            <a:off x="1867304" y="2057511"/>
            <a:ext cx="8272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Overall best accuracy and average accuracy of our system on printed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AFDE34D-06B0-4864-94E0-53956DCF28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21"/>
          <a:stretch/>
        </p:blipFill>
        <p:spPr>
          <a:xfrm>
            <a:off x="1086097" y="2842788"/>
            <a:ext cx="10408010" cy="26707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8BE8302-4C4D-4C05-8AC1-D85DE9FB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="" xmlns:a16="http://schemas.microsoft.com/office/drawing/2014/main" id="{0A2F0D1A-2450-44A0-87BA-F73A0577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073E-4497-4542-884F-6850C38342DB}" type="datetime2"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8D2EAB1B-FD5D-4A64-83EE-0E2A18F4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7003532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7D42B2E9-A572-4F3E-BD94-48504408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89C3E1E-10F6-4A41-8709-9224C77C7EDB}"/>
              </a:ext>
            </a:extLst>
          </p:cNvPr>
          <p:cNvSpPr txBox="1"/>
          <p:nvPr/>
        </p:nvSpPr>
        <p:spPr>
          <a:xfrm>
            <a:off x="1984519" y="2087661"/>
            <a:ext cx="828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Overall accuracy and average accuracy of our system of handwritten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htht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02" y="2821577"/>
            <a:ext cx="9588137" cy="267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8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6EDAF98-BA18-422B-B858-6A3E455D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6B049A7-94C4-4D6E-8E6A-CE10D997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70DC-817D-44CD-A54C-AF3C30502533}" type="datetime2"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1811881-C655-4425-AA38-2137AC7E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784591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049ACDF1-AAE1-44C5-9936-EC137AB4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25</a:t>
            </a:fld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07515A3-A3CB-4A4E-BB31-F5CC993070DA}"/>
              </a:ext>
            </a:extLst>
          </p:cNvPr>
          <p:cNvSpPr txBox="1"/>
          <p:nvPr/>
        </p:nvSpPr>
        <p:spPr>
          <a:xfrm>
            <a:off x="634698" y="5709429"/>
            <a:ext cx="1155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Line segmentation, Word segmentation and Character segmentation of printed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lw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743" y="1909550"/>
            <a:ext cx="8190411" cy="34200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6EDAF98-BA18-422B-B858-6A3E455D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6B049A7-94C4-4D6E-8E6A-CE10D997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70DC-817D-44CD-A54C-AF3C30502533}" type="datetime2"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1811881-C655-4425-AA38-2137AC7E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913380" cy="3651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049ACDF1-AAE1-44C5-9936-EC137AB4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07515A3-A3CB-4A4E-BB31-F5CC993070DA}"/>
              </a:ext>
            </a:extLst>
          </p:cNvPr>
          <p:cNvSpPr txBox="1"/>
          <p:nvPr/>
        </p:nvSpPr>
        <p:spPr>
          <a:xfrm>
            <a:off x="634698" y="5709429"/>
            <a:ext cx="1155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Line segmentation, Word segmentation and Character segmentation of handwritten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lw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1" y="1961945"/>
            <a:ext cx="8242662" cy="356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3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focused on the segmentation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Line, Word and Character Segmentation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good accuracy of our system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FD5E3DB-C3FB-40AA-902A-5791C2A12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5D8E16B-7BFD-43A3-8A01-F20FA39B1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0A6E-B3DA-423D-99FF-81A019BD3FF3}" type="datetime2">
              <a:rPr lang="en-US" b="1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34F2D12-E13D-47D5-97EE-9F72E079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7055048" cy="365125"/>
          </a:xfrm>
        </p:spPr>
        <p:txBody>
          <a:bodyPr/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0C08680-D19F-455B-A625-FEFA3FEF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27</a:t>
            </a:fld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More than 30 degree skewed lines</a:t>
            </a:r>
          </a:p>
          <a:p>
            <a:r>
              <a:rPr lang="en-US" sz="2400" b="1" dirty="0"/>
              <a:t>Inter-word gap equal to the inter-character gap</a:t>
            </a:r>
          </a:p>
          <a:p>
            <a:r>
              <a:rPr lang="en-US" sz="2400" b="1" dirty="0"/>
              <a:t>Overlapped characters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7D056-A642-43A3-B203-9C21AEAD9466}" type="datetime2">
              <a:rPr lang="en-US" b="1" noProof="0" smtClean="0"/>
              <a:pPr/>
              <a:t>Monday, July 13, 2020</a:t>
            </a:fld>
            <a:endParaRPr lang="en-US" b="1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7467172" cy="365125"/>
          </a:xfrm>
        </p:spPr>
        <p:txBody>
          <a:bodyPr/>
          <a:lstStyle/>
          <a:p>
            <a:r>
              <a:rPr lang="en-US" b="1" noProof="0" dirty="0">
                <a:latin typeface="Times New Roman" pitchFamily="18" charset="0"/>
                <a:cs typeface="Times New Roman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/>
              <a:pPr/>
              <a:t>28</a:t>
            </a:fld>
            <a:endParaRPr lang="en-US" b="1" noProof="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 plan to use HMM (Hidden Markov model)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19DE3B6-0279-40B4-B496-B8086E9DD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32F7DE6-C497-4A27-B814-C446F0E2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6A9B-AAEF-4473-B088-3AFBF160982C}" type="datetime2">
              <a:rPr lang="en-US" b="1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12E5F2C-7700-4212-B9A9-193660C6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7029290" cy="365125"/>
          </a:xfrm>
        </p:spPr>
        <p:txBody>
          <a:bodyPr/>
          <a:lstStyle/>
          <a:p>
            <a:r>
              <a:rPr lang="en-US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5006DDF-BB66-4EF4-AA98-5A5285E7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29</a:t>
            </a:fld>
            <a:endParaRPr lang="en-US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1097280" y="2023963"/>
            <a:ext cx="10482102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Bishnu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B.B. Chaudhuri (1999)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Bangla handwritten text into characters by recursive contour following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Proceedings of the Fifth International Conference on Document Analysis and Recognition. ICDAR '99: IEEE.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Abdus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Sattar, Khaled Mahmud, Humayun Arafat and A. F.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M.Noor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Zaman,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Segmenting Bangla Text for Optical Recognition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”ICCIT, 2007. ISBN: 978-1-4244-1550-2, pp. 1-6.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 Zahan, M.R. Selim, M.S. Rahman, M.Z. Iqbal, (2018).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Component Analysis Based Two Zone Approach for Bangla Character Segmentation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 1-4.10.1109/ICBSLP.2018.8554684.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A2A94D9-582F-424F-9E18-FB7A483E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DA86-30F1-49D4-A0E4-FF628971F937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79FD3C7-226D-485C-834A-4EDB4490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4071" y="6446838"/>
            <a:ext cx="6795247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8D6A84F-4D3A-426F-B7D2-C7A996B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734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=""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1097280" y="2023963"/>
            <a:ext cx="10482102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H. Bosworth, S. T. Acton, “</a:t>
            </a:r>
            <a:r>
              <a:rPr lang="en-US" sz="2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scale-space in image processing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Digital Signal Processing, Volume 13, Issue 2, 2003, Pages 338-367, ISSN 1051-2004, https://doi.org/10.1016/S1051-2004(02)00033-7.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https://homepages.inf.ed.ac.uk/rbf/HIPR2/open.html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https://homepages.inf.ed.ac.uk/rbf/HIPR2/close.html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A2A94D9-582F-424F-9E18-FB7A483E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DA86-30F1-49D4-A0E4-FF628971F937}" type="datetime2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79FD3C7-226D-485C-834A-4EDB4490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773733" cy="365125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8D6A84F-4D3A-426F-B7D2-C7A996B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31</a:t>
            </a:fld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711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9E3965E-AC41-4711-9D10-E25ABB132D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1F5DC8C3-BA5F-4EED-BB9A-A14272BD82A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FBDCECDC-EEE3-4128-AA5E-82A8C08796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4260EDE0-989C-4E16-AF94-F652294D82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b="1" cap="all" spc="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7CFEE9C-9E9D-49F3-B6B8-78869818B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891" y="338000"/>
            <a:ext cx="2429684" cy="263527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7D01ED8-AB5A-4EE2-BD60-7A0377CA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6CBC-5AEB-4B81-BA1A-CBC332C575A4}" type="datetime2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Monday, July 13, 2020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6D50DB1-1A0C-4AAC-B08D-EF95F888D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990653" cy="3651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F54E126-A77E-44FA-8874-12E9943A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32</a:t>
            </a:fld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1243</Words>
  <Application>Microsoft Office PowerPoint</Application>
  <PresentationFormat>Custom</PresentationFormat>
  <Paragraphs>263</Paragraphs>
  <Slides>32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RetrospectVTI</vt:lpstr>
      <vt:lpstr>PowerPoint Presentation</vt:lpstr>
      <vt:lpstr>Outline</vt:lpstr>
      <vt:lpstr>Introduction</vt:lpstr>
      <vt:lpstr>Challenges</vt:lpstr>
      <vt:lpstr>Motivation </vt:lpstr>
      <vt:lpstr>Objective </vt:lpstr>
      <vt:lpstr>Literature Review</vt:lpstr>
      <vt:lpstr>Methodology </vt:lpstr>
      <vt:lpstr>Preprocessing </vt:lpstr>
      <vt:lpstr> Line Segmentation </vt:lpstr>
      <vt:lpstr> Word Segmentation </vt:lpstr>
      <vt:lpstr> Character Segmentation </vt:lpstr>
      <vt:lpstr>Morphological Image Processing </vt:lpstr>
      <vt:lpstr>Morphological Image Processing </vt:lpstr>
      <vt:lpstr>Dataset</vt:lpstr>
      <vt:lpstr>Result Analysis Preprocessing (Printed Script) </vt:lpstr>
      <vt:lpstr>Result Analysis Preprocessing (Handwritten Script) </vt:lpstr>
      <vt:lpstr>Result Analysis Line Segmentation</vt:lpstr>
      <vt:lpstr>Result Analysis Word Segmentation</vt:lpstr>
      <vt:lpstr>Result Analysis Character Segmentation</vt:lpstr>
      <vt:lpstr>Tesseract OCR Engine </vt:lpstr>
      <vt:lpstr>Result Analysis  Comparison with Tesseract OCR Engine</vt:lpstr>
      <vt:lpstr>Accuracy</vt:lpstr>
      <vt:lpstr>Accuracy</vt:lpstr>
      <vt:lpstr>Accuracy Graph</vt:lpstr>
      <vt:lpstr>Accuracy Graph</vt:lpstr>
      <vt:lpstr>Conclusion</vt:lpstr>
      <vt:lpstr>Limitations</vt:lpstr>
      <vt:lpstr>Future Scope</vt:lpstr>
      <vt:lpstr>References </vt:lpstr>
      <vt:lpstr>References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2020-07-05T17:08:13Z</dcterms:created>
  <dcterms:modified xsi:type="dcterms:W3CDTF">2020-07-13T08:20:50Z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
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089" r:id="rId4"/>
  </p:sldMasterIdLst>
  <p:notesMasterIdLst>
    <p:notesMasterId r:id="rId21"/>
  </p:notesMasterIdLst>
  <p:handoutMasterIdLst>
    <p:handoutMasterId r:id="rId22"/>
  </p:handoutMasterIdLst>
  <p:sldIdLst>
    <p:sldId id="269" r:id="rId5"/>
    <p:sldId id="293" r:id="rId6"/>
    <p:sldId id="294" r:id="rId7"/>
    <p:sldId id="295" r:id="rId8"/>
    <p:sldId id="278" r:id="rId9"/>
    <p:sldId id="288" r:id="rId10"/>
    <p:sldId id="289" r:id="rId11"/>
    <p:sldId id="290" r:id="rId12"/>
    <p:sldId id="283" r:id="rId13"/>
    <p:sldId id="296" r:id="rId14"/>
    <p:sldId id="298" r:id="rId15"/>
    <p:sldId id="287" r:id="rId16"/>
    <p:sldId id="292" r:id="rId17"/>
    <p:sldId id="276" r:id="rId18"/>
    <p:sldId id="284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133E57"/>
    <a:srgbClr val="184259"/>
    <a:srgbClr val="700000"/>
    <a:srgbClr val="6699FF"/>
    <a:srgbClr val="9C4E4E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4662" autoAdjust="0"/>
  </p:normalViewPr>
  <p:slideViewPr>
    <p:cSldViewPr snapToGrid="0">
      <p:cViewPr>
        <p:scale>
          <a:sx n="75" d="100"/>
          <a:sy n="75" d="100"/>
        </p:scale>
        <p:origin x="-552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8"/>
    </p:cViewPr>
  </p:sorterViewPr>
  <p:notesViewPr>
    <p:cSldViewPr snapToGrid="0"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12/21/2019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12/21/2019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AF9CF-D1E5-49FD-94F7-B246BB67E24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79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36CD-51DA-4894-8FE4-4DCDEB43C4B9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477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BB01-EEB1-479A-9D40-8C9FED007486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328F7C25-BFB6-430F-87B6-7D0D2C749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20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0D954-F477-479D-9AB4-612304FC81C4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95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96724-83E2-4C78-A144-2CC8FCF7B94C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: Rounded Corners 8">
            <a:extLst>
              <a:ext uri="{FF2B5EF4-FFF2-40B4-BE49-F238E27FC236}">
                <a16:creationId xmlns=""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7" y="1790228"/>
            <a:ext cx="10863359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E8539E0A-8009-4A6E-A7A1-5AEFA52206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49" y="996913"/>
            <a:ext cx="3667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23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E6497-A091-4D11-BF29-FB3F2A79F61E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10" name="Picture 9" descr="Celestia-R1---OverlayContentHD.png">
            <a:extLst>
              <a:ext uri="{FF2B5EF4-FFF2-40B4-BE49-F238E27FC236}">
                <a16:creationId xmlns=""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825" cy="685621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8031B0A9-3E16-4C5B-A6CE-045BCB91A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49" y="939763"/>
            <a:ext cx="3667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46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85E5-7B60-49A4-BA0A-DD0B6BC550E4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398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EDE2-F859-4E44-A154-AAF7B5624369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0709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5F12-01DF-4B18-A8B5-9964F33EE807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332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67F7-2C21-4074-8102-2FD54D120397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908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64983-8E8C-4435-9E9F-1B7F17B61B62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144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53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53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88D7-655E-4261-9A52-92D25487EFF9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9946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=""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5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5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6FCF-F8C7-447A-8251-400336E0FC05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2"/>
            <a:ext cx="1310051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5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=""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5" y="3837472"/>
            <a:ext cx="1310051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=""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2"/>
            <a:ext cx="1310051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=""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2"/>
            <a:ext cx="1310051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=""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49" y="3837472"/>
            <a:ext cx="1310051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CC5A0CF1-9FE7-4149-97DC-5221639144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5" y="995967"/>
            <a:ext cx="623887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50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3C580-091D-4612-BA6B-0EE1059401AC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6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6" y="914402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6" y="2255969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1803-D9DF-495E-B559-14103B66EBF8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22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6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8FFE6-87F0-4A3E-B372-FEF9ECFC329B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6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550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3679" r:id="rId12"/>
    <p:sldLayoutId id="2147483669" r:id="rId13"/>
    <p:sldLayoutId id="2147483680" r:id="rId14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="" xmlns:a16="http://schemas.microsoft.com/office/drawing/2014/main" id="{4A933359-FD1F-49C0-91FD-6F1B80D37B29}"/>
              </a:ext>
            </a:extLst>
          </p:cNvPr>
          <p:cNvSpPr txBox="1">
            <a:spLocks/>
          </p:cNvSpPr>
          <p:nvPr/>
        </p:nvSpPr>
        <p:spPr bwMode="white">
          <a:xfrm>
            <a:off x="345989" y="111211"/>
            <a:ext cx="11560876" cy="13054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Bangladesh Army International University Of Science And Technology</a:t>
            </a: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="" xmlns:a16="http://schemas.microsoft.com/office/drawing/2014/main" id="{4B8183E8-94E2-4373-953B-913E05A8B5CA}"/>
              </a:ext>
            </a:extLst>
          </p:cNvPr>
          <p:cNvSpPr/>
          <p:nvPr/>
        </p:nvSpPr>
        <p:spPr>
          <a:xfrm>
            <a:off x="471949" y="1543667"/>
            <a:ext cx="11434916" cy="1611657"/>
          </a:xfrm>
          <a:prstGeom prst="round2Diag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Tentative </a:t>
            </a:r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nalysis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connected component for Bengali Character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3">
            <a:extLst>
              <a:ext uri="{FF2B5EF4-FFF2-40B4-BE49-F238E27FC236}">
                <a16:creationId xmlns="" xmlns:a16="http://schemas.microsoft.com/office/drawing/2014/main" id="{D854756D-B3BB-415C-969A-1E864878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46" y="3295600"/>
            <a:ext cx="4900793" cy="316765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Pritilata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Biswas</a:t>
            </a:r>
            <a:r>
              <a:rPr lang="en-US" sz="27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1103017)</a:t>
            </a:r>
            <a:b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Sumaia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Afrin </a:t>
            </a:r>
            <a:r>
              <a:rPr lang="en-US" sz="27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Prity</a:t>
            </a:r>
            <a:r>
              <a:rPr lang="en-US" sz="27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1103057)</a:t>
            </a:r>
            <a:b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Parvez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Abedin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Siddique</a:t>
            </a:r>
            <a:r>
              <a:rPr lang="en-US" sz="27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1103094)</a:t>
            </a:r>
            <a:b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itchFamily="18" charset="0"/>
                <a:cs typeface="Times New Roman" panose="02020603050405020304" pitchFamily="18" charset="0"/>
              </a:rPr>
              <a:t>Department of CSE</a:t>
            </a:r>
            <a:br>
              <a:rPr lang="en-US" cap="none" dirty="0">
                <a:latin typeface="Times New Roman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itchFamily="18" charset="0"/>
                <a:cs typeface="Times New Roman" panose="02020603050405020304" pitchFamily="18" charset="0"/>
              </a:rPr>
              <a:t>BAIUST</a:t>
            </a:r>
            <a:br>
              <a:rPr lang="en-US" cap="none" dirty="0">
                <a:latin typeface="Times New Roman" pitchFamily="18" charset="0"/>
                <a:cs typeface="Times New Roman" panose="02020603050405020304" pitchFamily="18" charset="0"/>
              </a:rPr>
            </a:br>
            <a:endParaRPr lang="en-US" cap="none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itle 13">
            <a:extLst>
              <a:ext uri="{FF2B5EF4-FFF2-40B4-BE49-F238E27FC236}">
                <a16:creationId xmlns="" xmlns:a16="http://schemas.microsoft.com/office/drawing/2014/main" id="{23B4CA85-6F19-469A-96FE-D1ADABBE753A}"/>
              </a:ext>
            </a:extLst>
          </p:cNvPr>
          <p:cNvSpPr txBox="1">
            <a:spLocks/>
          </p:cNvSpPr>
          <p:nvPr/>
        </p:nvSpPr>
        <p:spPr bwMode="white">
          <a:xfrm>
            <a:off x="7521262" y="3567448"/>
            <a:ext cx="4823139" cy="3167652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r>
              <a:rPr lang="en-US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cap="none" dirty="0" err="1">
                <a:latin typeface="Times New Roman" pitchFamily="18" charset="0"/>
                <a:cs typeface="Times New Roman" panose="02020603050405020304" pitchFamily="18" charset="0"/>
              </a:rPr>
              <a:t>Arifa</a:t>
            </a:r>
            <a: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  <a:t> Islam </a:t>
            </a:r>
            <a:r>
              <a:rPr lang="en-US" sz="2800" cap="none" dirty="0" err="1">
                <a:latin typeface="Times New Roman" pitchFamily="18" charset="0"/>
                <a:cs typeface="Times New Roman" panose="02020603050405020304" pitchFamily="18" charset="0"/>
              </a:rPr>
              <a:t>Champa</a:t>
            </a:r>
            <a: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  <a:t/>
            </a:r>
            <a:b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</a:br>
            <a: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  <a:t>Lecturer</a:t>
            </a:r>
            <a:b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</a:br>
            <a: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  <a:t>Department of CSE</a:t>
            </a:r>
            <a:b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</a:br>
            <a: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  <a:t>BAIUST</a:t>
            </a:r>
            <a:br>
              <a:rPr lang="en-US" sz="2800" cap="none" dirty="0">
                <a:latin typeface="Times New Roman" pitchFamily="18" charset="0"/>
                <a:cs typeface="Times New Roman" panose="02020603050405020304" pitchFamily="18" charset="0"/>
              </a:rPr>
            </a:br>
            <a:endParaRPr lang="en-US" sz="2800" cap="none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9D205-58B6-4720-9A76-336EE2A4A26B}" type="datetime1">
              <a:rPr lang="en-US" noProof="0" smtClean="0"/>
              <a:t>12/21/2019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028" y="203887"/>
            <a:ext cx="109728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lvl="7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5B03D-7995-4B81-9AC0-EFD16F3C209C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b="1" noProof="0" smtClean="0"/>
              <a:t>2</a:t>
            </a:fld>
            <a:endParaRPr lang="en-US" b="1" noProof="0" dirty="0"/>
          </a:p>
        </p:txBody>
      </p:sp>
      <p:sp>
        <p:nvSpPr>
          <p:cNvPr id="7" name="Snip Diagonal Corner Rectangle 6"/>
          <p:cNvSpPr/>
          <p:nvPr/>
        </p:nvSpPr>
        <p:spPr>
          <a:xfrm>
            <a:off x="654908" y="247135"/>
            <a:ext cx="10972799" cy="902043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2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ifth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most written script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opologically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connected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building a good OCR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1: Some compound characters in Bengali script [1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534C-4485-410A-A630-9DAFDFEFBC47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7" name="Snip Diagonal Corner Rectangle 6"/>
          <p:cNvSpPr/>
          <p:nvPr/>
        </p:nvSpPr>
        <p:spPr>
          <a:xfrm>
            <a:off x="630196" y="284205"/>
            <a:ext cx="10935728" cy="914401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C807D69-1D5D-4379-81CF-82E3FE4E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3271823"/>
            <a:ext cx="5701986" cy="198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8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7849"/>
            <a:ext cx="109728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Printed text OCR have a huge success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ethods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handwritten OCR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HPP and VPP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DFS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multi font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Major problem -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Matra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line removing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2: Characters splits into two parts [1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248FC-D4DD-41CA-8F7A-D16A6E104C26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nip Diagonal Corner Rectangle 8"/>
          <p:cNvSpPr/>
          <p:nvPr/>
        </p:nvSpPr>
        <p:spPr>
          <a:xfrm>
            <a:off x="630195" y="308919"/>
            <a:ext cx="10935729" cy="902043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MOTIVATION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89D8DB4A-DFB8-4C1D-A3A0-CFCBF22B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902" y="4265801"/>
            <a:ext cx="6328196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5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B6FF773-9278-4801-99DA-C811406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16667"/>
            <a:ext cx="10840915" cy="4786425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Rahman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M.Z.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Iqbal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(2018). “Connected Component Analysis Based Two Zone Approach for Bangla Character Segmentation.” pp - 1-4. 10.1109/ICBSLP.2018.8554684. [1],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Processing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Segmentation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Word Segmentation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Character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Inadequacy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 problem occurs in step 4 after removing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E92066D8-829F-49E0-AD36-3E2CE4BAB9AF}"/>
              </a:ext>
            </a:extLst>
          </p:cNvPr>
          <p:cNvSpPr txBox="1">
            <a:spLocks/>
          </p:cNvSpPr>
          <p:nvPr/>
        </p:nvSpPr>
        <p:spPr bwMode="white">
          <a:xfrm>
            <a:off x="697241" y="1416667"/>
            <a:ext cx="10840915" cy="847371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 w="3175" cmpd="sng"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E53B-802F-4FE6-9813-062030230C14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nip Diagonal Corner Rectangle 8"/>
          <p:cNvSpPr/>
          <p:nvPr/>
        </p:nvSpPr>
        <p:spPr>
          <a:xfrm>
            <a:off x="605481" y="308919"/>
            <a:ext cx="10932675" cy="914400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BACKGROUND STUDY</a:t>
            </a:r>
          </a:p>
        </p:txBody>
      </p:sp>
    </p:spTree>
    <p:extLst>
      <p:ext uri="{BB962C8B-B14F-4D97-AF65-F5344CB8AC3E}">
        <p14:creationId xmlns:p14="http://schemas.microsoft.com/office/powerpoint/2010/main" val="24937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B6FF773-9278-4801-99DA-C811406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16667"/>
            <a:ext cx="10840915" cy="4374535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HPP – Horizontal Profile Projection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Line segmentation process  [1]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VPP – Vertical Profile Projection 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Word segmentation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E92066D8-829F-49E0-AD36-3E2CE4BAB9AF}"/>
              </a:ext>
            </a:extLst>
          </p:cNvPr>
          <p:cNvSpPr txBox="1">
            <a:spLocks/>
          </p:cNvSpPr>
          <p:nvPr/>
        </p:nvSpPr>
        <p:spPr bwMode="white">
          <a:xfrm>
            <a:off x="697241" y="1416667"/>
            <a:ext cx="10840915" cy="847371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 w="3175" cmpd="sng"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42FE63C-BEF2-45CC-A6EF-08CB6F83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41" y="2335759"/>
            <a:ext cx="5259278" cy="21949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CA29A21-0F39-406F-A247-4996C5A3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763" y="2264038"/>
            <a:ext cx="5234956" cy="224155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F9886549-6FA0-4012-A7E4-AE30BDB18989}"/>
              </a:ext>
            </a:extLst>
          </p:cNvPr>
          <p:cNvCxnSpPr>
            <a:cxnSpLocks/>
          </p:cNvCxnSpPr>
          <p:nvPr/>
        </p:nvCxnSpPr>
        <p:spPr>
          <a:xfrm flipH="1">
            <a:off x="6001641" y="1416667"/>
            <a:ext cx="11440" cy="43745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A503-3BEE-41AF-BC1F-08BB7F548DE9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nip Diagonal Corner Rectangle 11"/>
          <p:cNvSpPr/>
          <p:nvPr/>
        </p:nvSpPr>
        <p:spPr>
          <a:xfrm>
            <a:off x="593124" y="308919"/>
            <a:ext cx="10945032" cy="926757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</a:p>
        </p:txBody>
      </p:sp>
    </p:spTree>
    <p:extLst>
      <p:ext uri="{BB962C8B-B14F-4D97-AF65-F5344CB8AC3E}">
        <p14:creationId xmlns:p14="http://schemas.microsoft.com/office/powerpoint/2010/main" val="249641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B6FF773-9278-4801-99DA-C811406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16667"/>
            <a:ext cx="10840915" cy="5089236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(a)                                             (b)                              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c)</a:t>
            </a:r>
          </a:p>
          <a:p>
            <a:pPr marL="0" indent="0" algn="ctr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5:  (a) Input image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(b) After erosion, (c) After dilation  [4]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E92066D8-829F-49E0-AD36-3E2CE4BAB9AF}"/>
              </a:ext>
            </a:extLst>
          </p:cNvPr>
          <p:cNvSpPr txBox="1">
            <a:spLocks/>
          </p:cNvSpPr>
          <p:nvPr/>
        </p:nvSpPr>
        <p:spPr bwMode="white">
          <a:xfrm>
            <a:off x="697241" y="1416667"/>
            <a:ext cx="10840915" cy="847371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 w="3175" cmpd="sng"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AA54F10-C62F-40B4-B93A-E3DBB25B1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906" y="1840352"/>
            <a:ext cx="1066892" cy="14265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0D7CEA1-BE1E-48F2-8EAF-BD5445B4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488" y="1853052"/>
            <a:ext cx="1066892" cy="1426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72CFD88-8605-4492-8E17-6707430A8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688" y="1840352"/>
            <a:ext cx="1066892" cy="1426588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2E4A-A666-4B37-99A2-BE96C3FF77F0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nip Diagonal Corner Rectangle 11"/>
          <p:cNvSpPr/>
          <p:nvPr/>
        </p:nvSpPr>
        <p:spPr>
          <a:xfrm>
            <a:off x="593125" y="296563"/>
            <a:ext cx="10945032" cy="889686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</a:p>
        </p:txBody>
      </p:sp>
    </p:spTree>
    <p:extLst>
      <p:ext uri="{BB962C8B-B14F-4D97-AF65-F5344CB8AC3E}">
        <p14:creationId xmlns:p14="http://schemas.microsoft.com/office/powerpoint/2010/main" val="126274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B6FF773-9278-4801-99DA-C811406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16667"/>
            <a:ext cx="10840915" cy="4374535"/>
          </a:xfrm>
        </p:spPr>
        <p:txBody>
          <a:bodyPr numCol="1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and Closing: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Figure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6: Opening  [5]                          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7: Closing  [6]</a:t>
            </a:r>
          </a:p>
          <a:p>
            <a:pPr marL="0" indent="0">
              <a:buNone/>
            </a:pP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E92066D8-829F-49E0-AD36-3E2CE4BAB9AF}"/>
              </a:ext>
            </a:extLst>
          </p:cNvPr>
          <p:cNvSpPr txBox="1">
            <a:spLocks/>
          </p:cNvSpPr>
          <p:nvPr/>
        </p:nvSpPr>
        <p:spPr bwMode="white">
          <a:xfrm>
            <a:off x="697241" y="1416667"/>
            <a:ext cx="10840915" cy="847371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 w="3175" cmpd="sng"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B644451B-5F08-4253-B0BF-8235E5C6A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66" y="2383247"/>
            <a:ext cx="2255716" cy="16887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21A2EF1-A882-43A6-839B-BA66E145D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865" y="2383247"/>
            <a:ext cx="2267909" cy="169483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C757E-B65B-4041-AD60-A3DF56BCF0F1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nip Diagonal Corner Rectangle 10"/>
          <p:cNvSpPr/>
          <p:nvPr/>
        </p:nvSpPr>
        <p:spPr>
          <a:xfrm>
            <a:off x="605481" y="308920"/>
            <a:ext cx="10932675" cy="926756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</a:p>
        </p:txBody>
      </p:sp>
    </p:spTree>
    <p:extLst>
      <p:ext uri="{BB962C8B-B14F-4D97-AF65-F5344CB8AC3E}">
        <p14:creationId xmlns:p14="http://schemas.microsoft.com/office/powerpoint/2010/main" val="395795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7" y="1606639"/>
            <a:ext cx="10972799" cy="448936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enhance Bengali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OCR with connected component analysis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mprovise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Profile Projection with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Closing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operations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mplement Closing for Profile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Projection with Dilation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Erosion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Comparative analysis between existing and proposed method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nip Diagonal Corner Rectangle 4"/>
          <p:cNvSpPr/>
          <p:nvPr/>
        </p:nvSpPr>
        <p:spPr>
          <a:xfrm>
            <a:off x="642551" y="308918"/>
            <a:ext cx="10935730" cy="926758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B8006-9159-4CF8-ADEE-74CD5D40C383}" type="datetime1">
              <a:rPr lang="en-US" noProof="0" smtClean="0"/>
              <a:t>12/21/2019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391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7AEA3DB-4C18-4010-A39C-A5ACEFECCA09}"/>
              </a:ext>
            </a:extLst>
          </p:cNvPr>
          <p:cNvSpPr txBox="1"/>
          <p:nvPr/>
        </p:nvSpPr>
        <p:spPr>
          <a:xfrm>
            <a:off x="2424912" y="5721660"/>
            <a:ext cx="6905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8: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19F3-8F0C-4DA5-9452-04C368DCBCF1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35178"/>
          </a:xfrm>
        </p:spPr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9" name="Snip Diagonal Corner Rectangle 8"/>
          <p:cNvSpPr/>
          <p:nvPr/>
        </p:nvSpPr>
        <p:spPr>
          <a:xfrm>
            <a:off x="580767" y="259492"/>
            <a:ext cx="10997513" cy="963827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91D49F3-9430-4F53-9FFB-293D62ED1E01}"/>
              </a:ext>
            </a:extLst>
          </p:cNvPr>
          <p:cNvSpPr txBox="1"/>
          <p:nvPr/>
        </p:nvSpPr>
        <p:spPr>
          <a:xfrm>
            <a:off x="4458510" y="1391174"/>
            <a:ext cx="2299556" cy="51223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Input RGB Image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="" xmlns:a16="http://schemas.microsoft.com/office/drawing/2014/main" id="{3F8DDE4E-8C2A-4983-A668-A19EB2A3999F}"/>
              </a:ext>
            </a:extLst>
          </p:cNvPr>
          <p:cNvSpPr txBox="1"/>
          <p:nvPr/>
        </p:nvSpPr>
        <p:spPr>
          <a:xfrm>
            <a:off x="435720" y="1373867"/>
            <a:ext cx="2768631" cy="192017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Step 1: Input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Processing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Apply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Grey </a:t>
            </a:r>
            <a:r>
              <a:rPr 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cale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filter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Apply </a:t>
            </a:r>
            <a:r>
              <a:rPr 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ilateral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filter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Apply </a:t>
            </a:r>
            <a:r>
              <a:rPr lang="en-US" sz="16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Bit Plane slicing</a:t>
            </a:r>
            <a:endParaRPr kumimoji="0" lang="en-US" sz="1600" b="0" i="0" u="none" strike="noStrike" kern="0" cap="none" spc="0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Skew Angle correction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="" xmlns:a16="http://schemas.microsoft.com/office/drawing/2014/main" id="{45B6504C-02C9-404C-BC9B-9EA2FB9B175A}"/>
              </a:ext>
            </a:extLst>
          </p:cNvPr>
          <p:cNvSpPr/>
          <p:nvPr/>
        </p:nvSpPr>
        <p:spPr>
          <a:xfrm>
            <a:off x="2914175" y="2732301"/>
            <a:ext cx="998220" cy="270510"/>
          </a:xfrm>
          <a:prstGeom prst="rightArrow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="" xmlns:a16="http://schemas.microsoft.com/office/drawing/2014/main" id="{8AA88F64-4A70-48F0-A76A-7539CB4D877C}"/>
              </a:ext>
            </a:extLst>
          </p:cNvPr>
          <p:cNvSpPr txBox="1"/>
          <p:nvPr/>
        </p:nvSpPr>
        <p:spPr>
          <a:xfrm>
            <a:off x="3912394" y="2190817"/>
            <a:ext cx="2391551" cy="120729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2: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ine Segmentation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Apply HPP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="" xmlns:a16="http://schemas.microsoft.com/office/drawing/2014/main" id="{244BD0DA-C010-4835-AB22-AECA73F636D7}"/>
              </a:ext>
            </a:extLst>
          </p:cNvPr>
          <p:cNvSpPr/>
          <p:nvPr/>
        </p:nvSpPr>
        <p:spPr>
          <a:xfrm flipV="1">
            <a:off x="6331532" y="2738926"/>
            <a:ext cx="853068" cy="251267"/>
          </a:xfrm>
          <a:prstGeom prst="rightArrow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="" xmlns:a16="http://schemas.microsoft.com/office/drawing/2014/main" id="{F35361B0-5A16-41D4-8178-2A4B9D240A3B}"/>
              </a:ext>
            </a:extLst>
          </p:cNvPr>
          <p:cNvSpPr txBox="1"/>
          <p:nvPr/>
        </p:nvSpPr>
        <p:spPr>
          <a:xfrm>
            <a:off x="7212187" y="1826842"/>
            <a:ext cx="2844799" cy="139169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Steps 3: Word Segmentation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Apply VPP</a:t>
            </a:r>
          </a:p>
        </p:txBody>
      </p:sp>
      <p:sp>
        <p:nvSpPr>
          <p:cNvPr id="18" name="Text Box 23">
            <a:extLst>
              <a:ext uri="{FF2B5EF4-FFF2-40B4-BE49-F238E27FC236}">
                <a16:creationId xmlns="" xmlns:a16="http://schemas.microsoft.com/office/drawing/2014/main" id="{E0F30481-94B4-4497-8220-1F71C3603AF6}"/>
              </a:ext>
            </a:extLst>
          </p:cNvPr>
          <p:cNvSpPr txBox="1"/>
          <p:nvPr/>
        </p:nvSpPr>
        <p:spPr>
          <a:xfrm>
            <a:off x="6573044" y="3823582"/>
            <a:ext cx="2966372" cy="139169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Steps 4: Character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6453041-7F9B-460D-98DD-C998741A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49392" y="3335378"/>
            <a:ext cx="605049" cy="37136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5AEF082-C716-4997-AAF4-3F1F4C8DEE25}"/>
              </a:ext>
            </a:extLst>
          </p:cNvPr>
          <p:cNvSpPr/>
          <p:nvPr/>
        </p:nvSpPr>
        <p:spPr>
          <a:xfrm>
            <a:off x="6434510" y="4513802"/>
            <a:ext cx="2983334" cy="518632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algn="ctr" defTabSz="9144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Matra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line</a:t>
            </a:r>
            <a:r>
              <a:rPr kumimoji="0" lang="en-US" sz="16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detection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1074020-1D34-44E3-A9C7-94D1FC730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877562" y="4660541"/>
            <a:ext cx="728608" cy="371892"/>
          </a:xfrm>
          <a:prstGeom prst="rect">
            <a:avLst/>
          </a:prstGeom>
        </p:spPr>
      </p:pic>
      <p:sp>
        <p:nvSpPr>
          <p:cNvPr id="20" name="Text Box 27">
            <a:extLst>
              <a:ext uri="{FF2B5EF4-FFF2-40B4-BE49-F238E27FC236}">
                <a16:creationId xmlns="" xmlns:a16="http://schemas.microsoft.com/office/drawing/2014/main" id="{5DE906AE-D422-4974-807F-C5A40B1E5CEE}"/>
              </a:ext>
            </a:extLst>
          </p:cNvPr>
          <p:cNvSpPr txBox="1"/>
          <p:nvPr/>
        </p:nvSpPr>
        <p:spPr>
          <a:xfrm>
            <a:off x="1444007" y="3512058"/>
            <a:ext cx="4396740" cy="20147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C2ECA641-2FF0-4E98-9F24-A8C5E3E62374}"/>
              </a:ext>
            </a:extLst>
          </p:cNvPr>
          <p:cNvSpPr/>
          <p:nvPr/>
        </p:nvSpPr>
        <p:spPr>
          <a:xfrm>
            <a:off x="1497347" y="3521061"/>
            <a:ext cx="4290060" cy="428753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Apply HPP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18109A3-534B-4007-95AE-9A57A0FCD6BD}"/>
              </a:ext>
            </a:extLst>
          </p:cNvPr>
          <p:cNvSpPr/>
          <p:nvPr/>
        </p:nvSpPr>
        <p:spPr>
          <a:xfrm>
            <a:off x="1587501" y="4175606"/>
            <a:ext cx="4290060" cy="670881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Analyze connected component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C8CC8A02-D023-4FC5-B395-0B6487C54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851672" y="4341099"/>
            <a:ext cx="286017" cy="6778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16B73F22-2443-4B29-A847-E802BB463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308" y="3639242"/>
            <a:ext cx="292633" cy="871804"/>
          </a:xfrm>
          <a:prstGeom prst="rect">
            <a:avLst/>
          </a:prstGeom>
        </p:spPr>
      </p:pic>
      <p:sp>
        <p:nvSpPr>
          <p:cNvPr id="26" name="Text Box 33">
            <a:extLst>
              <a:ext uri="{FF2B5EF4-FFF2-40B4-BE49-F238E27FC236}">
                <a16:creationId xmlns="" xmlns:a16="http://schemas.microsoft.com/office/drawing/2014/main" id="{97C9DF67-5FC5-467C-91AC-CEC415B113BE}"/>
              </a:ext>
            </a:extLst>
          </p:cNvPr>
          <p:cNvSpPr txBox="1"/>
          <p:nvPr/>
        </p:nvSpPr>
        <p:spPr>
          <a:xfrm>
            <a:off x="1831888" y="5008422"/>
            <a:ext cx="3162793" cy="413705"/>
          </a:xfrm>
          <a:prstGeom prst="rect">
            <a:avLst/>
          </a:prstGeom>
          <a:solidFill>
            <a:sysClr val="window" lastClr="FFFFFF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Apply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Closing+Dilation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31074020-1D34-44E3-A9C7-94D1FC730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66550" y="1531513"/>
            <a:ext cx="1191959" cy="37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4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6FCF-F8C7-447A-8251-400336E0FC05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599303" y="251255"/>
            <a:ext cx="10841038" cy="971550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US" sz="3600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7AEA3DB-4C18-4010-A39C-A5ACEFECCA09}"/>
              </a:ext>
            </a:extLst>
          </p:cNvPr>
          <p:cNvSpPr txBox="1"/>
          <p:nvPr/>
        </p:nvSpPr>
        <p:spPr>
          <a:xfrm>
            <a:off x="1704992" y="4788753"/>
            <a:ext cx="79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10: (a) input image, (b) applying grey scale filter, (c) applying bilateral filter, (d) skew angle correction 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4601"/>
            <a:ext cx="2730500" cy="28828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1" y="1244600"/>
            <a:ext cx="2565400" cy="2882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01" y="1244601"/>
            <a:ext cx="3047999" cy="28828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1277898"/>
            <a:ext cx="2755900" cy="273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4900" y="3568700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(a)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660792" y="3657600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(b)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612381" y="3639066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(c)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469823" y="3568700"/>
            <a:ext cx="79812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   (d)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50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="" xmlns:a16="http://schemas.microsoft.com/office/drawing/2014/main" id="{FE121B73-0515-4366-B113-9F1D3BDC9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55" r="74413"/>
          <a:stretch/>
        </p:blipFill>
        <p:spPr>
          <a:xfrm>
            <a:off x="1215667" y="2120730"/>
            <a:ext cx="2810411" cy="1142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AB7098A-D485-4866-A93E-BFC9BA44A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393" y="2145969"/>
            <a:ext cx="2429214" cy="1143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939F39-0957-4013-9278-5B700379B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338" y="2145969"/>
            <a:ext cx="2429214" cy="1143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4B70119-7B8B-469D-9BF3-D99CBD64D71E}"/>
              </a:ext>
            </a:extLst>
          </p:cNvPr>
          <p:cNvSpPr txBox="1"/>
          <p:nvPr/>
        </p:nvSpPr>
        <p:spPr>
          <a:xfrm>
            <a:off x="1093076" y="3605048"/>
            <a:ext cx="971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(a)                                                      (b)                                                            (c)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4282319-8C0F-4A15-926F-6AC4D2DFEF68}"/>
              </a:ext>
            </a:extLst>
          </p:cNvPr>
          <p:cNvSpPr txBox="1"/>
          <p:nvPr/>
        </p:nvSpPr>
        <p:spPr>
          <a:xfrm>
            <a:off x="2774731" y="4204138"/>
            <a:ext cx="75555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9: (a) Current output which occurs problem [1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(b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After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closing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expected output [6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(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ilation on (b) [6]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A7D89-349E-4713-A014-27C1ABCDC49A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nip Diagonal Corner Rectangle 11"/>
          <p:cNvSpPr/>
          <p:nvPr/>
        </p:nvSpPr>
        <p:spPr>
          <a:xfrm>
            <a:off x="605481" y="259492"/>
            <a:ext cx="10960443" cy="963827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EXPECTED OUTPUT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02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4">
            <a:extLst>
              <a:ext uri="{FF2B5EF4-FFF2-40B4-BE49-F238E27FC236}">
                <a16:creationId xmlns="" xmlns:a16="http://schemas.microsoft.com/office/drawing/2014/main" id="{6CD8256F-0057-4668-9C98-10B69AD43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Main </a:t>
            </a:r>
            <a:r>
              <a:rPr lang="en-US" sz="2400" dirty="0" smtClean="0"/>
              <a:t>challenge</a:t>
            </a: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/>
              <a:t>Define the structuring element properly.</a:t>
            </a:r>
            <a:endParaRPr lang="en-US" sz="2000" dirty="0"/>
          </a:p>
          <a:p>
            <a:r>
              <a:rPr lang="en-US" sz="2400" dirty="0" smtClean="0"/>
              <a:t>Limitations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/>
              <a:t>Might increase </a:t>
            </a:r>
            <a:r>
              <a:rPr lang="en-US" sz="2000" dirty="0"/>
              <a:t>the cost of algorithm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Connected component  </a:t>
            </a:r>
            <a:r>
              <a:rPr lang="en-US" sz="2000" dirty="0" smtClean="0"/>
              <a:t>might </a:t>
            </a:r>
            <a:r>
              <a:rPr lang="en-US" sz="2000" dirty="0"/>
              <a:t>not be regenerated as per expected output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6D39-EE26-4C3B-9549-1010383BDA65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nip Diagonal Corner Rectangle 6"/>
          <p:cNvSpPr/>
          <p:nvPr/>
        </p:nvSpPr>
        <p:spPr>
          <a:xfrm>
            <a:off x="593124" y="296561"/>
            <a:ext cx="10997514" cy="963827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2294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B6FF773-9278-4801-99DA-C811406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506" y="1269388"/>
            <a:ext cx="10840915" cy="5697794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Zahan, M.R. Selim, M.S. Rahman, M.Z. Iqbal, (2018). 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 Analysis Based Two Zone Approach for Bangla Character Segmentation.”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 - 1-4. 10.1109/ICBSLP.2018.8554684.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Obaida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K. Roy, M. 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Horaira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J. Hossain, 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 Correction Function of OCR: Stroke-Whitespace based Algorithmic Approach,”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Computer Applications 28(8):7-12, August 2011.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0676-B013-4F70-AE40-368638100C68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nip Diagonal Corner Rectangle 7"/>
          <p:cNvSpPr/>
          <p:nvPr/>
        </p:nvSpPr>
        <p:spPr>
          <a:xfrm>
            <a:off x="605481" y="308919"/>
            <a:ext cx="10997514" cy="902043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712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87849"/>
            <a:ext cx="11388811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S. Goswami, 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and Overlapping Characters for OCR of Printed Bengali Scripts,”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Computing and Information Science, Volume 135 of the series Communications in Computer and Information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606-612, 2011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https://docs.opencv.org/2.4/doc/tutorials/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imgproc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erosion_dilatation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/erosion_dilatation.html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https://homepages.inf.ed.ac.uk/rbf/HIPR2/open.html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https://homepages.inf.ed.ac.uk/rbf/HIPR2/close.html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360-F907-48BE-A35A-40E01B71548A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nip Diagonal Corner Rectangle 7"/>
          <p:cNvSpPr/>
          <p:nvPr/>
        </p:nvSpPr>
        <p:spPr>
          <a:xfrm>
            <a:off x="617838" y="296562"/>
            <a:ext cx="10948086" cy="926757"/>
          </a:xfrm>
          <a:prstGeom prst="snip2Diag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30976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Comparative analysis of connected component for improvised Bengali Character Recognition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80EE-36BA-43BB-B7F4-039BF6254066}" type="datetime1">
              <a:rPr lang="en-US" noProof="0" smtClean="0"/>
              <a:t>12/21/2019</a:t>
            </a:fld>
            <a:endParaRPr lang="en-US" noProof="0" dirty="0"/>
          </a:p>
        </p:txBody>
      </p:sp>
      <p:sp>
        <p:nvSpPr>
          <p:cNvPr id="9" name="Flowchart: Sequential Access Storage 8"/>
          <p:cNvSpPr/>
          <p:nvPr/>
        </p:nvSpPr>
        <p:spPr>
          <a:xfrm rot="21053496">
            <a:off x="3341264" y="2944245"/>
            <a:ext cx="5668666" cy="1685290"/>
          </a:xfrm>
          <a:prstGeom prst="flowChartMagneticTap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i="1" dirty="0" smtClean="0">
                <a:latin typeface="Times New Roman" pitchFamily="18" charset="0"/>
                <a:cs typeface="Times New Roman" pitchFamily="18" charset="0"/>
              </a:rPr>
              <a:t>THANK YOU!</a:t>
            </a:r>
            <a:endParaRPr lang="en-US" sz="48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20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C94942-C689-461B-8649-1FD863C6BA2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96277B9-27DA-47CA-9593-62E4BB44A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C25A74-1E0C-4362-AFA3-6197BD285F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827</Words>
  <Application>Microsoft Office PowerPoint</Application>
  <PresentationFormat>Custom</PresentationFormat>
  <Paragraphs>180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Presented By: Pritilata Biswas (1103017) Sumaia Afrin Prity (1103057) Parvez Abedin Siddique (1103094)  Department of CSE BAIUST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2019-09-14T19:16:03Z</dcterms:created>
  <dcterms:modified xsi:type="dcterms:W3CDTF">2019-12-21T07:38:35Z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